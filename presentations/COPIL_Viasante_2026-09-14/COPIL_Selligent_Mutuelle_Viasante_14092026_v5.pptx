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SLA</c:v>
                </c:pt>
              </c:strCache>
            </c:strRef>
          </c:tx>
          <c:spPr>
            <a:solidFill>
              <a:schemeClr val="accent1"/>
            </a:solidFill>
            <a:ln w="9525" cap="flat">
              <a:solidFill>
                <a:srgbClr val="F9F9F9"/>
              </a:solidFill>
              <a:prstDash val="solid"/>
              <a:round/>
            </a:ln>
            <a:effectLst/>
          </c:spPr>
          <c:dPt>
            <c:idx val="0"/>
            <c:bubble3D val="0"/>
            <c:spPr>
              <a:solidFill>
                <a:srgbClr val="F28C28"/>
              </a:solidFill>
              <a:ln w="9525" cap="flat">
                <a:solidFill>
                  <a:srgbClr val="FFFFFF"/>
                </a:solidFill>
                <a:prstDash val="solid"/>
                <a:round/>
              </a:ln>
              <a:effectLst/>
            </c:spPr>
          </c:dPt>
          <c:dPt>
            <c:idx val="1"/>
            <c:bubble3D val="0"/>
            <c:spPr>
              <a:solidFill>
                <a:srgbClr val="DDE6E9"/>
              </a:solidFill>
              <a:ln w="9525"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Consommé</c:v>
                </c:pt>
                <c:pt idx="1">
                  <c:v>Disponible</c:v>
                </c:pt>
              </c:strCache>
            </c:strRef>
          </c:cat>
          <c:val>
            <c:numRef>
              <c:f>Sheet1!$B$2:$B$3</c:f>
              <c:numCache>
                <c:ptCount val="2"/>
                <c:pt idx="0">
                  <c:v>5.02</c:v>
                </c:pt>
                <c:pt idx="1">
                  <c:v>44.980000000000004</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Taille (GB)</c:v>
                </c:pt>
              </c:strCache>
            </c:strRef>
          </c:tx>
          <c:spPr>
            <a:solidFill>
              <a:srgbClr val="3D8E9C"/>
            </a:solidFill>
            <a:effectLst/>
          </c:spPr>
          <c:invertIfNegative val="0"/>
          <c:dLbls>
            <c:numFmt formatCode="0.0" sourceLinked="0"/>
            <c:txPr>
              <a:bodyPr/>
              <a:lstStyle/>
              <a:p>
                <a:pPr>
                  <a:defRPr b="0" i="0" strike="noStrike" sz="1000" u="none">
                    <a:solidFill>
                      <a:srgbClr val="06404F"/>
                    </a:solidFill>
                    <a:latin typeface="Arial"/>
                  </a:defRPr>
                </a:pPr>
              </a:p>
            </c:txPr>
            <c:dLblPos val="outEnd"/>
            <c:showLegendKey val="0"/>
            <c:showVal val="1"/>
            <c:showCatName val="0"/>
            <c:showSerName val="0"/>
            <c:showPercent val="0"/>
            <c:showBubbleSize val="0"/>
            <c:showLeaderLines val="0"/>
          </c:dLbls>
          <c:cat>
            <c:multiLvlStrRef>
              <c:f>Sheet1!$A$2:$A$7</c:f>
              <c:multiLvlStrCache>
                <c:ptCount val="6"/>
                <c:lvl>
                  <c:pt idx="0">
                    <c:v>Mars 26</c:v>
                  </c:pt>
                  <c:pt idx="1">
                    <c:v>Avr. 26</c:v>
                  </c:pt>
                  <c:pt idx="2">
                    <c:v>Mai 26</c:v>
                  </c:pt>
                  <c:pt idx="3">
                    <c:v>Juin 26</c:v>
                  </c:pt>
                  <c:pt idx="4">
                    <c:v>Juil. 26</c:v>
                  </c:pt>
                  <c:pt idx="5">
                    <c:v>Août 26</c:v>
                  </c:pt>
                </c:lvl>
              </c:multiLvlStrCache>
            </c:multiLvlStrRef>
          </c:cat>
          <c:val>
            <c:numRef>
              <c:f>Sheet1!$B$2:$B$7</c:f>
              <c:numCache>
                <c:formatCode>General</c:formatCode>
                <c:ptCount val="6"/>
                <c:pt idx="0">
                  <c:v>44</c:v>
                </c:pt>
                <c:pt idx="1">
                  <c:v>44.9</c:v>
                </c:pt>
                <c:pt idx="2">
                  <c:v>45.6</c:v>
                </c:pt>
                <c:pt idx="3">
                  <c:v>46.8</c:v>
                </c:pt>
                <c:pt idx="4">
                  <c:v>46.9</c:v>
                </c:pt>
                <c:pt idx="5">
                  <c:v>46.9</c:v>
                </c:pt>
              </c:numCache>
            </c:numRef>
          </c:val>
        </c:ser>
        <c:dLbls>
          <c:numFmt formatCode="0.0" sourceLinked="0"/>
          <c:txPr>
            <a:bodyPr/>
            <a:lstStyle/>
            <a:p>
              <a:pPr>
                <a:defRPr b="0" i="0" strike="noStrike" sz="1000" u="none">
                  <a:solidFill>
                    <a:srgbClr val="06404F"/>
                  </a:solidFill>
                  <a:latin typeface="Arial"/>
                </a:defRPr>
              </a:pPr>
            </a:p>
          </c:txPr>
          <c:dLblPos val="outEnd"/>
          <c:showLegendKey val="0"/>
          <c:showVal val="1"/>
          <c:showCatName val="0"/>
          <c:showSerName val="0"/>
          <c:showPercent val="0"/>
          <c:showBubbleSize val="0"/>
          <c:showLeaderLines val="0"/>
        </c:dLbls>
        <c:gapWidth val="60"/>
        <c:overlap val="0"/>
        <c:axId val="2094734554"/>
        <c:axId val="2094734552"/>
        <c:axId val="2094734556"/>
      </c:barChart>
      <c:lineChart>
        <c:varyColors val="0"/>
        <c:ser>
          <c:idx val="1"/>
          <c:order val="1"/>
          <c:tx>
            <c:strRef>
              <c:f>Sheet1!$C$1</c:f>
              <c:strCache>
                <c:ptCount val="1"/>
                <c:pt idx="0">
                  <c:v>Seuil 50 GB</c:v>
                </c:pt>
              </c:strCache>
            </c:strRef>
          </c:tx>
          <c:spPr>
            <a:solidFill>
              <a:srgbClr val="F28C28"/>
            </a:solidFill>
            <a:ln w="25400" cap="flat">
              <a:solidFill>
                <a:srgbClr val="F28C28"/>
              </a:solidFill>
              <a:prstDash val="dash"/>
              <a:round/>
            </a:ln>
            <a:effectLst/>
          </c:spPr>
          <c:invertIfNegative val="0"/>
          <c:dLbls>
            <c:numFmt formatCode="0.0" sourceLinked="0"/>
            <c:txPr>
              <a:bodyPr/>
              <a:lstStyle/>
              <a:p>
                <a:pPr>
                  <a:defRPr b="0" i="0" strike="noStrike" sz="1000" u="none">
                    <a:solidFill>
                      <a:srgbClr val="06404F"/>
                    </a:solidFill>
                    <a:latin typeface="Arial"/>
                  </a:defRPr>
                </a:pPr>
              </a:p>
            </c:txPr>
            <c:dLblPos val="outEnd"/>
            <c:showLegendKey val="0"/>
            <c:showVal val="0"/>
            <c:showCatName val="0"/>
            <c:showSerName val="0"/>
            <c:showPercent val="0"/>
            <c:showBubbleSize val="0"/>
            <c:showLeaderLines val="0"/>
          </c:dLbls>
          <c:marker>
            <c:symbol val="none"/>
            <c:size val="6"/>
            <c:spPr>
              <a:solidFill>
                <a:srgbClr val="F28C28"/>
              </a:solidFill>
              <a:ln w="9525" cap="flat">
                <a:solidFill>
                  <a:srgbClr val="F28C28"/>
                </a:solidFill>
                <a:prstDash val="solid"/>
                <a:round/>
              </a:ln>
              <a:effectLst/>
            </c:spPr>
          </c:marker>
          <c:cat>
            <c:multiLvlStrRef>
              <c:f>Sheet1!$A$2:$A$7</c:f>
              <c:multiLvlStrCache>
                <c:ptCount val="6"/>
                <c:lvl>
                  <c:pt idx="0">
                    <c:v>Mars 26</c:v>
                  </c:pt>
                  <c:pt idx="1">
                    <c:v>Avr. 26</c:v>
                  </c:pt>
                  <c:pt idx="2">
                    <c:v>Mai 26</c:v>
                  </c:pt>
                  <c:pt idx="3">
                    <c:v>Juin 26</c:v>
                  </c:pt>
                  <c:pt idx="4">
                    <c:v>Juil. 26</c:v>
                  </c:pt>
                  <c:pt idx="5">
                    <c:v>Août 26</c:v>
                  </c:pt>
                </c:lvl>
              </c:multiLvlStrCache>
            </c:multiLvlStrRef>
          </c:cat>
          <c:val>
            <c:numRef>
              <c:f>Sheet1!$C$2:$C$7</c:f>
              <c:numCache>
                <c:formatCode>General</c:formatCode>
                <c:ptCount val="6"/>
                <c:pt idx="0">
                  <c:v>50</c:v>
                </c:pt>
                <c:pt idx="1">
                  <c:v>50</c:v>
                </c:pt>
                <c:pt idx="2">
                  <c:v>50</c:v>
                </c:pt>
                <c:pt idx="3">
                  <c:v>50</c:v>
                </c:pt>
                <c:pt idx="4">
                  <c:v>50</c:v>
                </c:pt>
                <c:pt idx="5">
                  <c:v>50</c:v>
                </c:pt>
              </c:numCache>
            </c:numRef>
          </c:val>
          <c:smooth val="0"/>
        </c:ser>
        <c:dLbls>
          <c:numFmt formatCode="0.0" sourceLinked="0"/>
          <c:txPr>
            <a:bodyPr/>
            <a:lstStyle/>
            <a:p>
              <a:pPr>
                <a:defRPr b="0" i="0" strike="noStrike" sz="1000" u="none">
                  <a:solidFill>
                    <a:srgbClr val="06404F"/>
                  </a:solidFill>
                  <a:latin typeface="Arial"/>
                </a:defRPr>
              </a:pPr>
            </a:p>
          </c:txPr>
          <c:dLblPos val="outEnd"/>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B83"/>
                </a:solidFill>
                <a:latin typeface="Arial"/>
              </a:defRPr>
            </a:pPr>
            <a:endParaRPr lang="en-US"/>
          </a:p>
        </c:txPr>
        <c:crossAx val="2094734552"/>
        <c:crosses val="autoZero"/>
        <c:auto val="1"/>
        <c:lblAlgn val="ctr"/>
        <c:noMultiLvlLbl val="1"/>
      </c:catAx>
      <c:valAx>
        <c:axId val="2094734552"/>
        <c:scaling>
          <c:orientation val="minMax"/>
          <c:max val="55"/>
          <c:min val="0"/>
        </c:scaling>
        <c:delete val="0"/>
        <c:axPos val="l"/>
        <c:majorGridlines>
          <c:spPr>
            <a:ln w="6350" cap="flat">
              <a:solidFill>
                <a:srgbClr val="E6EC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B83"/>
                </a:solidFill>
                <a:latin typeface="Arial"/>
              </a:defRPr>
            </a:pPr>
            <a:endParaRPr lang="en-US"/>
          </a:p>
        </c:txPr>
        <c:crossAx val="2094734554"/>
        <c:crosses val="autoZero"/>
        <c:crossBetween val="between"/>
        <c:majorUnit val="10"/>
      </c:valAx>
      <c:spPr>
        <a:noFill/>
        <a:ln>
          <a:noFill/>
        </a:ln>
        <a:effectLst/>
      </c:spPr>
    </c:plotArea>
    <c:legend>
      <c:legendPos val="b"/>
      <c:overlay val="0"/>
      <c:txPr>
        <a:bodyPr/>
        <a:lstStyle/>
        <a:p>
          <a:pPr>
            <a:defRPr sz="1000">
              <a:solidFill>
                <a:srgbClr val="6B7B83"/>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Ucount</c:v>
                </c:pt>
              </c:strCache>
            </c:strRef>
          </c:tx>
          <c:spPr>
            <a:solidFill>
              <a:srgbClr val="06404F"/>
            </a:solidFill>
            <a:ln w="31750" cap="flat">
              <a:solidFill>
                <a:srgbClr val="06404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06404F"/>
              </a:solidFill>
              <a:ln w="9525" cap="flat">
                <a:solidFill>
                  <a:srgbClr val="06404F"/>
                </a:solidFill>
                <a:prstDash val="solid"/>
                <a:round/>
              </a:ln>
              <a:effectLst/>
            </c:spPr>
          </c:marker>
          <c:cat>
            <c:multiLvlStrRef>
              <c:f>Sheet1!$A$2:$A$16</c:f>
              <c:multiLvlStrCache>
                <c:ptCount val="15"/>
                <c:lvl>
                  <c:pt idx="0">
                    <c:v>Juin 25</c:v>
                  </c:pt>
                  <c:pt idx="1">
                    <c:v>Juil. 25</c:v>
                  </c:pt>
                  <c:pt idx="2">
                    <c:v>Août 25</c:v>
                  </c:pt>
                  <c:pt idx="3">
                    <c:v>Sept. 25</c:v>
                  </c:pt>
                  <c:pt idx="4">
                    <c:v>Oct. 25</c:v>
                  </c:pt>
                  <c:pt idx="5">
                    <c:v>Nov. 25</c:v>
                  </c:pt>
                  <c:pt idx="6">
                    <c:v>Déc. 25</c:v>
                  </c:pt>
                  <c:pt idx="7">
                    <c:v>Janv. 26</c:v>
                  </c:pt>
                  <c:pt idx="8">
                    <c:v>Fév. 26</c:v>
                  </c:pt>
                  <c:pt idx="9">
                    <c:v>Mars 26</c:v>
                  </c:pt>
                  <c:pt idx="10">
                    <c:v>Avr. 26</c:v>
                  </c:pt>
                  <c:pt idx="11">
                    <c:v>Mai 26</c:v>
                  </c:pt>
                  <c:pt idx="12">
                    <c:v>Juin 26</c:v>
                  </c:pt>
                  <c:pt idx="13">
                    <c:v>Juil. 26</c:v>
                  </c:pt>
                  <c:pt idx="14">
                    <c:v>Août 26</c:v>
                  </c:pt>
                </c:lvl>
              </c:multiLvlStrCache>
            </c:multiLvlStrRef>
          </c:cat>
          <c:val>
            <c:numRef>
              <c:f>Sheet1!$B$2:$B$16</c:f>
              <c:numCache>
                <c:formatCode>General</c:formatCode>
                <c:ptCount val="15"/>
                <c:pt idx="0">
                  <c:v>701932</c:v>
                </c:pt>
                <c:pt idx="1">
                  <c:v>704132</c:v>
                </c:pt>
                <c:pt idx="2">
                  <c:v>686466</c:v>
                </c:pt>
                <c:pt idx="3">
                  <c:v>704410</c:v>
                </c:pt>
                <c:pt idx="4">
                  <c:v>717070</c:v>
                </c:pt>
                <c:pt idx="5">
                  <c:v>733930</c:v>
                </c:pt>
                <c:pt idx="6">
                  <c:v>747925</c:v>
                </c:pt>
                <c:pt idx="7">
                  <c:v>755189</c:v>
                </c:pt>
                <c:pt idx="8">
                  <c:v>770614</c:v>
                </c:pt>
                <c:pt idx="9">
                  <c:v>783378</c:v>
                </c:pt>
                <c:pt idx="10">
                  <c:v>792265</c:v>
                </c:pt>
                <c:pt idx="11">
                  <c:v>802916</c:v>
                </c:pt>
                <c:pt idx="12">
                  <c:v>812472</c:v>
                </c:pt>
                <c:pt idx="13">
                  <c:v>820039</c:v>
                </c:pt>
                <c:pt idx="14">
                  <c:v>824913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2700000"/>
          <a:lstStyle/>
          <a:p>
            <a:pPr>
              <a:defRPr sz="900" b="0" i="0" u="none" strike="noStrike">
                <a:solidFill>
                  <a:srgbClr val="6B7B83"/>
                </a:solidFill>
                <a:latin typeface="Arial"/>
              </a:defRPr>
            </a:pPr>
            <a:endParaRPr lang="en-US"/>
          </a:p>
        </c:txPr>
        <c:crossAx val="2094734552"/>
        <c:crosses val="autoZero"/>
        <c:auto val="1"/>
        <c:lblAlgn val="ctr"/>
        <c:noMultiLvlLbl val="1"/>
      </c:catAx>
      <c:valAx>
        <c:axId val="2094734552"/>
        <c:scaling>
          <c:orientation val="minMax"/>
          <c:max val="850000"/>
          <c:min val="650000"/>
        </c:scaling>
        <c:delete val="0"/>
        <c:axPos val="l"/>
        <c:majorGridlines>
          <c:spPr>
            <a:ln w="6350" cap="flat">
              <a:solidFill>
                <a:srgbClr val="E6ECEF"/>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B83"/>
                </a:solidFill>
                <a:latin typeface="Arial"/>
              </a:defRPr>
            </a:pPr>
            <a:endParaRPr lang="en-US"/>
          </a:p>
        </c:txPr>
        <c:crossAx val="2094734554"/>
        <c:crosses val="autoZero"/>
        <c:crossBetween val="between"/>
        <c:majorUnit val="50000"/>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Viasanté</c:v>
                </c:pt>
              </c:strCache>
            </c:strRef>
          </c:tx>
          <c:spPr>
            <a:solidFill>
              <a:srgbClr val="06404F"/>
            </a:solidFill>
            <a:effectLst/>
          </c:spPr>
          <c:invertIfNegative val="0"/>
          <c:dLbls>
            <c:numFmt formatCode="0.0" sourceLinked="0"/>
            <c:txPr>
              <a:bodyPr/>
              <a:lstStyle/>
              <a:p>
                <a:pPr>
                  <a:defRPr b="0" i="0" strike="noStrike" sz="900" u="none">
                    <a:solidFill>
                      <a:srgbClr val="1F2A30"/>
                    </a:solidFill>
                    <a:latin typeface="Arial"/>
                  </a:defRPr>
                </a:pPr>
              </a:p>
            </c:txPr>
            <c:showLegendKey val="0"/>
            <c:showVal val="1"/>
            <c:showCatName val="0"/>
            <c:showSerName val="0"/>
            <c:showPercent val="0"/>
            <c:showBubbleSize val="0"/>
            <c:showLeaderLines val="0"/>
          </c:dLbls>
          <c:cat>
            <c:multiLvlStrRef>
              <c:f>Sheet1!$A$2:$A$4</c:f>
              <c:multiLvlStrCache>
                <c:ptCount val="3"/>
                <c:lvl>
                  <c:pt idx="0">
                    <c:v>Ouverture</c:v>
                  </c:pt>
                  <c:pt idx="1">
                    <c:v>Clics / ouvertures</c:v>
                  </c:pt>
                  <c:pt idx="2">
                    <c:v>Clics / délivrés</c:v>
                  </c:pt>
                </c:lvl>
              </c:multiLvlStrCache>
            </c:multiLvlStrRef>
          </c:cat>
          <c:val>
            <c:numRef>
              <c:f>Sheet1!$B$2:$B$4</c:f>
              <c:numCache>
                <c:formatCode>General</c:formatCode>
                <c:ptCount val="3"/>
                <c:pt idx="0">
                  <c:v>46.67</c:v>
                </c:pt>
                <c:pt idx="1">
                  <c:v>4.08</c:v>
                </c:pt>
                <c:pt idx="2">
                  <c:v>1.91</c:v>
                </c:pt>
              </c:numCache>
            </c:numRef>
          </c:val>
        </c:ser>
        <c:ser>
          <c:idx val="1"/>
          <c:order val="1"/>
          <c:tx>
            <c:strRef>
              <c:f>Sheet1!$C$1</c:f>
              <c:strCache>
                <c:ptCount val="1"/>
                <c:pt idx="0">
                  <c:v>Secteur</c:v>
                </c:pt>
              </c:strCache>
            </c:strRef>
          </c:tx>
          <c:spPr>
            <a:solidFill>
              <a:srgbClr val="B8C4C9"/>
            </a:solidFill>
            <a:effectLst/>
          </c:spPr>
          <c:invertIfNegative val="0"/>
          <c:dLbls>
            <c:numFmt formatCode="0.0" sourceLinked="0"/>
            <c:txPr>
              <a:bodyPr/>
              <a:lstStyle/>
              <a:p>
                <a:pPr>
                  <a:defRPr b="0" i="0" strike="noStrike" sz="900" u="none">
                    <a:solidFill>
                      <a:srgbClr val="1F2A30"/>
                    </a:solidFill>
                    <a:latin typeface="Arial"/>
                  </a:defRPr>
                </a:pPr>
              </a:p>
            </c:txPr>
            <c:showLegendKey val="0"/>
            <c:showVal val="1"/>
            <c:showCatName val="0"/>
            <c:showSerName val="0"/>
            <c:showPercent val="0"/>
            <c:showBubbleSize val="0"/>
            <c:showLeaderLines val="0"/>
          </c:dLbls>
          <c:cat>
            <c:multiLvlStrRef>
              <c:f>Sheet1!$A$2:$A$4</c:f>
              <c:multiLvlStrCache>
                <c:ptCount val="3"/>
                <c:lvl>
                  <c:pt idx="0">
                    <c:v>Ouverture</c:v>
                  </c:pt>
                  <c:pt idx="1">
                    <c:v>Clics / ouvertures</c:v>
                  </c:pt>
                  <c:pt idx="2">
                    <c:v>Clics / délivrés</c:v>
                  </c:pt>
                </c:lvl>
              </c:multiLvlStrCache>
            </c:multiLvlStrRef>
          </c:cat>
          <c:val>
            <c:numRef>
              <c:f>Sheet1!$C$2:$C$4</c:f>
              <c:numCache>
                <c:formatCode>General</c:formatCode>
                <c:ptCount val="3"/>
                <c:pt idx="0">
                  <c:v>27.25</c:v>
                </c:pt>
                <c:pt idx="1">
                  <c:v>11.2</c:v>
                </c:pt>
                <c:pt idx="2">
                  <c:v>3.05</c:v>
                </c:pt>
              </c:numCache>
            </c:numRef>
          </c:val>
        </c:ser>
        <c:dLbls>
          <c:numFmt formatCode="0.0" sourceLinked="0"/>
          <c:txPr>
            <a:bodyPr/>
            <a:lstStyle/>
            <a:p>
              <a:pPr>
                <a:defRPr b="0" i="0" strike="noStrike" sz="900" u="none">
                  <a:solidFill>
                    <a:srgbClr val="1F2A30"/>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B83"/>
                </a:solidFill>
                <a:latin typeface="Arial"/>
              </a:defRPr>
            </a:pPr>
            <a:endParaRPr lang="en-US"/>
          </a:p>
        </c:txPr>
        <c:crossAx val="2094734552"/>
        <c:crosses val="autoZero"/>
        <c:auto val="1"/>
        <c:lblAlgn val="ctr"/>
        <c:noMultiLvlLbl val="1"/>
      </c:catAx>
      <c:valAx>
        <c:axId val="2094734552"/>
        <c:scaling>
          <c:orientation val="minMax"/>
          <c:max val="55"/>
          <c:min val="0"/>
        </c:scaling>
        <c:delete val="0"/>
        <c:axPos val="l"/>
        <c:majorGridlines>
          <c:spPr>
            <a:ln w="6350" cap="flat">
              <a:solidFill>
                <a:srgbClr val="E6EC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B83"/>
                </a:solidFill>
                <a:latin typeface="Arial"/>
              </a:defRPr>
            </a:pPr>
            <a:endParaRPr lang="en-US"/>
          </a:p>
        </c:txPr>
        <c:crossAx val="2094734554"/>
        <c:crosses val="autoZero"/>
        <c:crossBetween val="between"/>
        <c:majorUnit val="10"/>
      </c:valAx>
      <c:spPr>
        <a:noFill/>
        <a:ln>
          <a:noFill/>
        </a:ln>
        <a:effectLst/>
      </c:spPr>
    </c:plotArea>
    <c:legend>
      <c:legendPos val="r"/>
      <c:overlay val="0"/>
      <c:txPr>
        <a:bodyPr/>
        <a:lstStyle/>
        <a:p>
          <a:pPr>
            <a:defRPr sz="1000">
              <a:solidFill>
                <a:srgbClr val="6B7B83"/>
              </a:solidFill>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SMS délivrés (k)</c:v>
                </c:pt>
              </c:strCache>
            </c:strRef>
          </c:tx>
          <c:spPr>
            <a:solidFill>
              <a:srgbClr val="3D8E9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Sheet1!$A$2:$A$38</c:f>
              <c:multiLvlStrCache>
                <c:ptCount val="37"/>
                <c:lvl>
                  <c:pt idx="0">
                    <c:v/>
                  </c:pt>
                  <c:pt idx="1">
                    <c:v/>
                  </c:pt>
                  <c:pt idx="2">
                    <c:v/>
                  </c:pt>
                  <c:pt idx="3">
                    <c:v/>
                  </c:pt>
                  <c:pt idx="4">
                    <c:v/>
                  </c:pt>
                  <c:pt idx="5">
                    <c:v>janv. 24</c:v>
                  </c:pt>
                  <c:pt idx="6">
                    <c:v/>
                  </c:pt>
                  <c:pt idx="7">
                    <c:v/>
                  </c:pt>
                  <c:pt idx="8">
                    <c:v/>
                  </c:pt>
                  <c:pt idx="9">
                    <c:v/>
                  </c:pt>
                  <c:pt idx="10">
                    <c:v/>
                  </c:pt>
                  <c:pt idx="11">
                    <c:v>juil. 24</c:v>
                  </c:pt>
                  <c:pt idx="12">
                    <c:v/>
                  </c:pt>
                  <c:pt idx="13">
                    <c:v/>
                  </c:pt>
                  <c:pt idx="14">
                    <c:v/>
                  </c:pt>
                  <c:pt idx="15">
                    <c:v/>
                  </c:pt>
                  <c:pt idx="16">
                    <c:v/>
                  </c:pt>
                  <c:pt idx="17">
                    <c:v>janv. 25</c:v>
                  </c:pt>
                  <c:pt idx="18">
                    <c:v/>
                  </c:pt>
                  <c:pt idx="19">
                    <c:v/>
                  </c:pt>
                  <c:pt idx="20">
                    <c:v/>
                  </c:pt>
                  <c:pt idx="21">
                    <c:v/>
                  </c:pt>
                  <c:pt idx="22">
                    <c:v/>
                  </c:pt>
                  <c:pt idx="23">
                    <c:v>juil. 25</c:v>
                  </c:pt>
                  <c:pt idx="24">
                    <c:v/>
                  </c:pt>
                  <c:pt idx="25">
                    <c:v/>
                  </c:pt>
                  <c:pt idx="26">
                    <c:v/>
                  </c:pt>
                  <c:pt idx="27">
                    <c:v/>
                  </c:pt>
                  <c:pt idx="28">
                    <c:v/>
                  </c:pt>
                  <c:pt idx="29">
                    <c:v>janv. 26</c:v>
                  </c:pt>
                  <c:pt idx="30">
                    <c:v/>
                  </c:pt>
                  <c:pt idx="31">
                    <c:v/>
                  </c:pt>
                  <c:pt idx="32">
                    <c:v/>
                  </c:pt>
                  <c:pt idx="33">
                    <c:v/>
                  </c:pt>
                  <c:pt idx="34">
                    <c:v/>
                  </c:pt>
                  <c:pt idx="35">
                    <c:v>juil. 26</c:v>
                  </c:pt>
                  <c:pt idx="36">
                    <c:v/>
                  </c:pt>
                </c:lvl>
              </c:multiLvlStrCache>
            </c:multiLvlStrRef>
          </c:cat>
          <c:val>
            <c:numRef>
              <c:f>Sheet1!$B$2:$B$38</c:f>
              <c:numCache>
                <c:formatCode>General</c:formatCode>
                <c:ptCount val="37"/>
                <c:pt idx="0">
                  <c:v>4.5</c:v>
                </c:pt>
                <c:pt idx="1">
                  <c:v>19.7</c:v>
                </c:pt>
                <c:pt idx="2">
                  <c:v>21</c:v>
                </c:pt>
                <c:pt idx="3">
                  <c:v>20.7</c:v>
                </c:pt>
                <c:pt idx="4">
                  <c:v>20.1</c:v>
                </c:pt>
                <c:pt idx="5">
                  <c:v>22.3</c:v>
                </c:pt>
                <c:pt idx="6">
                  <c:v>7.5</c:v>
                </c:pt>
                <c:pt idx="7">
                  <c:v>20.7</c:v>
                </c:pt>
                <c:pt idx="8">
                  <c:v>22.7</c:v>
                </c:pt>
                <c:pt idx="9">
                  <c:v>23.1</c:v>
                </c:pt>
                <c:pt idx="10">
                  <c:v>22.5</c:v>
                </c:pt>
                <c:pt idx="11">
                  <c:v>30.5</c:v>
                </c:pt>
                <c:pt idx="12">
                  <c:v>21.7</c:v>
                </c:pt>
                <c:pt idx="13">
                  <c:v>21.9</c:v>
                </c:pt>
                <c:pt idx="14">
                  <c:v>22.8</c:v>
                </c:pt>
                <c:pt idx="15">
                  <c:v>22.3</c:v>
                </c:pt>
                <c:pt idx="16">
                  <c:v>22.7</c:v>
                </c:pt>
                <c:pt idx="17">
                  <c:v>26</c:v>
                </c:pt>
                <c:pt idx="18">
                  <c:v>22.5</c:v>
                </c:pt>
                <c:pt idx="19">
                  <c:v>24.3</c:v>
                </c:pt>
                <c:pt idx="20">
                  <c:v>23.3</c:v>
                </c:pt>
                <c:pt idx="21">
                  <c:v>21</c:v>
                </c:pt>
                <c:pt idx="22">
                  <c:v>2.5</c:v>
                </c:pt>
                <c:pt idx="23">
                  <c:v>1.8</c:v>
                </c:pt>
                <c:pt idx="24">
                  <c:v>1.9</c:v>
                </c:pt>
                <c:pt idx="25">
                  <c:v>2.4</c:v>
                </c:pt>
                <c:pt idx="26">
                  <c:v>3.1</c:v>
                </c:pt>
                <c:pt idx="27">
                  <c:v>2.8</c:v>
                </c:pt>
                <c:pt idx="28">
                  <c:v>2.5</c:v>
                </c:pt>
                <c:pt idx="29">
                  <c:v>3.9</c:v>
                </c:pt>
                <c:pt idx="30">
                  <c:v>3.4</c:v>
                </c:pt>
                <c:pt idx="31">
                  <c:v>2.6</c:v>
                </c:pt>
                <c:pt idx="32">
                  <c:v>2.3</c:v>
                </c:pt>
                <c:pt idx="33">
                  <c:v>1.8</c:v>
                </c:pt>
                <c:pt idx="34">
                  <c:v>2.3</c:v>
                </c:pt>
                <c:pt idx="35">
                  <c:v>3.3</c:v>
                </c:pt>
                <c:pt idx="36">
                  <c:v>6.1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6B7B83"/>
                </a:solidFill>
                <a:latin typeface="Arial"/>
              </a:defRPr>
            </a:pPr>
            <a:endParaRPr lang="en-US"/>
          </a:p>
        </c:txPr>
        <c:crossAx val="2094734552"/>
        <c:crosses val="autoZero"/>
        <c:auto val="1"/>
        <c:lblAlgn val="ctr"/>
        <c:noMultiLvlLbl val="1"/>
      </c:catAx>
      <c:valAx>
        <c:axId val="2094734552"/>
        <c:scaling>
          <c:orientation val="minMax"/>
          <c:max val="35"/>
          <c:min val="0"/>
        </c:scaling>
        <c:delete val="0"/>
        <c:axPos val="l"/>
        <c:majorGridlines>
          <c:spPr>
            <a:ln w="6350" cap="flat">
              <a:solidFill>
                <a:srgbClr val="E6ECE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6B7B83"/>
                </a:solidFill>
                <a:latin typeface="Arial"/>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Ouverture : rappeler l’objectif du COPIL (état des lieux factuel de CDM et Engage, décisions à prendre ensemble, prochaines étapes). Durée cible : 45 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Annoncer la logique : d’abord le CRM (exploitation, capacité, sécurité, roadmap), puis Engage (performance, canaux, produit, conformité, roadmap), puis le plan d’actions. Demander s’il y a des sujets à ajouter avant de démarrer.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Lecture rapide : exploitation saine (SLA, délivrabilité), deux points d’anticipation (capacité base, clics email), une vérification contractuelle (palier Ucount) et une question d’usage (SMS/RCS). Ne pas entrer dans le détail ici. Le taux d’ouverture inclut les interactions automatisées (bots) : préférer le taux de clics comme indicateur d’engagement.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 : extract SLA Gold 01/07/2026–30/06/2027 mis à jour le 03/09/2026 (33 lignes, 14 tickets, activité du 01/07 au 02/09). Temps support total 17,87 h ; temps « Case » 5,02 h = 10,0 % des 50 h ; 17 % de la période écoulée (64 jours sur 365). 12,9 h (anomalies 5,58 h + questions 2,92 h + non catégorisé 4,35 h) assurées hors forfait. Le décompte suit la logique du dashboard BI (% SLA Use = Case Time / 50) : règle déduite des données, à confirmer avec le support avant la séance.
À FAIRE AVANT LE 14/09 : (1) trancher la période de référence — le dashboard BI « SLA Support Follow-up » affiche une période 24/02/2026–23/02/2027 avec 36,67 h de support et 7,92 h de Case Time (15,83 %) ; si cette période est la bonne, la jauge devient 7,9 h / 50 h (16 %) ; (2) faire qualifier les 4 tickets « None » (4,35 h, dont le 550647 = 4,17 h, encore actif le 31/08) : requalifiés en « Case », la consommation passerait à ≈ 19 %.
Tickets les plus consommateurs : 550647 (4,17 h, non catégorisé), 550586 (Case, 3,75 h, 03→30/07), 550263 (anomalie, 2,92 h, 01/07→05/08), 551396 (question, 2,08 h), 551314 (anomalie, 1,67 h). Consultant support référent : Pierre Foucart.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 : dashboard Database Sizes (24/08/2026) — ≈ 43,9 GB jusqu’au 20/03, ≈ 44,9 GB à partir du 21/03, ≈ 46,0 GB à partir du 13/05, ≈ 46,9 GB depuis le 06/06 puis plateau. Seuil affiché 50 GB. La date de dépassement n’est qu’une extrapolation : la présenter au conditionnel.
PRIX : la pricelist indicative de 6 900 €/an par tranche de 100 GB n’est pas vérifiée (devis Deal Desk requis) — ne pas l’annoncer ; la slide dit « sur devis ». Préciser en séance ce qui se passe au-delà du seuil (délai, procédure) une fois confirmé avec le TPM.
Proposer de trancher au COPIL : audit de nettoyage d’abord (octobre), décision d’extension en novembre si nécessaire.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 : Compliance Count (calcul du 16/08/2026, données au 24/08). Juin 2025 : 701 932 → août 2026 : 824 913 (+122 981, soit +17,5 % ; ≈ +8 800/mois). Juillet 2026 : 820 039 → août : +4 874 (+0,6 %). Août 2025 : 686 466 → août 2026 : +20,2 % sur un an. La croissance mensuelle ralentit (+4,9 k en août contre ≈ +15 k fin 2025).
Formuler le sujet licence comme une vérification contractuelle du palier Ucount (licence Gold), jamais comme un incident. Aucune source ne donne le palier contracté : ne pas parler de dépassement. Si la position n’est pas connue le 14/09, s’en tenir à « retour formel d’ici fin septembre ».
Question à poser au client : cette croissance correspond-elle à son plan (adhérents, prospects)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À METTRE À JOUR AVANT LA SÉANCE (avec Frederic Schneider / Ops, le 11/09 au plus tard) : résultat du patch du 10/09 (statut, éventuels effets de bord) → ajuster la pastille « Déployé — en observation » (→ « Validé » ou « Reporté au … ») et la phrase du bilan ; préparer les deux variantes. Rappeler en une phrase pourquoi la sécurisation a été menée (contexte de la demande du 31/08) si le client le demande.
Les éléments 31/08 et 10/09 proviennent du suivi CSM : les confirmer avec le TPM. Sujet strictement technique CDM : ne pas le mêler au futur SSO produit Engage (slide dédiée) ni aux sujets de licence.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 : deck « CDM Roadmap 2026–2027 » (5 axes, sans jalon trimestriel : ne pas annoncer de dates par axe ; les trimestres du deck précédent étaient inventés). Présenter la séquence logique : adoption et qualité de donnée d’abord, IA ensuite. Mettre en avant les deux axes les plus utiles à Viasanté (vue 360° et dédoublonnage — lien avec la volumétrie ; automatisation des relances) et demander au client ses priorités. Proposer une session roadmap dédiée avec le Product Management.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 : session roadmap interne juin 2026 (réponses recommandées aux questions clients) : investissement continu (équipes produit / ingénierie principalement en Belgique, étendues par des équipes dédiées IA et Data) ; aucune stratégie de migration forcée, priorité à la valeur de l’investissement actuel ; pour les clients Selligent seuls, aucune obligation de passer à une nouvelle tarification au renouvellement ; pas de changement immédiat sur les modules existants ; stratégie produit fondée sur l’analyse du marché européen et les retours clients ; RGPD, vie privée et réglementation européenne restent une priorité. Questions probables : avenir de Selligent, décisions prises depuis les États-Unis, données hors UE, tarifs — répondre avec ces éléments, sans entrer dans la stratégie Zeta / ZMP.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 : Deliverability Report – Client vs Industry (25/02/2026 → 23/08/2026, secteur « Professional Services », 48 installs, mode « All interactions »). DR 99,37 % (secteur 98,72 %), VR 46,67 % (27,25 %), CTO 4,08 % (11,20 %), CTR 1,91 % (3,05 %), Unsub 0,30 % (0,20 %). 1 545 190 emails délivrés.
Le taux d’ouverture inclut les ouvertures automatiques (Apple MPP, bots) et gonfle mécaniquement la VR tout en écrasant le CTO : si possible, re-tirer le rapport en mode « Non bot interactions » avant la séance ; sinon, s’en tenir au message CTR (−1,1 pt vs secteur). Le secteur « Professional Services » n’est pas une mutuelle santé : présenter le panel comme une référence indicative.
Le taux de désabonnement légèrement supérieur au secteur (0,30 % vs 0,20 %) se traite dans le même atelier (pression marketing, pertinence). Volumes mensuels (dashboard Timeline Interactions, lecture graphique) : montée en charge de mars à juin (≈ 0,16 M → 0,47 M), juillet ≈ 0,40 M ; le CTO et le CTR reviennent vers le niveau du secteur en juillet–août.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 : dashboard SMS Deliveries (23/08/2026) : ≈ 0,50 M de SMS délivrés au total sur la période affichée (août 2023 → août 2026) ; ≈ 20–26 k/mois de septembre 2023 à mai 2025 (pic ≈ 30 k en juillet 2024, creux ≈ 7,5 k en février 2024) ; ≈ 2–3 k/mois depuis juin 2025 ; août 2026 ≈ 6 k (mois partiel au 23/08). Valeurs lues sur le graphique, arrondies.
À FAIRE AVANT LE 14/09 : connaître la raison de la baisse depuis juin 2025 (changement de prestataire, arrêt d’un usage, budget) et l’énoncer en séance ; sinon poser la question au client plutôt que de laisser lire « vous abandonnez le canal ». Relier le RCS à des cas d’usage mutuelle (rappels, relances d’adhésion, transactionnel).
RCS LinkMobility : connecteur prêt / live selon retour opérationnel, API (plus de SFTP), pas d’UI ni de preview. Infobip : UI + preview. Confirmer avec Product / Delivery que les deux options sont bien supportées pour Viasanté avant de les nommer. Faire exprimer le besoin réel avant d’orienter ; rapprocher le volume SMS du budget et du plan d’usage 2026–2027.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Message à tenir : le nouveau SSO Engage est sur la trajectoire produit avec une fenêtre cible T1 2027 — aucune promesse de disponibilité antérieure, aucune autre date (les étapes intermédiaires ne sont pas sourcées). Ne pas confondre avec le sujet technique CDM (SSO / AdminTool / ConfigTool) traité le 31/08.
Point à clarifier avec Product avant la séance : la roadmap de juin 2026 liste un « Zeta login » (connexion unique à l’écosystème Zeta) comme disponible ; préciser si le besoin de Viasanté est ce login Zeta ou une fédération SSO avec leur annuaire d’entreprise (SAML), et si la fenêtre T1 2027 porte bien sur ce dernier. Le login Zeta est volontairement absent de la roadmap présentée pour éviter la contradiction.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Cadre vérifié : délibération CNIL n° 2026-042 du 12/03/2026, recommandation finale publiée le 14/04/2026 (cnil.fr/fr/recommandation-pixel-suivi-courriels). Les pixels invisibles relèvent du même régime que les cookies : consentement préalable pour la plupart des usages ; exemption pour la seule mesure individuelle de délivrabilité liée à un service demandé (ex. identifier les adresses inactives). Pour les adresses existantes, période transitoire de trois mois avec information claire et possibilité de refus, close le 14/07/2026.
Engage « Consent-based open tracking » : livré = collecte du consentement (Data Component / stored procedures), tracking d’ouverture basé sur le consentement, journal d’audit basique ; à venir = support Data Importer, tracking basé sur exemption, historique d’audit étendu. Activation via ticket Connect après collecte du consentement ; revoir la stratégie pour les contacts existants.
À FAIRE AVANT LE 14/09 : connaître le statut réel de Viasanté (tracking activé ? consentement collecté ? contacts existants informés avant le 14/07 ?) pour répondre aux trois questions de la slide, ou les poser en séance. Traiter le sujet en gouvernance / conformité : validation DPO formelle avant activation ou généralisation.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Source : roadmap Selligent by Zeta (session interne juin 2026) — statuts vérifiés sur la slide « Where we’re heading » : Now = Real-time Signals, Connector Library (Zeta) ; Next = Automated Privacy Workflow, QuickStart Library, WhatsApp ($), Interactive Moments ($), Ask Your Data (Zeta), Real-time Analytics ; Later = Enriched Customer View (Zeta), Easy Content Blocks, Audience Composition, Performance Advisor (Zeta). Sans trimestre : ne pas dater les items. Ne relayer que les noms de fonctionnalités et leur bénéfice, jamais le contenu stratégie / pricing du deck interne.
IA : outils MCP en lecture seule (Segment Helper disponible ; Ask Your Data à venir) — ne pas promettre l’interrogation en langage naturel comme disponible. Le « Zeta login » est volontairement absent de la colonne Disponible pour rester cohérent avec le message SSO (fenêtre cible T1 2027).
Toujours distinguer disponible / prévu / cible / sous réserve. L’IA arrive après les fondations : conformité, sécurité, données, connecteurs.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Poser chaque question et noter la réponse ou l’arbitrage en séance (elles alimentent le tableau d’actions). Ne pas pousser de réponse : le client décide, Selligent propose.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Les échéances sont des propositions Selligent (aucune n’est contractuelle) : les faire valider ou ajuster en séance ligne par ligne, noter les responsables nommément côté Viasanté. Sortie attendue : un relevé de décisions envoyé sous 48 h. Proposer une date précise pour le prochain COPIL (décembre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INTERNE — Clore sur les décisions prises et la date du prochain COPIL.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chart" Target="/ppt/charts/chart3.xml"/><Relationship Id="rId1" Type="http://schemas.openxmlformats.org/officeDocument/2006/relationships/image" Target="../media/image-7-1.png"/><Relationship Id="rId3" Type="http://schemas.openxmlformats.org/officeDocument/2006/relationships/image" Target="../media/image-7-2.png"/><Relationship Id="rId4" Type="http://schemas.openxmlformats.org/officeDocument/2006/relationships/image" Target="../media/image-7-3.png"/><Relationship Id="rId5" Type="http://schemas.openxmlformats.org/officeDocument/2006/relationships/image" Target="../media/image-7-4.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chart" Target="/ppt/charts/chart4.xml"/><Relationship Id="rId1" Type="http://schemas.openxmlformats.org/officeDocument/2006/relationships/image" Target="../media/image-12-1.png"/><Relationship Id="rId3" Type="http://schemas.openxmlformats.org/officeDocument/2006/relationships/image" Target="../media/image-12-2.png"/><Relationship Id="rId4" Type="http://schemas.openxmlformats.org/officeDocument/2006/relationships/image" Target="../media/image-12-3.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13-1.png"/><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1.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404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white.png">    </p:cNvPr>
          <p:cNvPicPr>
            <a:picLocks noChangeAspect="1"/>
          </p:cNvPicPr>
          <p:nvPr/>
        </p:nvPicPr>
        <p:blipFill>
          <a:blip r:embed="rId1"/>
          <a:stretch>
            <a:fillRect/>
          </a:stretch>
        </p:blipFill>
        <p:spPr>
          <a:xfrm>
            <a:off x="502920" y="347472"/>
            <a:ext cx="1463040" cy="526895"/>
          </a:xfrm>
          <a:prstGeom prst="rect">
            <a:avLst/>
          </a:prstGeom>
        </p:spPr>
      </p:pic>
      <p:sp>
        <p:nvSpPr>
          <p:cNvPr id="3" name="Shape 0"/>
          <p:cNvSpPr/>
          <p:nvPr/>
        </p:nvSpPr>
        <p:spPr>
          <a:xfrm>
            <a:off x="8412480" y="-1463040"/>
            <a:ext cx="5669280" cy="5669280"/>
          </a:xfrm>
          <a:prstGeom prst="ellipse">
            <a:avLst/>
          </a:prstGeom>
          <a:solidFill>
            <a:srgbClr val="0F6B7A">
              <a:alpha val="45000"/>
            </a:srgbClr>
          </a:solidFill>
          <a:ln w="12700">
            <a:solidFill>
              <a:srgbClr val="0F6B7A"/>
            </a:solidFill>
            <a:prstDash val="solid"/>
          </a:ln>
        </p:spPr>
      </p:sp>
      <p:sp>
        <p:nvSpPr>
          <p:cNvPr id="4" name="Shape 1"/>
          <p:cNvSpPr/>
          <p:nvPr/>
        </p:nvSpPr>
        <p:spPr>
          <a:xfrm>
            <a:off x="10332720" y="3566160"/>
            <a:ext cx="3291840" cy="3291840"/>
          </a:xfrm>
          <a:prstGeom prst="ellipse">
            <a:avLst/>
          </a:prstGeom>
          <a:solidFill>
            <a:srgbClr val="F28C28">
              <a:alpha val="80000"/>
            </a:srgbClr>
          </a:solidFill>
          <a:ln w="12700">
            <a:solidFill>
              <a:srgbClr val="F28C28"/>
            </a:solidFill>
            <a:prstDash val="solid"/>
          </a:ln>
        </p:spPr>
      </p:sp>
      <p:sp>
        <p:nvSpPr>
          <p:cNvPr id="5" name="Shape 2"/>
          <p:cNvSpPr/>
          <p:nvPr/>
        </p:nvSpPr>
        <p:spPr>
          <a:xfrm>
            <a:off x="7863840" y="4754880"/>
            <a:ext cx="1280160" cy="1280160"/>
          </a:xfrm>
          <a:prstGeom prst="ellipse">
            <a:avLst/>
          </a:prstGeom>
          <a:solidFill>
            <a:srgbClr val="3D8E9C">
              <a:alpha val="60000"/>
            </a:srgbClr>
          </a:solidFill>
          <a:ln w="12700">
            <a:solidFill>
              <a:srgbClr val="3D8E9C"/>
            </a:solidFill>
            <a:prstDash val="solid"/>
          </a:ln>
        </p:spPr>
      </p:sp>
      <p:sp>
        <p:nvSpPr>
          <p:cNvPr id="6" name="Text 3"/>
          <p:cNvSpPr txBox="1"/>
          <p:nvPr/>
        </p:nvSpPr>
        <p:spPr>
          <a:xfrm>
            <a:off x="502920" y="1965960"/>
            <a:ext cx="7315200" cy="320040"/>
          </a:xfrm>
          <a:prstGeom prst="rect">
            <a:avLst/>
          </a:prstGeom>
          <a:noFill/>
          <a:ln/>
        </p:spPr>
        <p:txBody>
          <a:bodyPr wrap="square" lIns="0" tIns="0" rIns="0" bIns="0" rtlCol="0" anchor="t"/>
          <a:lstStyle/>
          <a:p>
            <a:pPr indent="0" marL="0">
              <a:buNone/>
            </a:pPr>
            <a:r>
              <a:rPr lang="en-US" sz="1300" b="1" spc="300" kern="0" dirty="0">
                <a:solidFill>
                  <a:srgbClr val="F28C28"/>
                </a:solidFill>
                <a:latin typeface="Calibri" pitchFamily="34" charset="0"/>
                <a:ea typeface="Calibri" pitchFamily="34" charset="-122"/>
                <a:cs typeface="Calibri" pitchFamily="34" charset="-120"/>
              </a:rPr>
              <a:t>COMITÉ DE PILOTAGE</a:t>
            </a:r>
            <a:endParaRPr lang="en-US" sz="1300" dirty="0"/>
          </a:p>
        </p:txBody>
      </p:sp>
      <p:sp>
        <p:nvSpPr>
          <p:cNvPr id="7" name="Text 4"/>
          <p:cNvSpPr txBox="1"/>
          <p:nvPr/>
        </p:nvSpPr>
        <p:spPr>
          <a:xfrm>
            <a:off x="502920" y="2331720"/>
            <a:ext cx="8229600" cy="868680"/>
          </a:xfrm>
          <a:prstGeom prst="rect">
            <a:avLst/>
          </a:prstGeom>
          <a:noFill/>
          <a:ln/>
        </p:spPr>
        <p:txBody>
          <a:bodyPr wrap="square" lIns="0" tIns="0" rIns="0" bIns="0" rtlCol="0" anchor="ctr"/>
          <a:lstStyle/>
          <a:p>
            <a:pPr indent="0" marL="0">
              <a:buNone/>
            </a:pPr>
            <a:r>
              <a:rPr lang="en-US" sz="4800" b="1" dirty="0">
                <a:solidFill>
                  <a:srgbClr val="FFFFFF"/>
                </a:solidFill>
                <a:latin typeface="Calibri" pitchFamily="34" charset="0"/>
                <a:ea typeface="Calibri" pitchFamily="34" charset="-122"/>
                <a:cs typeface="Calibri" pitchFamily="34" charset="-120"/>
              </a:rPr>
              <a:t>Mutuelle Viasanté</a:t>
            </a:r>
            <a:endParaRPr lang="en-US" sz="4800" dirty="0"/>
          </a:p>
        </p:txBody>
      </p:sp>
      <p:sp>
        <p:nvSpPr>
          <p:cNvPr id="8" name="Text 5"/>
          <p:cNvSpPr txBox="1"/>
          <p:nvPr/>
        </p:nvSpPr>
        <p:spPr>
          <a:xfrm>
            <a:off x="502920" y="3200400"/>
            <a:ext cx="8229600" cy="548640"/>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Point d’avancement CDM &amp; Engage</a:t>
            </a:r>
            <a:endParaRPr lang="en-US" sz="2400" dirty="0"/>
          </a:p>
        </p:txBody>
      </p:sp>
      <p:sp>
        <p:nvSpPr>
          <p:cNvPr id="9" name="Text 6"/>
          <p:cNvSpPr txBox="1"/>
          <p:nvPr/>
        </p:nvSpPr>
        <p:spPr>
          <a:xfrm>
            <a:off x="502920" y="3886200"/>
            <a:ext cx="8229600" cy="365760"/>
          </a:xfrm>
          <a:prstGeom prst="rect">
            <a:avLst/>
          </a:prstGeom>
          <a:noFill/>
          <a:ln/>
        </p:spPr>
        <p:txBody>
          <a:bodyPr wrap="square" lIns="0" tIns="0" rIns="0" bIns="0" rtlCol="0" anchor="ctr"/>
          <a:lstStyle/>
          <a:p>
            <a:pPr indent="0" marL="0">
              <a:buNone/>
            </a:pPr>
            <a:r>
              <a:rPr lang="en-US" sz="1600" dirty="0">
                <a:solidFill>
                  <a:srgbClr val="CFE3E7"/>
                </a:solidFill>
                <a:latin typeface="Calibri" pitchFamily="34" charset="0"/>
                <a:ea typeface="Calibri" pitchFamily="34" charset="-122"/>
                <a:cs typeface="Calibri" pitchFamily="34" charset="-120"/>
              </a:rPr>
              <a:t>14 septembre 2026</a:t>
            </a:r>
            <a:endParaRPr lang="en-US" sz="1600" dirty="0"/>
          </a:p>
        </p:txBody>
      </p:sp>
      <p:sp>
        <p:nvSpPr>
          <p:cNvPr id="10" name="Shape 7"/>
          <p:cNvSpPr/>
          <p:nvPr/>
        </p:nvSpPr>
        <p:spPr>
          <a:xfrm>
            <a:off x="502920" y="4892040"/>
            <a:ext cx="2926080" cy="0"/>
          </a:xfrm>
          <a:prstGeom prst="line">
            <a:avLst/>
          </a:prstGeom>
          <a:noFill/>
          <a:ln w="12700">
            <a:solidFill>
              <a:srgbClr val="3D8E9C"/>
            </a:solidFill>
            <a:prstDash val="solid"/>
          </a:ln>
        </p:spPr>
      </p:sp>
      <p:sp>
        <p:nvSpPr>
          <p:cNvPr id="11" name="Text 8"/>
          <p:cNvSpPr txBox="1"/>
          <p:nvPr/>
        </p:nvSpPr>
        <p:spPr>
          <a:xfrm>
            <a:off x="502920" y="5029200"/>
            <a:ext cx="5486400" cy="1097280"/>
          </a:xfrm>
          <a:prstGeom prst="rect">
            <a:avLst/>
          </a:prstGeom>
          <a:noFill/>
          <a:ln/>
        </p:spPr>
        <p:txBody>
          <a:bodyPr wrap="square" lIns="0" tIns="0" rIns="0" bIns="0" rtlCol="0" anchor="t"/>
          <a:lstStyle/>
          <a:p>
            <a:pPr indent="0" marL="0">
              <a:spcAft>
                <a:spcPts val="200"/>
              </a:spcAft>
              <a:buNone/>
            </a:pPr>
            <a:r>
              <a:rPr lang="en-US" sz="1250" b="1" dirty="0">
                <a:solidFill>
                  <a:srgbClr val="E6F0F2"/>
                </a:solidFill>
                <a:latin typeface="Calibri" pitchFamily="34" charset="0"/>
                <a:ea typeface="Calibri" pitchFamily="34" charset="-122"/>
                <a:cs typeface="Calibri" pitchFamily="34" charset="-120"/>
              </a:rPr>
              <a:t>Nadir Echaara</a:t>
            </a:r>
            <a:endParaRPr lang="en-US" sz="1250" dirty="0"/>
          </a:p>
          <a:p>
            <a:pPr indent="0" marL="0">
              <a:spcAft>
                <a:spcPts val="200"/>
              </a:spcAft>
              <a:buNone/>
            </a:pPr>
            <a:r>
              <a:rPr lang="en-US" sz="1250" dirty="0">
                <a:solidFill>
                  <a:srgbClr val="E6F0F2"/>
                </a:solidFill>
                <a:latin typeface="Calibri" pitchFamily="34" charset="0"/>
                <a:ea typeface="Calibri" pitchFamily="34" charset="-122"/>
                <a:cs typeface="Calibri" pitchFamily="34" charset="-120"/>
              </a:rPr>
              <a:t>Customer Success Manager — Selligent</a:t>
            </a:r>
            <a:endParaRPr lang="en-US" sz="1250" dirty="0"/>
          </a:p>
          <a:p>
            <a:pPr indent="0" marL="0">
              <a:spcAft>
                <a:spcPts val="200"/>
              </a:spcAft>
              <a:buNone/>
            </a:pPr>
            <a:r>
              <a:rPr lang="en-US" sz="1250" b="1" dirty="0">
                <a:solidFill>
                  <a:srgbClr val="E6F0F2"/>
                </a:solidFill>
                <a:latin typeface="Calibri" pitchFamily="34" charset="0"/>
                <a:ea typeface="Calibri" pitchFamily="34" charset="-122"/>
                <a:cs typeface="Calibri" pitchFamily="34" charset="-120"/>
              </a:rPr>
              <a:t>Frederic Schneider</a:t>
            </a:r>
            <a:endParaRPr lang="en-US" sz="1250" dirty="0"/>
          </a:p>
          <a:p>
            <a:pPr indent="0" marL="0">
              <a:spcAft>
                <a:spcPts val="200"/>
              </a:spcAft>
              <a:buNone/>
            </a:pPr>
            <a:r>
              <a:rPr lang="en-US" sz="1250" dirty="0">
                <a:solidFill>
                  <a:srgbClr val="E6F0F2"/>
                </a:solidFill>
                <a:latin typeface="Calibri" pitchFamily="34" charset="0"/>
                <a:ea typeface="Calibri" pitchFamily="34" charset="-122"/>
                <a:cs typeface="Calibri" pitchFamily="34" charset="-120"/>
              </a:rPr>
              <a:t>Technical Project Manager — Selligent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Text 0"/>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Ordre du jour</a:t>
            </a:r>
            <a:endParaRPr lang="en-US" sz="2600" dirty="0"/>
          </a:p>
        </p:txBody>
      </p:sp>
      <p:sp>
        <p:nvSpPr>
          <p:cNvPr id="4" name="Text 1"/>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Deux outils, deux séquences : votre CRM (CDM) puis votre plateforme marketing (Engage), et les actions à décider ensemble.</a:t>
            </a:r>
            <a:endParaRPr lang="en-US" sz="1300" dirty="0"/>
          </a:p>
        </p:txBody>
      </p:sp>
      <p:sp>
        <p:nvSpPr>
          <p:cNvPr id="5" name="Text 2"/>
          <p:cNvSpPr txBox="1"/>
          <p:nvPr/>
        </p:nvSpPr>
        <p:spPr>
          <a:xfrm>
            <a:off x="502920" y="6473952"/>
            <a:ext cx="7315200" cy="228600"/>
          </a:xfrm>
          <a:prstGeom prst="rect">
            <a:avLst/>
          </a:prstGeom>
          <a:noFill/>
          <a:ln/>
        </p:spPr>
        <p:txBody>
          <a:bodyPr wrap="square" lIns="0" tIns="0" rIns="0" bIns="0" rtlCol="0" anchor="ctr"/>
          <a:lstStyle/>
          <a:p>
            <a:pPr indent="0" marL="0">
              <a:buNone/>
            </a:pPr>
            <a:r>
              <a:rPr lang="en-US" sz="850" dirty="0">
                <a:solidFill>
                  <a:srgbClr val="6B7B83"/>
                </a:solidFill>
                <a:latin typeface="Calibri" pitchFamily="34" charset="0"/>
                <a:ea typeface="Calibri" pitchFamily="34" charset="-122"/>
                <a:cs typeface="Calibri" pitchFamily="34" charset="-120"/>
              </a:rPr>
              <a:t>COPIL Mutuelle Viasanté · 14 septembre 2026 · Confidentiel</a:t>
            </a:r>
            <a:endParaRPr lang="en-US" sz="850" dirty="0"/>
          </a:p>
        </p:txBody>
      </p:sp>
      <p:sp>
        <p:nvSpPr>
          <p:cNvPr id="6" name="Text 3"/>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850" dirty="0">
                <a:solidFill>
                  <a:srgbClr val="6B7B83"/>
                </a:solidFill>
                <a:latin typeface="Calibri" pitchFamily="34" charset="0"/>
                <a:ea typeface="Calibri" pitchFamily="34" charset="-122"/>
                <a:cs typeface="Calibri" pitchFamily="34" charset="-120"/>
              </a:rPr>
              <a:t>2</a:t>
            </a:r>
            <a:endParaRPr lang="en-US" sz="850" dirty="0"/>
          </a:p>
        </p:txBody>
      </p:sp>
      <p:sp>
        <p:nvSpPr>
          <p:cNvPr id="7" name="Shape 4"/>
          <p:cNvSpPr/>
          <p:nvPr/>
        </p:nvSpPr>
        <p:spPr>
          <a:xfrm>
            <a:off x="502920" y="2011680"/>
            <a:ext cx="3545738" cy="4023360"/>
          </a:xfrm>
          <a:prstGeom prst="roundRect">
            <a:avLst>
              <a:gd name="adj" fmla="val 309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8" name="Text 5"/>
          <p:cNvSpPr txBox="1"/>
          <p:nvPr/>
        </p:nvSpPr>
        <p:spPr>
          <a:xfrm>
            <a:off x="777240" y="2240280"/>
            <a:ext cx="1097280" cy="640080"/>
          </a:xfrm>
          <a:prstGeom prst="rect">
            <a:avLst/>
          </a:prstGeom>
          <a:noFill/>
          <a:ln/>
        </p:spPr>
        <p:txBody>
          <a:bodyPr wrap="square" lIns="0" tIns="0" rIns="0" bIns="0" rtlCol="0" anchor="ctr"/>
          <a:lstStyle/>
          <a:p>
            <a:pPr indent="0" marL="0">
              <a:buNone/>
            </a:pPr>
            <a:r>
              <a:rPr lang="en-US" sz="4000" b="1" dirty="0">
                <a:solidFill>
                  <a:srgbClr val="F28C28"/>
                </a:solidFill>
                <a:latin typeface="Calibri" pitchFamily="34" charset="0"/>
                <a:ea typeface="Calibri" pitchFamily="34" charset="-122"/>
                <a:cs typeface="Calibri" pitchFamily="34" charset="-120"/>
              </a:rPr>
              <a:t>01</a:t>
            </a:r>
            <a:endParaRPr lang="en-US" sz="4000" dirty="0"/>
          </a:p>
        </p:txBody>
      </p:sp>
      <p:sp>
        <p:nvSpPr>
          <p:cNvPr id="9" name="Shape 6"/>
          <p:cNvSpPr/>
          <p:nvPr/>
        </p:nvSpPr>
        <p:spPr>
          <a:xfrm>
            <a:off x="3225698" y="2286000"/>
            <a:ext cx="548640" cy="548640"/>
          </a:xfrm>
          <a:prstGeom prst="ellipse">
            <a:avLst/>
          </a:prstGeom>
          <a:solidFill>
            <a:srgbClr val="E4F0F2"/>
          </a:solidFill>
          <a:ln w="12700">
            <a:solidFill>
              <a:srgbClr val="E4F0F2"/>
            </a:solidFill>
            <a:prstDash val="solid"/>
          </a:ln>
        </p:spPr>
      </p:sp>
      <p:pic>
        <p:nvPicPr>
          <p:cNvPr id="10" name="Image 1" descr="preencoded.png">    </p:cNvPr>
          <p:cNvPicPr>
            <a:picLocks noChangeAspect="1"/>
          </p:cNvPicPr>
          <p:nvPr/>
        </p:nvPicPr>
        <p:blipFill>
          <a:blip r:embed="rId2"/>
          <a:stretch>
            <a:fillRect/>
          </a:stretch>
        </p:blipFill>
        <p:spPr>
          <a:xfrm>
            <a:off x="3368345" y="2428646"/>
            <a:ext cx="263347" cy="263347"/>
          </a:xfrm>
          <a:prstGeom prst="rect">
            <a:avLst/>
          </a:prstGeom>
        </p:spPr>
      </p:pic>
      <p:sp>
        <p:nvSpPr>
          <p:cNvPr id="11" name="Text 7"/>
          <p:cNvSpPr txBox="1"/>
          <p:nvPr/>
        </p:nvSpPr>
        <p:spPr>
          <a:xfrm>
            <a:off x="777240" y="2971800"/>
            <a:ext cx="2997098" cy="502920"/>
          </a:xfrm>
          <a:prstGeom prst="rect">
            <a:avLst/>
          </a:prstGeom>
          <a:noFill/>
          <a:ln/>
        </p:spPr>
        <p:txBody>
          <a:bodyPr wrap="square" lIns="0" tIns="0" rIns="0" bIns="0" rtlCol="0" anchor="ctr"/>
          <a:lstStyle/>
          <a:p>
            <a:pPr indent="0" marL="0">
              <a:buNone/>
            </a:pPr>
            <a:r>
              <a:rPr lang="en-US" sz="1600" b="1" dirty="0">
                <a:solidFill>
                  <a:srgbClr val="06404F"/>
                </a:solidFill>
                <a:latin typeface="Calibri" pitchFamily="34" charset="0"/>
                <a:ea typeface="Calibri" pitchFamily="34" charset="-122"/>
                <a:cs typeface="Calibri" pitchFamily="34" charset="-120"/>
              </a:rPr>
              <a:t>CDM — votre CRM</a:t>
            </a:r>
            <a:endParaRPr lang="en-US" sz="1600" dirty="0"/>
          </a:p>
        </p:txBody>
      </p:sp>
      <p:sp>
        <p:nvSpPr>
          <p:cNvPr id="12" name="Shape 8"/>
          <p:cNvSpPr/>
          <p:nvPr/>
        </p:nvSpPr>
        <p:spPr>
          <a:xfrm>
            <a:off x="777240" y="3566160"/>
            <a:ext cx="2997098" cy="0"/>
          </a:xfrm>
          <a:prstGeom prst="line">
            <a:avLst/>
          </a:prstGeom>
          <a:noFill/>
          <a:ln w="9525">
            <a:solidFill>
              <a:srgbClr val="D6E0E3"/>
            </a:solidFill>
            <a:prstDash val="solid"/>
          </a:ln>
        </p:spPr>
      </p:sp>
      <p:sp>
        <p:nvSpPr>
          <p:cNvPr id="13" name="Text 9"/>
          <p:cNvSpPr txBox="1"/>
          <p:nvPr/>
        </p:nvSpPr>
        <p:spPr>
          <a:xfrm>
            <a:off x="777240" y="3749040"/>
            <a:ext cx="2997098" cy="2103120"/>
          </a:xfrm>
          <a:prstGeom prst="rect">
            <a:avLst/>
          </a:prstGeom>
          <a:noFill/>
          <a:ln/>
        </p:spPr>
        <p:txBody>
          <a:bodyPr wrap="square" lIns="0" tIns="0" rIns="0" bIns="0" rtlCol="0" anchor="t"/>
          <a:lstStyle/>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Consommation du SLA Gold 2026–2027</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Capacité de la base de données</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Audience unique et licence</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Sécurisation de la configuration et patch du 10/09</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Orientations roadmap CDM 2026–2027</a:t>
            </a:r>
            <a:endParaRPr lang="en-US" sz="1250" dirty="0"/>
          </a:p>
        </p:txBody>
      </p:sp>
      <p:sp>
        <p:nvSpPr>
          <p:cNvPr id="14" name="Shape 10"/>
          <p:cNvSpPr/>
          <p:nvPr/>
        </p:nvSpPr>
        <p:spPr>
          <a:xfrm>
            <a:off x="4322978" y="2011680"/>
            <a:ext cx="3545738" cy="4023360"/>
          </a:xfrm>
          <a:prstGeom prst="roundRect">
            <a:avLst>
              <a:gd name="adj" fmla="val 309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5" name="Text 11"/>
          <p:cNvSpPr txBox="1"/>
          <p:nvPr/>
        </p:nvSpPr>
        <p:spPr>
          <a:xfrm>
            <a:off x="4597298" y="2240280"/>
            <a:ext cx="1097280" cy="640080"/>
          </a:xfrm>
          <a:prstGeom prst="rect">
            <a:avLst/>
          </a:prstGeom>
          <a:noFill/>
          <a:ln/>
        </p:spPr>
        <p:txBody>
          <a:bodyPr wrap="square" lIns="0" tIns="0" rIns="0" bIns="0" rtlCol="0" anchor="ctr"/>
          <a:lstStyle/>
          <a:p>
            <a:pPr indent="0" marL="0">
              <a:buNone/>
            </a:pPr>
            <a:r>
              <a:rPr lang="en-US" sz="4000" b="1" dirty="0">
                <a:solidFill>
                  <a:srgbClr val="F28C28"/>
                </a:solidFill>
                <a:latin typeface="Calibri" pitchFamily="34" charset="0"/>
                <a:ea typeface="Calibri" pitchFamily="34" charset="-122"/>
                <a:cs typeface="Calibri" pitchFamily="34" charset="-120"/>
              </a:rPr>
              <a:t>02</a:t>
            </a:r>
            <a:endParaRPr lang="en-US" sz="4000" dirty="0"/>
          </a:p>
        </p:txBody>
      </p:sp>
      <p:sp>
        <p:nvSpPr>
          <p:cNvPr id="16" name="Shape 12"/>
          <p:cNvSpPr/>
          <p:nvPr/>
        </p:nvSpPr>
        <p:spPr>
          <a:xfrm>
            <a:off x="7045757" y="2286000"/>
            <a:ext cx="548640" cy="548640"/>
          </a:xfrm>
          <a:prstGeom prst="ellipse">
            <a:avLst/>
          </a:prstGeom>
          <a:solidFill>
            <a:srgbClr val="E4F0F2"/>
          </a:solidFill>
          <a:ln w="12700">
            <a:solidFill>
              <a:srgbClr val="E4F0F2"/>
            </a:solidFill>
            <a:prstDash val="solid"/>
          </a:ln>
        </p:spPr>
      </p:sp>
      <p:pic>
        <p:nvPicPr>
          <p:cNvPr id="17" name="Image 2" descr="preencoded.png">    </p:cNvPr>
          <p:cNvPicPr>
            <a:picLocks noChangeAspect="1"/>
          </p:cNvPicPr>
          <p:nvPr/>
        </p:nvPicPr>
        <p:blipFill>
          <a:blip r:embed="rId3"/>
          <a:stretch>
            <a:fillRect/>
          </a:stretch>
        </p:blipFill>
        <p:spPr>
          <a:xfrm>
            <a:off x="7188403" y="2428646"/>
            <a:ext cx="263347" cy="263347"/>
          </a:xfrm>
          <a:prstGeom prst="rect">
            <a:avLst/>
          </a:prstGeom>
        </p:spPr>
      </p:pic>
      <p:sp>
        <p:nvSpPr>
          <p:cNvPr id="18" name="Text 13"/>
          <p:cNvSpPr txBox="1"/>
          <p:nvPr/>
        </p:nvSpPr>
        <p:spPr>
          <a:xfrm>
            <a:off x="4597298" y="2971800"/>
            <a:ext cx="2997098" cy="502920"/>
          </a:xfrm>
          <a:prstGeom prst="rect">
            <a:avLst/>
          </a:prstGeom>
          <a:noFill/>
          <a:ln/>
        </p:spPr>
        <p:txBody>
          <a:bodyPr wrap="square" lIns="0" tIns="0" rIns="0" bIns="0" rtlCol="0" anchor="ctr"/>
          <a:lstStyle/>
          <a:p>
            <a:pPr indent="0" marL="0">
              <a:buNone/>
            </a:pPr>
            <a:r>
              <a:rPr lang="en-US" sz="1600" b="1" dirty="0">
                <a:solidFill>
                  <a:srgbClr val="06404F"/>
                </a:solidFill>
                <a:latin typeface="Calibri" pitchFamily="34" charset="0"/>
                <a:ea typeface="Calibri" pitchFamily="34" charset="-122"/>
                <a:cs typeface="Calibri" pitchFamily="34" charset="-120"/>
              </a:rPr>
              <a:t>Engage — votre plateforme marketing</a:t>
            </a:r>
            <a:endParaRPr lang="en-US" sz="1600" dirty="0"/>
          </a:p>
        </p:txBody>
      </p:sp>
      <p:sp>
        <p:nvSpPr>
          <p:cNvPr id="19" name="Shape 14"/>
          <p:cNvSpPr/>
          <p:nvPr/>
        </p:nvSpPr>
        <p:spPr>
          <a:xfrm>
            <a:off x="4597298" y="3566160"/>
            <a:ext cx="2997098" cy="0"/>
          </a:xfrm>
          <a:prstGeom prst="line">
            <a:avLst/>
          </a:prstGeom>
          <a:noFill/>
          <a:ln w="9525">
            <a:solidFill>
              <a:srgbClr val="D6E0E3"/>
            </a:solidFill>
            <a:prstDash val="solid"/>
          </a:ln>
        </p:spPr>
      </p:sp>
      <p:sp>
        <p:nvSpPr>
          <p:cNvPr id="20" name="Text 15"/>
          <p:cNvSpPr txBox="1"/>
          <p:nvPr/>
        </p:nvSpPr>
        <p:spPr>
          <a:xfrm>
            <a:off x="4597298" y="3749040"/>
            <a:ext cx="2997098" cy="2103120"/>
          </a:xfrm>
          <a:prstGeom prst="rect">
            <a:avLst/>
          </a:prstGeom>
          <a:noFill/>
          <a:ln/>
        </p:spPr>
        <p:txBody>
          <a:bodyPr wrap="square" lIns="0" tIns="0" rIns="0" bIns="0" rtlCol="0" anchor="t"/>
          <a:lstStyle/>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Selligent by Zeta : ce qui change pour vous</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Performance email vs secteur</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Volumes SMS et option RCS</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Nouveau SSO Engage : trajectoire</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Pixel d’ouverture et recommandation CNIL</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Roadmap Engage 2026–2027</a:t>
            </a:r>
            <a:endParaRPr lang="en-US" sz="1250" dirty="0"/>
          </a:p>
        </p:txBody>
      </p:sp>
      <p:sp>
        <p:nvSpPr>
          <p:cNvPr id="21" name="Shape 16"/>
          <p:cNvSpPr/>
          <p:nvPr/>
        </p:nvSpPr>
        <p:spPr>
          <a:xfrm>
            <a:off x="8143037" y="2011680"/>
            <a:ext cx="3545738" cy="4023360"/>
          </a:xfrm>
          <a:prstGeom prst="roundRect">
            <a:avLst>
              <a:gd name="adj" fmla="val 309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2" name="Text 17"/>
          <p:cNvSpPr txBox="1"/>
          <p:nvPr/>
        </p:nvSpPr>
        <p:spPr>
          <a:xfrm>
            <a:off x="8417357" y="2240280"/>
            <a:ext cx="1097280" cy="640080"/>
          </a:xfrm>
          <a:prstGeom prst="rect">
            <a:avLst/>
          </a:prstGeom>
          <a:noFill/>
          <a:ln/>
        </p:spPr>
        <p:txBody>
          <a:bodyPr wrap="square" lIns="0" tIns="0" rIns="0" bIns="0" rtlCol="0" anchor="ctr"/>
          <a:lstStyle/>
          <a:p>
            <a:pPr indent="0" marL="0">
              <a:buNone/>
            </a:pPr>
            <a:r>
              <a:rPr lang="en-US" sz="4000" b="1" dirty="0">
                <a:solidFill>
                  <a:srgbClr val="F28C28"/>
                </a:solidFill>
                <a:latin typeface="Calibri" pitchFamily="34" charset="0"/>
                <a:ea typeface="Calibri" pitchFamily="34" charset="-122"/>
                <a:cs typeface="Calibri" pitchFamily="34" charset="-120"/>
              </a:rPr>
              <a:t>03</a:t>
            </a:r>
            <a:endParaRPr lang="en-US" sz="4000" dirty="0"/>
          </a:p>
        </p:txBody>
      </p:sp>
      <p:sp>
        <p:nvSpPr>
          <p:cNvPr id="23" name="Shape 18"/>
          <p:cNvSpPr/>
          <p:nvPr/>
        </p:nvSpPr>
        <p:spPr>
          <a:xfrm>
            <a:off x="10865815" y="2286000"/>
            <a:ext cx="548640" cy="548640"/>
          </a:xfrm>
          <a:prstGeom prst="ellipse">
            <a:avLst/>
          </a:prstGeom>
          <a:solidFill>
            <a:srgbClr val="E4F0F2"/>
          </a:solidFill>
          <a:ln w="12700">
            <a:solidFill>
              <a:srgbClr val="E4F0F2"/>
            </a:solidFill>
            <a:prstDash val="solid"/>
          </a:ln>
        </p:spPr>
      </p:sp>
      <p:pic>
        <p:nvPicPr>
          <p:cNvPr id="24" name="Image 3" descr="preencoded.png">    </p:cNvPr>
          <p:cNvPicPr>
            <a:picLocks noChangeAspect="1"/>
          </p:cNvPicPr>
          <p:nvPr/>
        </p:nvPicPr>
        <p:blipFill>
          <a:blip r:embed="rId4"/>
          <a:stretch>
            <a:fillRect/>
          </a:stretch>
        </p:blipFill>
        <p:spPr>
          <a:xfrm>
            <a:off x="11008462" y="2428646"/>
            <a:ext cx="263347" cy="263347"/>
          </a:xfrm>
          <a:prstGeom prst="rect">
            <a:avLst/>
          </a:prstGeom>
        </p:spPr>
      </p:pic>
      <p:sp>
        <p:nvSpPr>
          <p:cNvPr id="25" name="Text 19"/>
          <p:cNvSpPr txBox="1"/>
          <p:nvPr/>
        </p:nvSpPr>
        <p:spPr>
          <a:xfrm>
            <a:off x="8417357" y="2971800"/>
            <a:ext cx="2997098" cy="502920"/>
          </a:xfrm>
          <a:prstGeom prst="rect">
            <a:avLst/>
          </a:prstGeom>
          <a:noFill/>
          <a:ln/>
        </p:spPr>
        <p:txBody>
          <a:bodyPr wrap="square" lIns="0" tIns="0" rIns="0" bIns="0" rtlCol="0" anchor="ctr"/>
          <a:lstStyle/>
          <a:p>
            <a:pPr indent="0" marL="0">
              <a:buNone/>
            </a:pPr>
            <a:r>
              <a:rPr lang="en-US" sz="1600" b="1" dirty="0">
                <a:solidFill>
                  <a:srgbClr val="06404F"/>
                </a:solidFill>
                <a:latin typeface="Calibri" pitchFamily="34" charset="0"/>
                <a:ea typeface="Calibri" pitchFamily="34" charset="-122"/>
                <a:cs typeface="Calibri" pitchFamily="34" charset="-120"/>
              </a:rPr>
              <a:t>Synthèse</a:t>
            </a:r>
            <a:endParaRPr lang="en-US" sz="1600" dirty="0"/>
          </a:p>
        </p:txBody>
      </p:sp>
      <p:sp>
        <p:nvSpPr>
          <p:cNvPr id="26" name="Shape 20"/>
          <p:cNvSpPr/>
          <p:nvPr/>
        </p:nvSpPr>
        <p:spPr>
          <a:xfrm>
            <a:off x="8417357" y="3566160"/>
            <a:ext cx="2997098" cy="0"/>
          </a:xfrm>
          <a:prstGeom prst="line">
            <a:avLst/>
          </a:prstGeom>
          <a:noFill/>
          <a:ln w="9525">
            <a:solidFill>
              <a:srgbClr val="D6E0E3"/>
            </a:solidFill>
            <a:prstDash val="solid"/>
          </a:ln>
        </p:spPr>
      </p:sp>
      <p:sp>
        <p:nvSpPr>
          <p:cNvPr id="27" name="Text 21"/>
          <p:cNvSpPr txBox="1"/>
          <p:nvPr/>
        </p:nvSpPr>
        <p:spPr>
          <a:xfrm>
            <a:off x="8417357" y="3749040"/>
            <a:ext cx="2997098" cy="2103120"/>
          </a:xfrm>
          <a:prstGeom prst="rect">
            <a:avLst/>
          </a:prstGeom>
          <a:noFill/>
          <a:ln/>
        </p:spPr>
        <p:txBody>
          <a:bodyPr wrap="square" lIns="0" tIns="0" rIns="0" bIns="0" rtlCol="0" anchor="t"/>
          <a:lstStyle/>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Vos arbitrages : cinq questions ouvertes</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Plan d’actions : qui fait quoi, pour quand</a:t>
            </a:r>
            <a:endParaRPr lang="en-US" sz="1250" dirty="0"/>
          </a:p>
          <a:p>
            <a:pPr marL="152400" indent="-152400">
              <a:spcAft>
                <a:spcPts val="700"/>
              </a:spcAft>
              <a:buSzPct val="100000"/>
              <a:buChar char="•"/>
            </a:pPr>
            <a:r>
              <a:rPr lang="en-US" sz="1250" dirty="0">
                <a:solidFill>
                  <a:srgbClr val="1F2A30"/>
                </a:solidFill>
                <a:latin typeface="Calibri" pitchFamily="34" charset="0"/>
                <a:ea typeface="Calibri" pitchFamily="34" charset="-122"/>
                <a:cs typeface="Calibri" pitchFamily="34" charset="-120"/>
              </a:rPr>
              <a:t>Date du prochain COPIL</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Text 0"/>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Votre dispositif Selligent en un coup d’œil</a:t>
            </a:r>
            <a:endParaRPr lang="en-US" sz="2600" dirty="0"/>
          </a:p>
        </p:txBody>
      </p:sp>
      <p:sp>
        <p:nvSpPr>
          <p:cNvPr id="4" name="Text 1"/>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Trois indicateurs de santé, trois indicateurs d’activité — le détail et les actions suivent dans chaque section.</a:t>
            </a:r>
            <a:endParaRPr lang="en-US" sz="1300" dirty="0"/>
          </a:p>
        </p:txBody>
      </p:sp>
      <p:sp>
        <p:nvSpPr>
          <p:cNvPr id="5" name="Text 2"/>
          <p:cNvSpPr txBox="1"/>
          <p:nvPr/>
        </p:nvSpPr>
        <p:spPr>
          <a:xfrm>
            <a:off x="502920" y="6473952"/>
            <a:ext cx="7315200" cy="228600"/>
          </a:xfrm>
          <a:prstGeom prst="rect">
            <a:avLst/>
          </a:prstGeom>
          <a:noFill/>
          <a:ln/>
        </p:spPr>
        <p:txBody>
          <a:bodyPr wrap="square" lIns="0" tIns="0" rIns="0" bIns="0" rtlCol="0" anchor="ctr"/>
          <a:lstStyle/>
          <a:p>
            <a:pPr indent="0" marL="0">
              <a:buNone/>
            </a:pPr>
            <a:r>
              <a:rPr lang="en-US" sz="850" dirty="0">
                <a:solidFill>
                  <a:srgbClr val="6B7B83"/>
                </a:solidFill>
                <a:latin typeface="Calibri" pitchFamily="34" charset="0"/>
                <a:ea typeface="Calibri" pitchFamily="34" charset="-122"/>
                <a:cs typeface="Calibri" pitchFamily="34" charset="-120"/>
              </a:rPr>
              <a:t>COPIL Mutuelle Viasanté · 14 septembre 2026 · Confidentiel</a:t>
            </a:r>
            <a:endParaRPr lang="en-US" sz="850" dirty="0"/>
          </a:p>
        </p:txBody>
      </p:sp>
      <p:sp>
        <p:nvSpPr>
          <p:cNvPr id="6" name="Text 3"/>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850" dirty="0">
                <a:solidFill>
                  <a:srgbClr val="6B7B83"/>
                </a:solidFill>
                <a:latin typeface="Calibri" pitchFamily="34" charset="0"/>
                <a:ea typeface="Calibri" pitchFamily="34" charset="-122"/>
                <a:cs typeface="Calibri" pitchFamily="34" charset="-120"/>
              </a:rPr>
              <a:t>3</a:t>
            </a:r>
            <a:endParaRPr lang="en-US" sz="850" dirty="0"/>
          </a:p>
        </p:txBody>
      </p:sp>
      <p:sp>
        <p:nvSpPr>
          <p:cNvPr id="7" name="Text 4"/>
          <p:cNvSpPr txBox="1"/>
          <p:nvPr/>
        </p:nvSpPr>
        <p:spPr>
          <a:xfrm>
            <a:off x="502920" y="1828800"/>
            <a:ext cx="7315200" cy="228600"/>
          </a:xfrm>
          <a:prstGeom prst="rect">
            <a:avLst/>
          </a:prstGeom>
          <a:noFill/>
          <a:ln/>
        </p:spPr>
        <p:txBody>
          <a:bodyPr wrap="square" lIns="0" tIns="0" rIns="0" bIns="0" rtlCol="0" anchor="ctr"/>
          <a:lstStyle/>
          <a:p>
            <a:pPr indent="0" marL="0">
              <a:buNone/>
            </a:pPr>
            <a:r>
              <a:rPr lang="en-US" sz="900" b="1" spc="200" kern="0" dirty="0">
                <a:solidFill>
                  <a:srgbClr val="6B7B83"/>
                </a:solidFill>
                <a:latin typeface="Calibri" pitchFamily="34" charset="0"/>
                <a:ea typeface="Calibri" pitchFamily="34" charset="-122"/>
                <a:cs typeface="Calibri" pitchFamily="34" charset="-120"/>
              </a:rPr>
              <a:t>SANTÉ DU DISPOSITIF</a:t>
            </a:r>
            <a:endParaRPr lang="en-US" sz="900" dirty="0"/>
          </a:p>
        </p:txBody>
      </p:sp>
      <p:sp>
        <p:nvSpPr>
          <p:cNvPr id="8" name="Shape 5"/>
          <p:cNvSpPr/>
          <p:nvPr/>
        </p:nvSpPr>
        <p:spPr>
          <a:xfrm>
            <a:off x="502920" y="2103120"/>
            <a:ext cx="3545738" cy="1828800"/>
          </a:xfrm>
          <a:prstGeom prst="roundRect">
            <a:avLst>
              <a:gd name="adj" fmla="val 6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9" name="Shape 6"/>
          <p:cNvSpPr/>
          <p:nvPr/>
        </p:nvSpPr>
        <p:spPr>
          <a:xfrm>
            <a:off x="704088" y="2304288"/>
            <a:ext cx="457200" cy="457200"/>
          </a:xfrm>
          <a:prstGeom prst="ellipse">
            <a:avLst/>
          </a:prstGeom>
          <a:solidFill>
            <a:srgbClr val="E4F0F2"/>
          </a:solidFill>
          <a:ln w="12700">
            <a:solidFill>
              <a:srgbClr val="E4F0F2"/>
            </a:solidFill>
            <a:prstDash val="solid"/>
          </a:ln>
        </p:spPr>
      </p:sp>
      <p:pic>
        <p:nvPicPr>
          <p:cNvPr id="10" name="Image 1" descr="preencoded.png">    </p:cNvPr>
          <p:cNvPicPr>
            <a:picLocks noChangeAspect="1"/>
          </p:cNvPicPr>
          <p:nvPr/>
        </p:nvPicPr>
        <p:blipFill>
          <a:blip r:embed="rId2"/>
          <a:stretch>
            <a:fillRect/>
          </a:stretch>
        </p:blipFill>
        <p:spPr>
          <a:xfrm>
            <a:off x="822960" y="2423160"/>
            <a:ext cx="219456" cy="219456"/>
          </a:xfrm>
          <a:prstGeom prst="rect">
            <a:avLst/>
          </a:prstGeom>
        </p:spPr>
      </p:pic>
      <p:sp>
        <p:nvSpPr>
          <p:cNvPr id="11" name="Text 7"/>
          <p:cNvSpPr txBox="1"/>
          <p:nvPr/>
        </p:nvSpPr>
        <p:spPr>
          <a:xfrm>
            <a:off x="1280160" y="2304288"/>
            <a:ext cx="2585618"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SLA Gold 2026–2027</a:t>
            </a:r>
            <a:endParaRPr lang="en-US" sz="1100" dirty="0"/>
          </a:p>
        </p:txBody>
      </p:sp>
      <p:sp>
        <p:nvSpPr>
          <p:cNvPr id="12" name="Text 8"/>
          <p:cNvSpPr txBox="1"/>
          <p:nvPr/>
        </p:nvSpPr>
        <p:spPr>
          <a:xfrm>
            <a:off x="704088" y="2816352"/>
            <a:ext cx="3143402" cy="502920"/>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5,0 h / 50 h</a:t>
            </a:r>
            <a:endParaRPr lang="en-US" sz="2600" dirty="0"/>
          </a:p>
        </p:txBody>
      </p:sp>
      <p:sp>
        <p:nvSpPr>
          <p:cNvPr id="13" name="Text 9"/>
          <p:cNvSpPr txBox="1"/>
          <p:nvPr/>
        </p:nvSpPr>
        <p:spPr>
          <a:xfrm>
            <a:off x="704088" y="3319272"/>
            <a:ext cx="3143402" cy="228600"/>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10 % du forfait · 14 tickets traités · au 02/09</a:t>
            </a:r>
            <a:endParaRPr lang="en-US" sz="1000" dirty="0"/>
          </a:p>
        </p:txBody>
      </p:sp>
      <p:sp>
        <p:nvSpPr>
          <p:cNvPr id="14" name="Shape 10"/>
          <p:cNvSpPr/>
          <p:nvPr/>
        </p:nvSpPr>
        <p:spPr>
          <a:xfrm>
            <a:off x="704088" y="3566160"/>
            <a:ext cx="2194560" cy="237744"/>
          </a:xfrm>
          <a:prstGeom prst="roundRect">
            <a:avLst>
              <a:gd name="adj" fmla="val 50000"/>
            </a:avLst>
          </a:prstGeom>
          <a:solidFill>
            <a:srgbClr val="E3F3EA"/>
          </a:solidFill>
          <a:ln w="12700">
            <a:solidFill>
              <a:srgbClr val="E3F3EA"/>
            </a:solidFill>
            <a:prstDash val="solid"/>
          </a:ln>
        </p:spPr>
      </p:sp>
      <p:sp>
        <p:nvSpPr>
          <p:cNvPr id="15" name="Text 11"/>
          <p:cNvSpPr txBox="1"/>
          <p:nvPr/>
        </p:nvSpPr>
        <p:spPr>
          <a:xfrm>
            <a:off x="704088" y="3566160"/>
            <a:ext cx="2194560" cy="237744"/>
          </a:xfrm>
          <a:prstGeom prst="rect">
            <a:avLst/>
          </a:prstGeom>
          <a:noFill/>
          <a:ln/>
        </p:spPr>
        <p:txBody>
          <a:bodyPr wrap="square" lIns="0" tIns="0" rIns="0" bIns="0" rtlCol="0" anchor="ctr"/>
          <a:lstStyle/>
          <a:p>
            <a:pPr algn="ctr" indent="0" marL="0">
              <a:buNone/>
            </a:pPr>
            <a:r>
              <a:rPr lang="en-US" sz="850" b="1" spc="100" kern="0" dirty="0">
                <a:solidFill>
                  <a:srgbClr val="2E8B57"/>
                </a:solidFill>
                <a:latin typeface="Calibri" pitchFamily="34" charset="0"/>
                <a:ea typeface="Calibri" pitchFamily="34" charset="-122"/>
                <a:cs typeface="Calibri" pitchFamily="34" charset="-120"/>
              </a:rPr>
              <a:t>SOUS CONTRÔLE</a:t>
            </a:r>
            <a:endParaRPr lang="en-US" sz="850" dirty="0"/>
          </a:p>
        </p:txBody>
      </p:sp>
      <p:sp>
        <p:nvSpPr>
          <p:cNvPr id="16" name="Shape 12"/>
          <p:cNvSpPr/>
          <p:nvPr/>
        </p:nvSpPr>
        <p:spPr>
          <a:xfrm>
            <a:off x="4322978" y="2103120"/>
            <a:ext cx="3545738" cy="1828800"/>
          </a:xfrm>
          <a:prstGeom prst="roundRect">
            <a:avLst>
              <a:gd name="adj" fmla="val 6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7" name="Shape 13"/>
          <p:cNvSpPr/>
          <p:nvPr/>
        </p:nvSpPr>
        <p:spPr>
          <a:xfrm>
            <a:off x="4524146" y="2304288"/>
            <a:ext cx="457200" cy="457200"/>
          </a:xfrm>
          <a:prstGeom prst="ellipse">
            <a:avLst/>
          </a:prstGeom>
          <a:solidFill>
            <a:srgbClr val="E4F0F2"/>
          </a:solidFill>
          <a:ln w="12700">
            <a:solidFill>
              <a:srgbClr val="E4F0F2"/>
            </a:solidFill>
            <a:prstDash val="solid"/>
          </a:ln>
        </p:spPr>
      </p:sp>
      <p:pic>
        <p:nvPicPr>
          <p:cNvPr id="18" name="Image 2" descr="preencoded.png">    </p:cNvPr>
          <p:cNvPicPr>
            <a:picLocks noChangeAspect="1"/>
          </p:cNvPicPr>
          <p:nvPr/>
        </p:nvPicPr>
        <p:blipFill>
          <a:blip r:embed="rId3"/>
          <a:stretch>
            <a:fillRect/>
          </a:stretch>
        </p:blipFill>
        <p:spPr>
          <a:xfrm>
            <a:off x="4643018" y="2423160"/>
            <a:ext cx="219456" cy="219456"/>
          </a:xfrm>
          <a:prstGeom prst="rect">
            <a:avLst/>
          </a:prstGeom>
        </p:spPr>
      </p:pic>
      <p:sp>
        <p:nvSpPr>
          <p:cNvPr id="19" name="Text 14"/>
          <p:cNvSpPr txBox="1"/>
          <p:nvPr/>
        </p:nvSpPr>
        <p:spPr>
          <a:xfrm>
            <a:off x="5100218" y="2304288"/>
            <a:ext cx="2585618"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Base de données</a:t>
            </a:r>
            <a:endParaRPr lang="en-US" sz="1100" dirty="0"/>
          </a:p>
        </p:txBody>
      </p:sp>
      <p:sp>
        <p:nvSpPr>
          <p:cNvPr id="20" name="Text 15"/>
          <p:cNvSpPr txBox="1"/>
          <p:nvPr/>
        </p:nvSpPr>
        <p:spPr>
          <a:xfrm>
            <a:off x="4524146" y="2816352"/>
            <a:ext cx="3143402" cy="502920"/>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47 / 50 GB</a:t>
            </a:r>
            <a:endParaRPr lang="en-US" sz="2600" dirty="0"/>
          </a:p>
        </p:txBody>
      </p:sp>
      <p:sp>
        <p:nvSpPr>
          <p:cNvPr id="21" name="Text 16"/>
          <p:cNvSpPr txBox="1"/>
          <p:nvPr/>
        </p:nvSpPr>
        <p:spPr>
          <a:xfrm>
            <a:off x="4524146" y="3319272"/>
            <a:ext cx="3143402" cy="228600"/>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94 % de la capacité · +3 GB en six mois · au 24/08</a:t>
            </a:r>
            <a:endParaRPr lang="en-US" sz="1000" dirty="0"/>
          </a:p>
        </p:txBody>
      </p:sp>
      <p:sp>
        <p:nvSpPr>
          <p:cNvPr id="22" name="Shape 17"/>
          <p:cNvSpPr/>
          <p:nvPr/>
        </p:nvSpPr>
        <p:spPr>
          <a:xfrm>
            <a:off x="4524146" y="3566160"/>
            <a:ext cx="2194560" cy="237744"/>
          </a:xfrm>
          <a:prstGeom prst="roundRect">
            <a:avLst>
              <a:gd name="adj" fmla="val 50000"/>
            </a:avLst>
          </a:prstGeom>
          <a:solidFill>
            <a:srgbClr val="FFF3D6"/>
          </a:solidFill>
          <a:ln w="12700">
            <a:solidFill>
              <a:srgbClr val="FFF3D6"/>
            </a:solidFill>
            <a:prstDash val="solid"/>
          </a:ln>
        </p:spPr>
      </p:sp>
      <p:sp>
        <p:nvSpPr>
          <p:cNvPr id="23" name="Text 18"/>
          <p:cNvSpPr txBox="1"/>
          <p:nvPr/>
        </p:nvSpPr>
        <p:spPr>
          <a:xfrm>
            <a:off x="4524146" y="3566160"/>
            <a:ext cx="2194560" cy="237744"/>
          </a:xfrm>
          <a:prstGeom prst="rect">
            <a:avLst/>
          </a:prstGeom>
          <a:noFill/>
          <a:ln/>
        </p:spPr>
        <p:txBody>
          <a:bodyPr wrap="square" lIns="0" tIns="0" rIns="0" bIns="0" rtlCol="0" anchor="ctr"/>
          <a:lstStyle/>
          <a:p>
            <a:pPr algn="ctr" indent="0" marL="0">
              <a:buNone/>
            </a:pPr>
            <a:r>
              <a:rPr lang="en-US" sz="850" b="1" spc="100" kern="0" dirty="0">
                <a:solidFill>
                  <a:srgbClr val="D99A00"/>
                </a:solidFill>
                <a:latin typeface="Calibri" pitchFamily="34" charset="0"/>
                <a:ea typeface="Calibri" pitchFamily="34" charset="-122"/>
                <a:cs typeface="Calibri" pitchFamily="34" charset="-120"/>
              </a:rPr>
              <a:t>À ANTICIPER</a:t>
            </a:r>
            <a:endParaRPr lang="en-US" sz="850" dirty="0"/>
          </a:p>
        </p:txBody>
      </p:sp>
      <p:sp>
        <p:nvSpPr>
          <p:cNvPr id="24" name="Shape 19"/>
          <p:cNvSpPr/>
          <p:nvPr/>
        </p:nvSpPr>
        <p:spPr>
          <a:xfrm>
            <a:off x="8143037" y="2103120"/>
            <a:ext cx="3545738" cy="1828800"/>
          </a:xfrm>
          <a:prstGeom prst="roundRect">
            <a:avLst>
              <a:gd name="adj" fmla="val 6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5" name="Shape 20"/>
          <p:cNvSpPr/>
          <p:nvPr/>
        </p:nvSpPr>
        <p:spPr>
          <a:xfrm>
            <a:off x="8344205" y="2304288"/>
            <a:ext cx="457200" cy="457200"/>
          </a:xfrm>
          <a:prstGeom prst="ellipse">
            <a:avLst/>
          </a:prstGeom>
          <a:solidFill>
            <a:srgbClr val="E4F0F2"/>
          </a:solidFill>
          <a:ln w="12700">
            <a:solidFill>
              <a:srgbClr val="E4F0F2"/>
            </a:solidFill>
            <a:prstDash val="solid"/>
          </a:ln>
        </p:spPr>
      </p:sp>
      <p:pic>
        <p:nvPicPr>
          <p:cNvPr id="26" name="Image 3" descr="preencoded.png">    </p:cNvPr>
          <p:cNvPicPr>
            <a:picLocks noChangeAspect="1"/>
          </p:cNvPicPr>
          <p:nvPr/>
        </p:nvPicPr>
        <p:blipFill>
          <a:blip r:embed="rId4"/>
          <a:stretch>
            <a:fillRect/>
          </a:stretch>
        </p:blipFill>
        <p:spPr>
          <a:xfrm>
            <a:off x="8463077" y="2423160"/>
            <a:ext cx="219456" cy="219456"/>
          </a:xfrm>
          <a:prstGeom prst="rect">
            <a:avLst/>
          </a:prstGeom>
        </p:spPr>
      </p:pic>
      <p:sp>
        <p:nvSpPr>
          <p:cNvPr id="27" name="Text 21"/>
          <p:cNvSpPr txBox="1"/>
          <p:nvPr/>
        </p:nvSpPr>
        <p:spPr>
          <a:xfrm>
            <a:off x="8920277" y="2304288"/>
            <a:ext cx="2585618"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Audience unique (Ucount)</a:t>
            </a:r>
            <a:endParaRPr lang="en-US" sz="1100" dirty="0"/>
          </a:p>
        </p:txBody>
      </p:sp>
      <p:sp>
        <p:nvSpPr>
          <p:cNvPr id="28" name="Text 22"/>
          <p:cNvSpPr txBox="1"/>
          <p:nvPr/>
        </p:nvSpPr>
        <p:spPr>
          <a:xfrm>
            <a:off x="8344205" y="2816352"/>
            <a:ext cx="3143402" cy="502920"/>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824 913</a:t>
            </a:r>
            <a:endParaRPr lang="en-US" sz="2600" dirty="0"/>
          </a:p>
        </p:txBody>
      </p:sp>
      <p:sp>
        <p:nvSpPr>
          <p:cNvPr id="29" name="Text 23"/>
          <p:cNvSpPr txBox="1"/>
          <p:nvPr/>
        </p:nvSpPr>
        <p:spPr>
          <a:xfrm>
            <a:off x="8344205" y="3319272"/>
            <a:ext cx="3143402" cy="228600"/>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contacts en août 2026 · +20 % sur un an</a:t>
            </a:r>
            <a:endParaRPr lang="en-US" sz="1000" dirty="0"/>
          </a:p>
        </p:txBody>
      </p:sp>
      <p:sp>
        <p:nvSpPr>
          <p:cNvPr id="30" name="Shape 24"/>
          <p:cNvSpPr/>
          <p:nvPr/>
        </p:nvSpPr>
        <p:spPr>
          <a:xfrm>
            <a:off x="8344205" y="3566160"/>
            <a:ext cx="2194560" cy="237744"/>
          </a:xfrm>
          <a:prstGeom prst="roundRect">
            <a:avLst>
              <a:gd name="adj" fmla="val 50000"/>
            </a:avLst>
          </a:prstGeom>
          <a:solidFill>
            <a:srgbClr val="E4F0F2"/>
          </a:solidFill>
          <a:ln w="12700">
            <a:solidFill>
              <a:srgbClr val="E4F0F2"/>
            </a:solidFill>
            <a:prstDash val="solid"/>
          </a:ln>
        </p:spPr>
      </p:sp>
      <p:sp>
        <p:nvSpPr>
          <p:cNvPr id="31" name="Text 25"/>
          <p:cNvSpPr txBox="1"/>
          <p:nvPr/>
        </p:nvSpPr>
        <p:spPr>
          <a:xfrm>
            <a:off x="8344205" y="3566160"/>
            <a:ext cx="2194560" cy="237744"/>
          </a:xfrm>
          <a:prstGeom prst="rect">
            <a:avLst/>
          </a:prstGeom>
          <a:noFill/>
          <a:ln/>
        </p:spPr>
        <p:txBody>
          <a:bodyPr wrap="square" lIns="0" tIns="0" rIns="0" bIns="0" rtlCol="0" anchor="ctr"/>
          <a:lstStyle/>
          <a:p>
            <a:pPr algn="ctr" indent="0" marL="0">
              <a:buNone/>
            </a:pPr>
            <a:r>
              <a:rPr lang="en-US" sz="850" b="1" spc="100" kern="0" dirty="0">
                <a:solidFill>
                  <a:srgbClr val="06404F"/>
                </a:solidFill>
                <a:latin typeface="Calibri" pitchFamily="34" charset="0"/>
                <a:ea typeface="Calibri" pitchFamily="34" charset="-122"/>
                <a:cs typeface="Calibri" pitchFamily="34" charset="-120"/>
              </a:rPr>
              <a:t>PALIER EN VÉRIFICATION</a:t>
            </a:r>
            <a:endParaRPr lang="en-US" sz="850" dirty="0"/>
          </a:p>
        </p:txBody>
      </p:sp>
      <p:sp>
        <p:nvSpPr>
          <p:cNvPr id="32" name="Text 26"/>
          <p:cNvSpPr txBox="1"/>
          <p:nvPr/>
        </p:nvSpPr>
        <p:spPr>
          <a:xfrm>
            <a:off x="502920" y="4160520"/>
            <a:ext cx="7315200" cy="228600"/>
          </a:xfrm>
          <a:prstGeom prst="rect">
            <a:avLst/>
          </a:prstGeom>
          <a:noFill/>
          <a:ln/>
        </p:spPr>
        <p:txBody>
          <a:bodyPr wrap="square" lIns="0" tIns="0" rIns="0" bIns="0" rtlCol="0" anchor="ctr"/>
          <a:lstStyle/>
          <a:p>
            <a:pPr indent="0" marL="0">
              <a:buNone/>
            </a:pPr>
            <a:r>
              <a:rPr lang="en-US" sz="900" b="1" spc="200" kern="0" dirty="0">
                <a:solidFill>
                  <a:srgbClr val="6B7B83"/>
                </a:solidFill>
                <a:latin typeface="Calibri" pitchFamily="34" charset="0"/>
                <a:ea typeface="Calibri" pitchFamily="34" charset="-122"/>
                <a:cs typeface="Calibri" pitchFamily="34" charset="-120"/>
              </a:rPr>
              <a:t>ACTIVITÉ DU SEMESTRE (25 FÉVRIER → 23 AOÛT 2026)</a:t>
            </a:r>
            <a:endParaRPr lang="en-US" sz="900" dirty="0"/>
          </a:p>
        </p:txBody>
      </p:sp>
      <p:sp>
        <p:nvSpPr>
          <p:cNvPr id="33" name="Shape 27"/>
          <p:cNvSpPr/>
          <p:nvPr/>
        </p:nvSpPr>
        <p:spPr>
          <a:xfrm>
            <a:off x="502920" y="4434840"/>
            <a:ext cx="3545738" cy="1828800"/>
          </a:xfrm>
          <a:prstGeom prst="roundRect">
            <a:avLst>
              <a:gd name="adj" fmla="val 6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34" name="Shape 28"/>
          <p:cNvSpPr/>
          <p:nvPr/>
        </p:nvSpPr>
        <p:spPr>
          <a:xfrm>
            <a:off x="704088" y="4636008"/>
            <a:ext cx="457200" cy="457200"/>
          </a:xfrm>
          <a:prstGeom prst="ellipse">
            <a:avLst/>
          </a:prstGeom>
          <a:solidFill>
            <a:srgbClr val="E4F0F2"/>
          </a:solidFill>
          <a:ln w="12700">
            <a:solidFill>
              <a:srgbClr val="E4F0F2"/>
            </a:solidFill>
            <a:prstDash val="solid"/>
          </a:ln>
        </p:spPr>
      </p:sp>
      <p:pic>
        <p:nvPicPr>
          <p:cNvPr id="35" name="Image 4" descr="preencoded.png">    </p:cNvPr>
          <p:cNvPicPr>
            <a:picLocks noChangeAspect="1"/>
          </p:cNvPicPr>
          <p:nvPr/>
        </p:nvPicPr>
        <p:blipFill>
          <a:blip r:embed="rId5"/>
          <a:stretch>
            <a:fillRect/>
          </a:stretch>
        </p:blipFill>
        <p:spPr>
          <a:xfrm>
            <a:off x="822960" y="4754880"/>
            <a:ext cx="219456" cy="219456"/>
          </a:xfrm>
          <a:prstGeom prst="rect">
            <a:avLst/>
          </a:prstGeom>
        </p:spPr>
      </p:pic>
      <p:sp>
        <p:nvSpPr>
          <p:cNvPr id="36" name="Text 29"/>
          <p:cNvSpPr txBox="1"/>
          <p:nvPr/>
        </p:nvSpPr>
        <p:spPr>
          <a:xfrm>
            <a:off x="1280160" y="4636008"/>
            <a:ext cx="2585618"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Emails délivrés</a:t>
            </a:r>
            <a:endParaRPr lang="en-US" sz="1100" dirty="0"/>
          </a:p>
        </p:txBody>
      </p:sp>
      <p:sp>
        <p:nvSpPr>
          <p:cNvPr id="37" name="Text 30"/>
          <p:cNvSpPr txBox="1"/>
          <p:nvPr/>
        </p:nvSpPr>
        <p:spPr>
          <a:xfrm>
            <a:off x="704088" y="5148072"/>
            <a:ext cx="3143402" cy="502920"/>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1,55 M</a:t>
            </a:r>
            <a:endParaRPr lang="en-US" sz="2600" dirty="0"/>
          </a:p>
        </p:txBody>
      </p:sp>
      <p:sp>
        <p:nvSpPr>
          <p:cNvPr id="38" name="Text 31"/>
          <p:cNvSpPr txBox="1"/>
          <p:nvPr/>
        </p:nvSpPr>
        <p:spPr>
          <a:xfrm>
            <a:off x="704088" y="5650992"/>
            <a:ext cx="3143402" cy="475488"/>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délivrabilité 99,4 % (secteur 98,7 %)</a:t>
            </a:r>
            <a:endParaRPr lang="en-US" sz="1000" dirty="0"/>
          </a:p>
        </p:txBody>
      </p:sp>
      <p:sp>
        <p:nvSpPr>
          <p:cNvPr id="39" name="Shape 32"/>
          <p:cNvSpPr/>
          <p:nvPr/>
        </p:nvSpPr>
        <p:spPr>
          <a:xfrm>
            <a:off x="4322978" y="4434840"/>
            <a:ext cx="3545738" cy="1828800"/>
          </a:xfrm>
          <a:prstGeom prst="roundRect">
            <a:avLst>
              <a:gd name="adj" fmla="val 6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40" name="Shape 33"/>
          <p:cNvSpPr/>
          <p:nvPr/>
        </p:nvSpPr>
        <p:spPr>
          <a:xfrm>
            <a:off x="4524146" y="4636008"/>
            <a:ext cx="457200" cy="457200"/>
          </a:xfrm>
          <a:prstGeom prst="ellipse">
            <a:avLst/>
          </a:prstGeom>
          <a:solidFill>
            <a:srgbClr val="E4F0F2"/>
          </a:solidFill>
          <a:ln w="12700">
            <a:solidFill>
              <a:srgbClr val="E4F0F2"/>
            </a:solidFill>
            <a:prstDash val="solid"/>
          </a:ln>
        </p:spPr>
      </p:sp>
      <p:pic>
        <p:nvPicPr>
          <p:cNvPr id="41" name="Image 5" descr="preencoded.png">    </p:cNvPr>
          <p:cNvPicPr>
            <a:picLocks noChangeAspect="1"/>
          </p:cNvPicPr>
          <p:nvPr/>
        </p:nvPicPr>
        <p:blipFill>
          <a:blip r:embed="rId6"/>
          <a:stretch>
            <a:fillRect/>
          </a:stretch>
        </p:blipFill>
        <p:spPr>
          <a:xfrm>
            <a:off x="4643018" y="4754880"/>
            <a:ext cx="219456" cy="219456"/>
          </a:xfrm>
          <a:prstGeom prst="rect">
            <a:avLst/>
          </a:prstGeom>
        </p:spPr>
      </p:pic>
      <p:sp>
        <p:nvSpPr>
          <p:cNvPr id="42" name="Text 34"/>
          <p:cNvSpPr txBox="1"/>
          <p:nvPr/>
        </p:nvSpPr>
        <p:spPr>
          <a:xfrm>
            <a:off x="5100218" y="4636008"/>
            <a:ext cx="2585618"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Taux de clics email</a:t>
            </a:r>
            <a:endParaRPr lang="en-US" sz="1100" dirty="0"/>
          </a:p>
        </p:txBody>
      </p:sp>
      <p:sp>
        <p:nvSpPr>
          <p:cNvPr id="43" name="Text 35"/>
          <p:cNvSpPr txBox="1"/>
          <p:nvPr/>
        </p:nvSpPr>
        <p:spPr>
          <a:xfrm>
            <a:off x="4524146" y="5148072"/>
            <a:ext cx="3143402" cy="502920"/>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1,9 %</a:t>
            </a:r>
            <a:endParaRPr lang="en-US" sz="2600" dirty="0"/>
          </a:p>
        </p:txBody>
      </p:sp>
      <p:sp>
        <p:nvSpPr>
          <p:cNvPr id="44" name="Text 36"/>
          <p:cNvSpPr txBox="1"/>
          <p:nvPr/>
        </p:nvSpPr>
        <p:spPr>
          <a:xfrm>
            <a:off x="4524146" y="5650992"/>
            <a:ext cx="3143402" cy="475488"/>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secteur 3,1 % · ouverture 46,7 % (secteur 27,3 %)</a:t>
            </a:r>
            <a:endParaRPr lang="en-US" sz="1000" dirty="0"/>
          </a:p>
        </p:txBody>
      </p:sp>
      <p:sp>
        <p:nvSpPr>
          <p:cNvPr id="45" name="Shape 37"/>
          <p:cNvSpPr/>
          <p:nvPr/>
        </p:nvSpPr>
        <p:spPr>
          <a:xfrm>
            <a:off x="8143037" y="4434840"/>
            <a:ext cx="3545738" cy="1828800"/>
          </a:xfrm>
          <a:prstGeom prst="roundRect">
            <a:avLst>
              <a:gd name="adj" fmla="val 6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46" name="Shape 38"/>
          <p:cNvSpPr/>
          <p:nvPr/>
        </p:nvSpPr>
        <p:spPr>
          <a:xfrm>
            <a:off x="8344205" y="4636008"/>
            <a:ext cx="457200" cy="457200"/>
          </a:xfrm>
          <a:prstGeom prst="ellipse">
            <a:avLst/>
          </a:prstGeom>
          <a:solidFill>
            <a:srgbClr val="E4F0F2"/>
          </a:solidFill>
          <a:ln w="12700">
            <a:solidFill>
              <a:srgbClr val="E4F0F2"/>
            </a:solidFill>
            <a:prstDash val="solid"/>
          </a:ln>
        </p:spPr>
      </p:sp>
      <p:pic>
        <p:nvPicPr>
          <p:cNvPr id="47" name="Image 6" descr="preencoded.png">    </p:cNvPr>
          <p:cNvPicPr>
            <a:picLocks noChangeAspect="1"/>
          </p:cNvPicPr>
          <p:nvPr/>
        </p:nvPicPr>
        <p:blipFill>
          <a:blip r:embed="rId7"/>
          <a:stretch>
            <a:fillRect/>
          </a:stretch>
        </p:blipFill>
        <p:spPr>
          <a:xfrm>
            <a:off x="8463077" y="4754880"/>
            <a:ext cx="219456" cy="219456"/>
          </a:xfrm>
          <a:prstGeom prst="rect">
            <a:avLst/>
          </a:prstGeom>
        </p:spPr>
      </p:pic>
      <p:sp>
        <p:nvSpPr>
          <p:cNvPr id="48" name="Text 39"/>
          <p:cNvSpPr txBox="1"/>
          <p:nvPr/>
        </p:nvSpPr>
        <p:spPr>
          <a:xfrm>
            <a:off x="8920277" y="4636008"/>
            <a:ext cx="2585618"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SMS délivrés</a:t>
            </a:r>
            <a:endParaRPr lang="en-US" sz="1100" dirty="0"/>
          </a:p>
        </p:txBody>
      </p:sp>
      <p:sp>
        <p:nvSpPr>
          <p:cNvPr id="49" name="Text 40"/>
          <p:cNvSpPr txBox="1"/>
          <p:nvPr/>
        </p:nvSpPr>
        <p:spPr>
          <a:xfrm>
            <a:off x="8344205" y="5148072"/>
            <a:ext cx="3143402" cy="502920"/>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 2–3 k / mois</a:t>
            </a:r>
            <a:endParaRPr lang="en-US" sz="2600" dirty="0"/>
          </a:p>
        </p:txBody>
      </p:sp>
      <p:sp>
        <p:nvSpPr>
          <p:cNvPr id="50" name="Text 41"/>
          <p:cNvSpPr txBox="1"/>
          <p:nvPr/>
        </p:nvSpPr>
        <p:spPr>
          <a:xfrm>
            <a:off x="8344205" y="5650992"/>
            <a:ext cx="3143402" cy="475488"/>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depuis juin 2025 · ≈ 22 k / mois auparavant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6404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white.png">    </p:cNvPr>
          <p:cNvPicPr>
            <a:picLocks noChangeAspect="1"/>
          </p:cNvPicPr>
          <p:nvPr/>
        </p:nvPicPr>
        <p:blipFill>
          <a:blip r:embed="rId1"/>
          <a:stretch>
            <a:fillRect/>
          </a:stretch>
        </p:blipFill>
        <p:spPr>
          <a:xfrm>
            <a:off x="502920" y="347472"/>
            <a:ext cx="1463040" cy="526895"/>
          </a:xfrm>
          <a:prstGeom prst="rect">
            <a:avLst/>
          </a:prstGeom>
        </p:spPr>
      </p:pic>
      <p:sp>
        <p:nvSpPr>
          <p:cNvPr id="3" name="Shape 0"/>
          <p:cNvSpPr/>
          <p:nvPr/>
        </p:nvSpPr>
        <p:spPr>
          <a:xfrm>
            <a:off x="8778240" y="1097280"/>
            <a:ext cx="4754880" cy="4754880"/>
          </a:xfrm>
          <a:prstGeom prst="ellipse">
            <a:avLst/>
          </a:prstGeom>
          <a:solidFill>
            <a:srgbClr val="0F6B7A">
              <a:alpha val="45000"/>
            </a:srgbClr>
          </a:solidFill>
          <a:ln w="12700">
            <a:solidFill>
              <a:srgbClr val="0F6B7A"/>
            </a:solidFill>
            <a:prstDash val="solid"/>
          </a:ln>
        </p:spPr>
      </p:sp>
      <p:sp>
        <p:nvSpPr>
          <p:cNvPr id="4" name="Shape 1"/>
          <p:cNvSpPr/>
          <p:nvPr/>
        </p:nvSpPr>
        <p:spPr>
          <a:xfrm>
            <a:off x="8138160" y="4206240"/>
            <a:ext cx="1463040" cy="1463040"/>
          </a:xfrm>
          <a:prstGeom prst="ellipse">
            <a:avLst/>
          </a:prstGeom>
          <a:solidFill>
            <a:srgbClr val="F28C28">
              <a:alpha val="85000"/>
            </a:srgbClr>
          </a:solidFill>
          <a:ln w="12700">
            <a:solidFill>
              <a:srgbClr val="F28C28"/>
            </a:solidFill>
            <a:prstDash val="solid"/>
          </a:ln>
        </p:spPr>
      </p:sp>
      <p:sp>
        <p:nvSpPr>
          <p:cNvPr id="5" name="Text 2"/>
          <p:cNvSpPr txBox="1"/>
          <p:nvPr/>
        </p:nvSpPr>
        <p:spPr>
          <a:xfrm>
            <a:off x="502920" y="1417320"/>
            <a:ext cx="2743200" cy="822960"/>
          </a:xfrm>
          <a:prstGeom prst="rect">
            <a:avLst/>
          </a:prstGeom>
          <a:noFill/>
          <a:ln/>
        </p:spPr>
        <p:txBody>
          <a:bodyPr wrap="square" lIns="0" tIns="0" rIns="0" bIns="0" rtlCol="0" anchor="ctr"/>
          <a:lstStyle/>
          <a:p>
            <a:pPr indent="0" marL="0">
              <a:buNone/>
            </a:pPr>
            <a:r>
              <a:rPr lang="en-US" sz="5600" b="1" dirty="0">
                <a:solidFill>
                  <a:srgbClr val="F28C28"/>
                </a:solidFill>
                <a:latin typeface="Calibri" pitchFamily="34" charset="0"/>
                <a:ea typeface="Calibri" pitchFamily="34" charset="-122"/>
                <a:cs typeface="Calibri" pitchFamily="34" charset="-120"/>
              </a:rPr>
              <a:t>01</a:t>
            </a:r>
            <a:endParaRPr lang="en-US" sz="5600" dirty="0"/>
          </a:p>
        </p:txBody>
      </p:sp>
      <p:sp>
        <p:nvSpPr>
          <p:cNvPr id="6" name="Text 3"/>
          <p:cNvSpPr txBox="1"/>
          <p:nvPr/>
        </p:nvSpPr>
        <p:spPr>
          <a:xfrm>
            <a:off x="502920" y="2240280"/>
            <a:ext cx="8503920" cy="123444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CDM — votre CRM</a:t>
            </a:r>
            <a:endParaRPr lang="en-US" sz="3600" dirty="0"/>
          </a:p>
        </p:txBody>
      </p:sp>
      <p:sp>
        <p:nvSpPr>
          <p:cNvPr id="7" name="Text 4"/>
          <p:cNvSpPr txBox="1"/>
          <p:nvPr/>
        </p:nvSpPr>
        <p:spPr>
          <a:xfrm>
            <a:off x="502920" y="3520440"/>
            <a:ext cx="8503920" cy="411480"/>
          </a:xfrm>
          <a:prstGeom prst="rect">
            <a:avLst/>
          </a:prstGeom>
          <a:noFill/>
          <a:ln/>
        </p:spPr>
        <p:txBody>
          <a:bodyPr wrap="square" lIns="0" tIns="0" rIns="0" bIns="0" rtlCol="0" anchor="ctr"/>
          <a:lstStyle/>
          <a:p>
            <a:pPr indent="0" marL="0">
              <a:buNone/>
            </a:pPr>
            <a:r>
              <a:rPr lang="en-US" sz="1800" dirty="0">
                <a:solidFill>
                  <a:srgbClr val="CFE3E7"/>
                </a:solidFill>
                <a:latin typeface="Calibri" pitchFamily="34" charset="0"/>
                <a:ea typeface="Calibri" pitchFamily="34" charset="-122"/>
                <a:cs typeface="Calibri" pitchFamily="34" charset="-120"/>
              </a:rPr>
              <a:t>Exploitation, capacité, sécurité et trajectoire produit</a:t>
            </a:r>
            <a:endParaRPr lang="en-US" sz="1800" dirty="0"/>
          </a:p>
        </p:txBody>
      </p:sp>
      <p:sp>
        <p:nvSpPr>
          <p:cNvPr id="8" name="Text 5"/>
          <p:cNvSpPr txBox="1"/>
          <p:nvPr/>
        </p:nvSpPr>
        <p:spPr>
          <a:xfrm>
            <a:off x="502920" y="4160520"/>
            <a:ext cx="6858000" cy="1737360"/>
          </a:xfrm>
          <a:prstGeom prst="rect">
            <a:avLst/>
          </a:prstGeom>
          <a:noFill/>
          <a:ln/>
        </p:spPr>
        <p:txBody>
          <a:bodyPr wrap="square" lIns="0" tIns="0" rIns="0" bIns="0" rtlCol="0" anchor="t"/>
          <a:lstStyle/>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SLA Gold : consommation et règle de décompte</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Capacité de la base de données</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Audience unique et licence</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Sécurisation de la configuration et patch du 10/09</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Orientations roadmap 2026–2027</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CDM</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Support : 5 h consommées sur 50, un rythme maîtrisé</a:t>
            </a:r>
            <a:endParaRPr lang="en-US" sz="26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SLA Gold, période du 1er juillet 2026 au 30 juin 2027 · 10 % du forfait consommés pour 17 % de la période écoulée · situation au 2 septembre 2026.</a:t>
            </a:r>
            <a:endParaRPr lang="en-US" sz="1300" dirty="0"/>
          </a:p>
        </p:txBody>
      </p:sp>
      <p:sp>
        <p:nvSpPr>
          <p:cNvPr id="7" name="Text 4"/>
          <p:cNvSpPr txBox="1"/>
          <p:nvPr/>
        </p:nvSpPr>
        <p:spPr>
          <a:xfrm>
            <a:off x="502920" y="6473952"/>
            <a:ext cx="7315200" cy="228600"/>
          </a:xfrm>
          <a:prstGeom prst="rect">
            <a:avLst/>
          </a:prstGeom>
          <a:noFill/>
          <a:ln/>
        </p:spPr>
        <p:txBody>
          <a:bodyPr wrap="square" lIns="0" tIns="0" rIns="0" bIns="0" rtlCol="0" anchor="ctr"/>
          <a:lstStyle/>
          <a:p>
            <a:pPr indent="0" marL="0">
              <a:buNone/>
            </a:pPr>
            <a:r>
              <a:rPr lang="en-US" sz="850" dirty="0">
                <a:solidFill>
                  <a:srgbClr val="6B7B83"/>
                </a:solidFill>
                <a:latin typeface="Calibri" pitchFamily="34" charset="0"/>
                <a:ea typeface="Calibri" pitchFamily="34" charset="-122"/>
                <a:cs typeface="Calibri" pitchFamily="34" charset="-120"/>
              </a:rPr>
              <a:t>COPIL Mutuelle Viasanté · 14 septembre 2026 · Confidentiel</a:t>
            </a:r>
            <a:endParaRPr lang="en-US" sz="850" dirty="0"/>
          </a:p>
        </p:txBody>
      </p:sp>
      <p:sp>
        <p:nvSpPr>
          <p:cNvPr id="8" name="Text 5"/>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850" dirty="0">
                <a:solidFill>
                  <a:srgbClr val="6B7B83"/>
                </a:solidFill>
                <a:latin typeface="Calibri" pitchFamily="34" charset="0"/>
                <a:ea typeface="Calibri" pitchFamily="34" charset="-122"/>
                <a:cs typeface="Calibri" pitchFamily="34" charset="-120"/>
              </a:rPr>
              <a:t>5</a:t>
            </a:r>
            <a:endParaRPr lang="en-US" sz="850" dirty="0"/>
          </a:p>
        </p:txBody>
      </p:sp>
      <p:sp>
        <p:nvSpPr>
          <p:cNvPr id="9" name="Shape 6"/>
          <p:cNvSpPr/>
          <p:nvPr/>
        </p:nvSpPr>
        <p:spPr>
          <a:xfrm>
            <a:off x="502920" y="1965960"/>
            <a:ext cx="3291840" cy="4251960"/>
          </a:xfrm>
          <a:prstGeom prst="roundRect">
            <a:avLst>
              <a:gd name="adj" fmla="val 333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0" name="Text 7"/>
          <p:cNvSpPr txBox="1"/>
          <p:nvPr/>
        </p:nvSpPr>
        <p:spPr>
          <a:xfrm>
            <a:off x="731520" y="2148840"/>
            <a:ext cx="2834640" cy="274320"/>
          </a:xfrm>
          <a:prstGeom prst="rect">
            <a:avLst/>
          </a:prstGeom>
          <a:noFill/>
          <a:ln/>
        </p:spPr>
        <p:txBody>
          <a:bodyPr wrap="square" lIns="0" tIns="0" rIns="0" bIns="0" rtlCol="0" anchor="t"/>
          <a:lstStyle/>
          <a:p>
            <a:pPr indent="0" marL="0">
              <a:buNone/>
            </a:pPr>
            <a:r>
              <a:rPr lang="en-US" sz="1100" b="1" dirty="0">
                <a:solidFill>
                  <a:srgbClr val="6B7B83"/>
                </a:solidFill>
                <a:latin typeface="Calibri" pitchFamily="34" charset="0"/>
                <a:ea typeface="Calibri" pitchFamily="34" charset="-122"/>
                <a:cs typeface="Calibri" pitchFamily="34" charset="-120"/>
              </a:rPr>
              <a:t>Heures décomptées du SLA</a:t>
            </a:r>
            <a:endParaRPr lang="en-US" sz="1100" dirty="0"/>
          </a:p>
        </p:txBody>
      </p:sp>
      <p:graphicFrame>
        <p:nvGraphicFramePr>
          <p:cNvPr id="11" name="Chart 0" descr=""/>
          <p:cNvGraphicFramePr/>
          <p:nvPr/>
        </p:nvGraphicFramePr>
        <p:xfrm>
          <a:off x="822960" y="2468880"/>
          <a:ext cx="2651760" cy="265176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txBox="1"/>
          <p:nvPr/>
        </p:nvSpPr>
        <p:spPr>
          <a:xfrm>
            <a:off x="822960" y="3383280"/>
            <a:ext cx="2651760" cy="548640"/>
          </a:xfrm>
          <a:prstGeom prst="rect">
            <a:avLst/>
          </a:prstGeom>
          <a:noFill/>
          <a:ln/>
        </p:spPr>
        <p:txBody>
          <a:bodyPr wrap="square" lIns="0" tIns="0" rIns="0" bIns="0" rtlCol="0" anchor="ctr"/>
          <a:lstStyle/>
          <a:p>
            <a:pPr algn="ctr" indent="0" marL="0">
              <a:buNone/>
            </a:pPr>
            <a:r>
              <a:rPr lang="en-US" sz="3000" b="1" dirty="0">
                <a:solidFill>
                  <a:srgbClr val="06404F"/>
                </a:solidFill>
                <a:latin typeface="Calibri" pitchFamily="34" charset="0"/>
                <a:ea typeface="Calibri" pitchFamily="34" charset="-122"/>
                <a:cs typeface="Calibri" pitchFamily="34" charset="-120"/>
              </a:rPr>
              <a:t>10 %</a:t>
            </a:r>
            <a:endParaRPr lang="en-US" sz="3000" dirty="0"/>
          </a:p>
        </p:txBody>
      </p:sp>
      <p:sp>
        <p:nvSpPr>
          <p:cNvPr id="13" name="Text 9"/>
          <p:cNvSpPr txBox="1"/>
          <p:nvPr/>
        </p:nvSpPr>
        <p:spPr>
          <a:xfrm>
            <a:off x="822960" y="3913632"/>
            <a:ext cx="2651760" cy="274320"/>
          </a:xfrm>
          <a:prstGeom prst="rect">
            <a:avLst/>
          </a:prstGeom>
          <a:noFill/>
          <a:ln/>
        </p:spPr>
        <p:txBody>
          <a:bodyPr wrap="square" lIns="0" tIns="0" rIns="0" bIns="0" rtlCol="0" anchor="t"/>
          <a:lstStyle/>
          <a:p>
            <a:pPr algn="ctr" indent="0" marL="0">
              <a:buNone/>
            </a:pPr>
            <a:r>
              <a:rPr lang="en-US" sz="1100" dirty="0">
                <a:solidFill>
                  <a:srgbClr val="6B7B83"/>
                </a:solidFill>
                <a:latin typeface="Calibri" pitchFamily="34" charset="0"/>
                <a:ea typeface="Calibri" pitchFamily="34" charset="-122"/>
                <a:cs typeface="Calibri" pitchFamily="34" charset="-120"/>
              </a:rPr>
              <a:t>5,0 h sur 50 h</a:t>
            </a:r>
            <a:endParaRPr lang="en-US" sz="1100" dirty="0"/>
          </a:p>
        </p:txBody>
      </p:sp>
      <p:sp>
        <p:nvSpPr>
          <p:cNvPr id="14" name="Text 10"/>
          <p:cNvSpPr txBox="1"/>
          <p:nvPr/>
        </p:nvSpPr>
        <p:spPr>
          <a:xfrm>
            <a:off x="731520" y="5212080"/>
            <a:ext cx="2834640" cy="868680"/>
          </a:xfrm>
          <a:prstGeom prst="rect">
            <a:avLst/>
          </a:prstGeom>
          <a:noFill/>
          <a:ln/>
        </p:spPr>
        <p:txBody>
          <a:bodyPr wrap="square" lIns="0" tIns="0" rIns="0" bIns="0" rtlCol="0" anchor="ctr"/>
          <a:lstStyle/>
          <a:p>
            <a:pPr algn="ctr" indent="0" marL="0">
              <a:spcAft>
                <a:spcPts val="400"/>
              </a:spcAft>
              <a:buNone/>
            </a:pPr>
            <a:r>
              <a:rPr lang="en-US" sz="1100" b="1" dirty="0">
                <a:solidFill>
                  <a:srgbClr val="06404F"/>
                </a:solidFill>
                <a:latin typeface="Calibri" pitchFamily="34" charset="0"/>
                <a:ea typeface="Calibri" pitchFamily="34" charset="-122"/>
                <a:cs typeface="Calibri" pitchFamily="34" charset="-120"/>
              </a:rPr>
              <a:t>45,0 h </a:t>
            </a:r>
            <a:pPr algn="ctr" indent="0" marL="0">
              <a:spcAft>
                <a:spcPts val="400"/>
              </a:spcAft>
              <a:buNone/>
            </a:pPr>
            <a:r>
              <a:rPr lang="en-US" sz="1100" dirty="0">
                <a:solidFill>
                  <a:srgbClr val="1F2A30"/>
                </a:solidFill>
                <a:latin typeface="Calibri" pitchFamily="34" charset="0"/>
                <a:ea typeface="Calibri" pitchFamily="34" charset="-122"/>
                <a:cs typeface="Calibri" pitchFamily="34" charset="-120"/>
              </a:rPr>
              <a:t>restent disponibles jusqu’au 30 juin 2027</a:t>
            </a:r>
            <a:endParaRPr lang="en-US" sz="1100" dirty="0"/>
          </a:p>
          <a:p>
            <a:pPr algn="ctr" indent="0" marL="0">
              <a:spcAft>
                <a:spcPts val="400"/>
              </a:spcAft>
              <a:buNone/>
            </a:pPr>
            <a:r>
              <a:rPr lang="en-US" sz="1100" b="1" dirty="0">
                <a:solidFill>
                  <a:srgbClr val="06404F"/>
                </a:solidFill>
                <a:latin typeface="Calibri" pitchFamily="34" charset="0"/>
                <a:ea typeface="Calibri" pitchFamily="34" charset="-122"/>
                <a:cs typeface="Calibri" pitchFamily="34" charset="-120"/>
              </a:rPr>
              <a:t>8,5 h </a:t>
            </a:r>
            <a:pPr algn="ctr" indent="0" marL="0">
              <a:spcAft>
                <a:spcPts val="400"/>
              </a:spcAft>
              <a:buNone/>
            </a:pPr>
            <a:r>
              <a:rPr lang="en-US" sz="1100" dirty="0">
                <a:solidFill>
                  <a:srgbClr val="1F2A30"/>
                </a:solidFill>
                <a:latin typeface="Calibri" pitchFamily="34" charset="0"/>
                <a:ea typeface="Calibri" pitchFamily="34" charset="-122"/>
                <a:cs typeface="Calibri" pitchFamily="34" charset="-120"/>
              </a:rPr>
              <a:t>d’anomalies et de questions traitées hors forfait</a:t>
            </a:r>
            <a:endParaRPr lang="en-US" sz="1100" dirty="0"/>
          </a:p>
        </p:txBody>
      </p:sp>
      <p:sp>
        <p:nvSpPr>
          <p:cNvPr id="15" name="Shape 11"/>
          <p:cNvSpPr/>
          <p:nvPr/>
        </p:nvSpPr>
        <p:spPr>
          <a:xfrm>
            <a:off x="4069080" y="1965960"/>
            <a:ext cx="4754880" cy="4251960"/>
          </a:xfrm>
          <a:prstGeom prst="roundRect">
            <a:avLst>
              <a:gd name="adj" fmla="val 2581"/>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6" name="Text 12"/>
          <p:cNvSpPr txBox="1"/>
          <p:nvPr/>
        </p:nvSpPr>
        <p:spPr>
          <a:xfrm>
            <a:off x="4297680" y="2148840"/>
            <a:ext cx="4297680" cy="274320"/>
          </a:xfrm>
          <a:prstGeom prst="rect">
            <a:avLst/>
          </a:prstGeom>
          <a:noFill/>
          <a:ln/>
        </p:spPr>
        <p:txBody>
          <a:bodyPr wrap="square" lIns="0" tIns="0" rIns="0" bIns="0" rtlCol="0" anchor="t"/>
          <a:lstStyle/>
          <a:p>
            <a:pPr indent="0" marL="0">
              <a:buNone/>
            </a:pPr>
            <a:r>
              <a:rPr lang="en-US" sz="1100" b="1" dirty="0">
                <a:solidFill>
                  <a:srgbClr val="6B7B83"/>
                </a:solidFill>
                <a:latin typeface="Calibri" pitchFamily="34" charset="0"/>
                <a:ea typeface="Calibri" pitchFamily="34" charset="-122"/>
                <a:cs typeface="Calibri" pitchFamily="34" charset="-120"/>
              </a:rPr>
              <a:t>Temps de support par catégorie — 17,9 h au total</a:t>
            </a:r>
            <a:endParaRPr lang="en-US" sz="1100" dirty="0"/>
          </a:p>
        </p:txBody>
      </p:sp>
      <p:sp>
        <p:nvSpPr>
          <p:cNvPr id="17" name="Text 13"/>
          <p:cNvSpPr txBox="1"/>
          <p:nvPr/>
        </p:nvSpPr>
        <p:spPr>
          <a:xfrm>
            <a:off x="4297680" y="2606040"/>
            <a:ext cx="4297680" cy="237744"/>
          </a:xfrm>
          <a:prstGeom prst="rect">
            <a:avLst/>
          </a:prstGeom>
          <a:noFill/>
          <a:ln/>
        </p:spPr>
        <p:txBody>
          <a:bodyPr wrap="square" lIns="0" tIns="0" rIns="0" bIns="0" rtlCol="0" anchor="ctr"/>
          <a:lstStyle/>
          <a:p>
            <a:pPr indent="0" marL="0">
              <a:buNone/>
            </a:pPr>
            <a:r>
              <a:rPr lang="en-US" sz="1050" b="1" dirty="0">
                <a:solidFill>
                  <a:srgbClr val="1F2A30"/>
                </a:solidFill>
                <a:latin typeface="Calibri" pitchFamily="34" charset="0"/>
                <a:ea typeface="Calibri" pitchFamily="34" charset="-122"/>
                <a:cs typeface="Calibri" pitchFamily="34" charset="-120"/>
              </a:rPr>
              <a:t>Anomalies produit (Defect)</a:t>
            </a:r>
            <a:pPr indent="0" marL="0">
              <a:buNone/>
            </a:pPr>
            <a:r>
              <a:rPr lang="en-US" sz="1050" dirty="0">
                <a:solidFill>
                  <a:srgbClr val="6B7B83"/>
                </a:solidFill>
                <a:latin typeface="Calibri" pitchFamily="34" charset="0"/>
                <a:ea typeface="Calibri" pitchFamily="34" charset="-122"/>
                <a:cs typeface="Calibri" pitchFamily="34" charset="-120"/>
              </a:rPr>
              <a:t>  ·  5 tickets</a:t>
            </a:r>
            <a:endParaRPr lang="en-US" sz="1050" dirty="0"/>
          </a:p>
        </p:txBody>
      </p:sp>
      <p:sp>
        <p:nvSpPr>
          <p:cNvPr id="18" name="Shape 14"/>
          <p:cNvSpPr/>
          <p:nvPr/>
        </p:nvSpPr>
        <p:spPr>
          <a:xfrm>
            <a:off x="4297680" y="2880360"/>
            <a:ext cx="3383280" cy="201168"/>
          </a:xfrm>
          <a:prstGeom prst="roundRect">
            <a:avLst>
              <a:gd name="adj" fmla="val 22727"/>
            </a:avLst>
          </a:prstGeom>
          <a:solidFill>
            <a:srgbClr val="EEF3F5"/>
          </a:solidFill>
          <a:ln w="12700">
            <a:solidFill>
              <a:srgbClr val="EEF3F5"/>
            </a:solidFill>
            <a:prstDash val="solid"/>
          </a:ln>
        </p:spPr>
      </p:sp>
      <p:sp>
        <p:nvSpPr>
          <p:cNvPr id="19" name="Shape 15"/>
          <p:cNvSpPr/>
          <p:nvPr/>
        </p:nvSpPr>
        <p:spPr>
          <a:xfrm>
            <a:off x="4297680" y="2880360"/>
            <a:ext cx="3146450" cy="201168"/>
          </a:xfrm>
          <a:prstGeom prst="roundRect">
            <a:avLst>
              <a:gd name="adj" fmla="val 22727"/>
            </a:avLst>
          </a:prstGeom>
          <a:solidFill>
            <a:srgbClr val="3D8E9C"/>
          </a:solidFill>
          <a:ln w="12700">
            <a:solidFill>
              <a:srgbClr val="3D8E9C"/>
            </a:solidFill>
            <a:prstDash val="solid"/>
          </a:ln>
        </p:spPr>
      </p:sp>
      <p:sp>
        <p:nvSpPr>
          <p:cNvPr id="20" name="Text 16"/>
          <p:cNvSpPr txBox="1"/>
          <p:nvPr/>
        </p:nvSpPr>
        <p:spPr>
          <a:xfrm>
            <a:off x="7772400" y="2843784"/>
            <a:ext cx="822960" cy="274320"/>
          </a:xfrm>
          <a:prstGeom prst="rect">
            <a:avLst/>
          </a:prstGeom>
          <a:noFill/>
          <a:ln/>
        </p:spPr>
        <p:txBody>
          <a:bodyPr wrap="square" lIns="0" tIns="0" rIns="0" bIns="0" rtlCol="0" anchor="ctr"/>
          <a:lstStyle/>
          <a:p>
            <a:pPr indent="0" marL="0">
              <a:buNone/>
            </a:pPr>
            <a:r>
              <a:rPr lang="en-US" sz="1100" b="1" dirty="0">
                <a:solidFill>
                  <a:srgbClr val="06404F"/>
                </a:solidFill>
                <a:latin typeface="Calibri" pitchFamily="34" charset="0"/>
                <a:ea typeface="Calibri" pitchFamily="34" charset="-122"/>
                <a:cs typeface="Calibri" pitchFamily="34" charset="-120"/>
              </a:rPr>
              <a:t>5,6 h</a:t>
            </a:r>
            <a:endParaRPr lang="en-US" sz="1100" dirty="0"/>
          </a:p>
        </p:txBody>
      </p:sp>
      <p:sp>
        <p:nvSpPr>
          <p:cNvPr id="21" name="Text 17"/>
          <p:cNvSpPr txBox="1"/>
          <p:nvPr/>
        </p:nvSpPr>
        <p:spPr>
          <a:xfrm>
            <a:off x="4297680" y="3264408"/>
            <a:ext cx="4297680" cy="237744"/>
          </a:xfrm>
          <a:prstGeom prst="rect">
            <a:avLst/>
          </a:prstGeom>
          <a:noFill/>
          <a:ln/>
        </p:spPr>
        <p:txBody>
          <a:bodyPr wrap="square" lIns="0" tIns="0" rIns="0" bIns="0" rtlCol="0" anchor="ctr"/>
          <a:lstStyle/>
          <a:p>
            <a:pPr indent="0" marL="0">
              <a:buNone/>
            </a:pPr>
            <a:r>
              <a:rPr lang="en-US" sz="1050" b="1" dirty="0">
                <a:solidFill>
                  <a:srgbClr val="1F2A30"/>
                </a:solidFill>
                <a:latin typeface="Calibri" pitchFamily="34" charset="0"/>
                <a:ea typeface="Calibri" pitchFamily="34" charset="-122"/>
                <a:cs typeface="Calibri" pitchFamily="34" charset="-120"/>
              </a:rPr>
              <a:t>Demandes de service (Case)</a:t>
            </a:r>
            <a:pPr indent="0" marL="0">
              <a:buNone/>
            </a:pPr>
            <a:r>
              <a:rPr lang="en-US" sz="1050" dirty="0">
                <a:solidFill>
                  <a:srgbClr val="6B7B83"/>
                </a:solidFill>
                <a:latin typeface="Calibri" pitchFamily="34" charset="0"/>
                <a:ea typeface="Calibri" pitchFamily="34" charset="-122"/>
                <a:cs typeface="Calibri" pitchFamily="34" charset="-120"/>
              </a:rPr>
              <a:t>  ·  3 tickets</a:t>
            </a:r>
            <a:endParaRPr lang="en-US" sz="1050" dirty="0"/>
          </a:p>
        </p:txBody>
      </p:sp>
      <p:sp>
        <p:nvSpPr>
          <p:cNvPr id="22" name="Shape 18"/>
          <p:cNvSpPr/>
          <p:nvPr/>
        </p:nvSpPr>
        <p:spPr>
          <a:xfrm>
            <a:off x="4297680" y="3538728"/>
            <a:ext cx="3383280" cy="201168"/>
          </a:xfrm>
          <a:prstGeom prst="roundRect">
            <a:avLst>
              <a:gd name="adj" fmla="val 22727"/>
            </a:avLst>
          </a:prstGeom>
          <a:solidFill>
            <a:srgbClr val="EEF3F5"/>
          </a:solidFill>
          <a:ln w="12700">
            <a:solidFill>
              <a:srgbClr val="EEF3F5"/>
            </a:solidFill>
            <a:prstDash val="solid"/>
          </a:ln>
        </p:spPr>
      </p:sp>
      <p:sp>
        <p:nvSpPr>
          <p:cNvPr id="23" name="Shape 19"/>
          <p:cNvSpPr/>
          <p:nvPr/>
        </p:nvSpPr>
        <p:spPr>
          <a:xfrm>
            <a:off x="4297680" y="3538728"/>
            <a:ext cx="2830678" cy="201168"/>
          </a:xfrm>
          <a:prstGeom prst="roundRect">
            <a:avLst>
              <a:gd name="adj" fmla="val 22727"/>
            </a:avLst>
          </a:prstGeom>
          <a:solidFill>
            <a:srgbClr val="F28C28"/>
          </a:solidFill>
          <a:ln w="12700">
            <a:solidFill>
              <a:srgbClr val="F28C28"/>
            </a:solidFill>
            <a:prstDash val="solid"/>
          </a:ln>
        </p:spPr>
      </p:sp>
      <p:sp>
        <p:nvSpPr>
          <p:cNvPr id="24" name="Text 20"/>
          <p:cNvSpPr txBox="1"/>
          <p:nvPr/>
        </p:nvSpPr>
        <p:spPr>
          <a:xfrm>
            <a:off x="7772400" y="3502152"/>
            <a:ext cx="822960" cy="274320"/>
          </a:xfrm>
          <a:prstGeom prst="rect">
            <a:avLst/>
          </a:prstGeom>
          <a:noFill/>
          <a:ln/>
        </p:spPr>
        <p:txBody>
          <a:bodyPr wrap="square" lIns="0" tIns="0" rIns="0" bIns="0" rtlCol="0" anchor="ctr"/>
          <a:lstStyle/>
          <a:p>
            <a:pPr indent="0" marL="0">
              <a:buNone/>
            </a:pPr>
            <a:r>
              <a:rPr lang="en-US" sz="1100" b="1" dirty="0">
                <a:solidFill>
                  <a:srgbClr val="F28C28"/>
                </a:solidFill>
                <a:latin typeface="Calibri" pitchFamily="34" charset="0"/>
                <a:ea typeface="Calibri" pitchFamily="34" charset="-122"/>
                <a:cs typeface="Calibri" pitchFamily="34" charset="-120"/>
              </a:rPr>
              <a:t>5,0 h</a:t>
            </a:r>
            <a:endParaRPr lang="en-US" sz="1100" dirty="0"/>
          </a:p>
        </p:txBody>
      </p:sp>
      <p:sp>
        <p:nvSpPr>
          <p:cNvPr id="25" name="Text 21"/>
          <p:cNvSpPr txBox="1"/>
          <p:nvPr/>
        </p:nvSpPr>
        <p:spPr>
          <a:xfrm>
            <a:off x="4297680" y="3922776"/>
            <a:ext cx="4297680" cy="237744"/>
          </a:xfrm>
          <a:prstGeom prst="rect">
            <a:avLst/>
          </a:prstGeom>
          <a:noFill/>
          <a:ln/>
        </p:spPr>
        <p:txBody>
          <a:bodyPr wrap="square" lIns="0" tIns="0" rIns="0" bIns="0" rtlCol="0" anchor="ctr"/>
          <a:lstStyle/>
          <a:p>
            <a:pPr indent="0" marL="0">
              <a:buNone/>
            </a:pPr>
            <a:r>
              <a:rPr lang="en-US" sz="1050" b="1" dirty="0">
                <a:solidFill>
                  <a:srgbClr val="1F2A30"/>
                </a:solidFill>
                <a:latin typeface="Calibri" pitchFamily="34" charset="0"/>
                <a:ea typeface="Calibri" pitchFamily="34" charset="-122"/>
                <a:cs typeface="Calibri" pitchFamily="34" charset="-120"/>
              </a:rPr>
              <a:t>Non catégorisé</a:t>
            </a:r>
            <a:pPr indent="0" marL="0">
              <a:buNone/>
            </a:pPr>
            <a:r>
              <a:rPr lang="en-US" sz="1050" dirty="0">
                <a:solidFill>
                  <a:srgbClr val="6B7B83"/>
                </a:solidFill>
                <a:latin typeface="Calibri" pitchFamily="34" charset="0"/>
                <a:ea typeface="Calibri" pitchFamily="34" charset="-122"/>
                <a:cs typeface="Calibri" pitchFamily="34" charset="-120"/>
              </a:rPr>
              <a:t>  ·  4 tickets</a:t>
            </a:r>
            <a:endParaRPr lang="en-US" sz="1050" dirty="0"/>
          </a:p>
        </p:txBody>
      </p:sp>
      <p:sp>
        <p:nvSpPr>
          <p:cNvPr id="26" name="Shape 22"/>
          <p:cNvSpPr/>
          <p:nvPr/>
        </p:nvSpPr>
        <p:spPr>
          <a:xfrm>
            <a:off x="4297680" y="4197096"/>
            <a:ext cx="3383280" cy="201168"/>
          </a:xfrm>
          <a:prstGeom prst="roundRect">
            <a:avLst>
              <a:gd name="adj" fmla="val 22727"/>
            </a:avLst>
          </a:prstGeom>
          <a:solidFill>
            <a:srgbClr val="EEF3F5"/>
          </a:solidFill>
          <a:ln w="12700">
            <a:solidFill>
              <a:srgbClr val="EEF3F5"/>
            </a:solidFill>
            <a:prstDash val="solid"/>
          </a:ln>
        </p:spPr>
      </p:sp>
      <p:sp>
        <p:nvSpPr>
          <p:cNvPr id="27" name="Shape 23"/>
          <p:cNvSpPr/>
          <p:nvPr/>
        </p:nvSpPr>
        <p:spPr>
          <a:xfrm>
            <a:off x="4297680" y="4197096"/>
            <a:ext cx="2452878" cy="201168"/>
          </a:xfrm>
          <a:prstGeom prst="roundRect">
            <a:avLst>
              <a:gd name="adj" fmla="val 22727"/>
            </a:avLst>
          </a:prstGeom>
          <a:solidFill>
            <a:srgbClr val="3D8E9C"/>
          </a:solidFill>
          <a:ln w="12700">
            <a:solidFill>
              <a:srgbClr val="3D8E9C"/>
            </a:solidFill>
            <a:prstDash val="solid"/>
          </a:ln>
        </p:spPr>
      </p:sp>
      <p:sp>
        <p:nvSpPr>
          <p:cNvPr id="28" name="Text 24"/>
          <p:cNvSpPr txBox="1"/>
          <p:nvPr/>
        </p:nvSpPr>
        <p:spPr>
          <a:xfrm>
            <a:off x="7772400" y="4160520"/>
            <a:ext cx="822960" cy="274320"/>
          </a:xfrm>
          <a:prstGeom prst="rect">
            <a:avLst/>
          </a:prstGeom>
          <a:noFill/>
          <a:ln/>
        </p:spPr>
        <p:txBody>
          <a:bodyPr wrap="square" lIns="0" tIns="0" rIns="0" bIns="0" rtlCol="0" anchor="ctr"/>
          <a:lstStyle/>
          <a:p>
            <a:pPr indent="0" marL="0">
              <a:buNone/>
            </a:pPr>
            <a:r>
              <a:rPr lang="en-US" sz="1100" b="1" dirty="0">
                <a:solidFill>
                  <a:srgbClr val="06404F"/>
                </a:solidFill>
                <a:latin typeface="Calibri" pitchFamily="34" charset="0"/>
                <a:ea typeface="Calibri" pitchFamily="34" charset="-122"/>
                <a:cs typeface="Calibri" pitchFamily="34" charset="-120"/>
              </a:rPr>
              <a:t>4,3 h</a:t>
            </a:r>
            <a:endParaRPr lang="en-US" sz="1100" dirty="0"/>
          </a:p>
        </p:txBody>
      </p:sp>
      <p:sp>
        <p:nvSpPr>
          <p:cNvPr id="29" name="Text 25"/>
          <p:cNvSpPr txBox="1"/>
          <p:nvPr/>
        </p:nvSpPr>
        <p:spPr>
          <a:xfrm>
            <a:off x="4297680" y="4581144"/>
            <a:ext cx="4297680" cy="237744"/>
          </a:xfrm>
          <a:prstGeom prst="rect">
            <a:avLst/>
          </a:prstGeom>
          <a:noFill/>
          <a:ln/>
        </p:spPr>
        <p:txBody>
          <a:bodyPr wrap="square" lIns="0" tIns="0" rIns="0" bIns="0" rtlCol="0" anchor="ctr"/>
          <a:lstStyle/>
          <a:p>
            <a:pPr indent="0" marL="0">
              <a:buNone/>
            </a:pPr>
            <a:r>
              <a:rPr lang="en-US" sz="1050" b="1" dirty="0">
                <a:solidFill>
                  <a:srgbClr val="1F2A30"/>
                </a:solidFill>
                <a:latin typeface="Calibri" pitchFamily="34" charset="0"/>
                <a:ea typeface="Calibri" pitchFamily="34" charset="-122"/>
                <a:cs typeface="Calibri" pitchFamily="34" charset="-120"/>
              </a:rPr>
              <a:t>Questions simples</a:t>
            </a:r>
            <a:pPr indent="0" marL="0">
              <a:buNone/>
            </a:pPr>
            <a:r>
              <a:rPr lang="en-US" sz="1050" dirty="0">
                <a:solidFill>
                  <a:srgbClr val="6B7B83"/>
                </a:solidFill>
                <a:latin typeface="Calibri" pitchFamily="34" charset="0"/>
                <a:ea typeface="Calibri" pitchFamily="34" charset="-122"/>
                <a:cs typeface="Calibri" pitchFamily="34" charset="-120"/>
              </a:rPr>
              <a:t>  ·  2 tickets</a:t>
            </a:r>
            <a:endParaRPr lang="en-US" sz="1050" dirty="0"/>
          </a:p>
        </p:txBody>
      </p:sp>
      <p:sp>
        <p:nvSpPr>
          <p:cNvPr id="30" name="Shape 26"/>
          <p:cNvSpPr/>
          <p:nvPr/>
        </p:nvSpPr>
        <p:spPr>
          <a:xfrm>
            <a:off x="4297680" y="4855464"/>
            <a:ext cx="3383280" cy="201168"/>
          </a:xfrm>
          <a:prstGeom prst="roundRect">
            <a:avLst>
              <a:gd name="adj" fmla="val 22727"/>
            </a:avLst>
          </a:prstGeom>
          <a:solidFill>
            <a:srgbClr val="EEF3F5"/>
          </a:solidFill>
          <a:ln w="12700">
            <a:solidFill>
              <a:srgbClr val="EEF3F5"/>
            </a:solidFill>
            <a:prstDash val="solid"/>
          </a:ln>
        </p:spPr>
      </p:sp>
      <p:sp>
        <p:nvSpPr>
          <p:cNvPr id="31" name="Shape 27"/>
          <p:cNvSpPr/>
          <p:nvPr/>
        </p:nvSpPr>
        <p:spPr>
          <a:xfrm>
            <a:off x="4297680" y="4855464"/>
            <a:ext cx="1646530" cy="201168"/>
          </a:xfrm>
          <a:prstGeom prst="roundRect">
            <a:avLst>
              <a:gd name="adj" fmla="val 22727"/>
            </a:avLst>
          </a:prstGeom>
          <a:solidFill>
            <a:srgbClr val="3D8E9C"/>
          </a:solidFill>
          <a:ln w="12700">
            <a:solidFill>
              <a:srgbClr val="3D8E9C"/>
            </a:solidFill>
            <a:prstDash val="solid"/>
          </a:ln>
        </p:spPr>
      </p:sp>
      <p:sp>
        <p:nvSpPr>
          <p:cNvPr id="32" name="Text 28"/>
          <p:cNvSpPr txBox="1"/>
          <p:nvPr/>
        </p:nvSpPr>
        <p:spPr>
          <a:xfrm>
            <a:off x="7772400" y="4818888"/>
            <a:ext cx="822960" cy="274320"/>
          </a:xfrm>
          <a:prstGeom prst="rect">
            <a:avLst/>
          </a:prstGeom>
          <a:noFill/>
          <a:ln/>
        </p:spPr>
        <p:txBody>
          <a:bodyPr wrap="square" lIns="0" tIns="0" rIns="0" bIns="0" rtlCol="0" anchor="ctr"/>
          <a:lstStyle/>
          <a:p>
            <a:pPr indent="0" marL="0">
              <a:buNone/>
            </a:pPr>
            <a:r>
              <a:rPr lang="en-US" sz="1100" b="1" dirty="0">
                <a:solidFill>
                  <a:srgbClr val="06404F"/>
                </a:solidFill>
                <a:latin typeface="Calibri" pitchFamily="34" charset="0"/>
                <a:ea typeface="Calibri" pitchFamily="34" charset="-122"/>
                <a:cs typeface="Calibri" pitchFamily="34" charset="-120"/>
              </a:rPr>
              <a:t>2,9 h</a:t>
            </a:r>
            <a:endParaRPr lang="en-US" sz="1100" dirty="0"/>
          </a:p>
        </p:txBody>
      </p:sp>
      <p:sp>
        <p:nvSpPr>
          <p:cNvPr id="33" name="Shape 29"/>
          <p:cNvSpPr/>
          <p:nvPr/>
        </p:nvSpPr>
        <p:spPr>
          <a:xfrm>
            <a:off x="4297680" y="5349240"/>
            <a:ext cx="164592" cy="164592"/>
          </a:xfrm>
          <a:prstGeom prst="roundRect">
            <a:avLst>
              <a:gd name="adj" fmla="val 16667"/>
            </a:avLst>
          </a:prstGeom>
          <a:solidFill>
            <a:srgbClr val="F28C28"/>
          </a:solidFill>
          <a:ln w="12700">
            <a:solidFill>
              <a:srgbClr val="F28C28"/>
            </a:solidFill>
            <a:prstDash val="solid"/>
          </a:ln>
        </p:spPr>
      </p:sp>
      <p:sp>
        <p:nvSpPr>
          <p:cNvPr id="34" name="Text 30"/>
          <p:cNvSpPr txBox="1"/>
          <p:nvPr/>
        </p:nvSpPr>
        <p:spPr>
          <a:xfrm>
            <a:off x="4526280" y="5303520"/>
            <a:ext cx="1645920" cy="256032"/>
          </a:xfrm>
          <a:prstGeom prst="rect">
            <a:avLst/>
          </a:prstGeom>
          <a:noFill/>
          <a:ln/>
        </p:spPr>
        <p:txBody>
          <a:bodyPr wrap="square" lIns="0" tIns="0" rIns="0" bIns="0" rtlCol="0" anchor="ctr"/>
          <a:lstStyle/>
          <a:p>
            <a:pPr indent="0" marL="0">
              <a:buNone/>
            </a:pPr>
            <a:r>
              <a:rPr lang="en-US" sz="950" dirty="0">
                <a:solidFill>
                  <a:srgbClr val="1F2A30"/>
                </a:solidFill>
                <a:latin typeface="Calibri" pitchFamily="34" charset="0"/>
                <a:ea typeface="Calibri" pitchFamily="34" charset="-122"/>
                <a:cs typeface="Calibri" pitchFamily="34" charset="-120"/>
              </a:rPr>
              <a:t>Décompté du SLA</a:t>
            </a:r>
            <a:endParaRPr lang="en-US" sz="950" dirty="0"/>
          </a:p>
        </p:txBody>
      </p:sp>
      <p:sp>
        <p:nvSpPr>
          <p:cNvPr id="35" name="Shape 31"/>
          <p:cNvSpPr/>
          <p:nvPr/>
        </p:nvSpPr>
        <p:spPr>
          <a:xfrm>
            <a:off x="6217920" y="5349240"/>
            <a:ext cx="164592" cy="164592"/>
          </a:xfrm>
          <a:prstGeom prst="roundRect">
            <a:avLst>
              <a:gd name="adj" fmla="val 16667"/>
            </a:avLst>
          </a:prstGeom>
          <a:solidFill>
            <a:srgbClr val="3D8E9C"/>
          </a:solidFill>
          <a:ln w="12700">
            <a:solidFill>
              <a:srgbClr val="3D8E9C"/>
            </a:solidFill>
            <a:prstDash val="solid"/>
          </a:ln>
        </p:spPr>
      </p:sp>
      <p:sp>
        <p:nvSpPr>
          <p:cNvPr id="36" name="Text 32"/>
          <p:cNvSpPr txBox="1"/>
          <p:nvPr/>
        </p:nvSpPr>
        <p:spPr>
          <a:xfrm>
            <a:off x="6446520" y="5303520"/>
            <a:ext cx="2560320" cy="256032"/>
          </a:xfrm>
          <a:prstGeom prst="rect">
            <a:avLst/>
          </a:prstGeom>
          <a:noFill/>
          <a:ln/>
        </p:spPr>
        <p:txBody>
          <a:bodyPr wrap="square" lIns="0" tIns="0" rIns="0" bIns="0" rtlCol="0" anchor="ctr"/>
          <a:lstStyle/>
          <a:p>
            <a:pPr indent="0" marL="0">
              <a:buNone/>
            </a:pPr>
            <a:r>
              <a:rPr lang="en-US" sz="950" dirty="0">
                <a:solidFill>
                  <a:srgbClr val="1F2A30"/>
                </a:solidFill>
                <a:latin typeface="Calibri" pitchFamily="34" charset="0"/>
                <a:ea typeface="Calibri" pitchFamily="34" charset="-122"/>
                <a:cs typeface="Calibri" pitchFamily="34" charset="-120"/>
              </a:rPr>
              <a:t>Non décompté (pris en charge par Selligent)</a:t>
            </a:r>
            <a:endParaRPr lang="en-US" sz="950" dirty="0"/>
          </a:p>
        </p:txBody>
      </p:sp>
      <p:sp>
        <p:nvSpPr>
          <p:cNvPr id="37" name="Text 33"/>
          <p:cNvSpPr txBox="1"/>
          <p:nvPr/>
        </p:nvSpPr>
        <p:spPr>
          <a:xfrm>
            <a:off x="4526280" y="5715000"/>
            <a:ext cx="4297680" cy="365760"/>
          </a:xfrm>
          <a:prstGeom prst="rect">
            <a:avLst/>
          </a:prstGeom>
          <a:noFill/>
          <a:ln/>
        </p:spPr>
        <p:txBody>
          <a:bodyPr wrap="square" lIns="0" tIns="0" rIns="0" bIns="0" rtlCol="0" anchor="ctr"/>
          <a:lstStyle/>
          <a:p>
            <a:pPr indent="0" marL="0">
              <a:buNone/>
            </a:pPr>
            <a:r>
              <a:rPr lang="en-US" sz="950" dirty="0">
                <a:solidFill>
                  <a:srgbClr val="6B7B83"/>
                </a:solidFill>
                <a:latin typeface="Calibri" pitchFamily="34" charset="0"/>
                <a:ea typeface="Calibri" pitchFamily="34" charset="-122"/>
                <a:cs typeface="Calibri" pitchFamily="34" charset="-120"/>
              </a:rPr>
              <a:t>Temps de support par mois (tickets actifs) : juillet 7,1 h (9) · août 10,1 h (8) · septembre 0,7 h (2, au 02/09)</a:t>
            </a:r>
            <a:endParaRPr lang="en-US" sz="950" dirty="0"/>
          </a:p>
        </p:txBody>
      </p:sp>
      <p:sp>
        <p:nvSpPr>
          <p:cNvPr id="38" name="Shape 34"/>
          <p:cNvSpPr/>
          <p:nvPr/>
        </p:nvSpPr>
        <p:spPr>
          <a:xfrm>
            <a:off x="9098280" y="1965960"/>
            <a:ext cx="2590495" cy="2331720"/>
          </a:xfrm>
          <a:prstGeom prst="roundRect">
            <a:avLst>
              <a:gd name="adj" fmla="val 4706"/>
            </a:avLst>
          </a:prstGeom>
          <a:solidFill>
            <a:srgbClr val="F2F8F9"/>
          </a:solidFill>
          <a:ln w="12700">
            <a:solidFill>
              <a:srgbClr val="F2F8F9"/>
            </a:solidFill>
            <a:prstDash val="solid"/>
          </a:ln>
        </p:spPr>
      </p:sp>
      <p:sp>
        <p:nvSpPr>
          <p:cNvPr id="39" name="Shape 35"/>
          <p:cNvSpPr/>
          <p:nvPr/>
        </p:nvSpPr>
        <p:spPr>
          <a:xfrm>
            <a:off x="9281160" y="2148840"/>
            <a:ext cx="384048" cy="384048"/>
          </a:xfrm>
          <a:prstGeom prst="ellipse">
            <a:avLst/>
          </a:prstGeom>
          <a:solidFill>
            <a:srgbClr val="06404F"/>
          </a:solidFill>
          <a:ln w="12700">
            <a:solidFill>
              <a:srgbClr val="06404F"/>
            </a:solidFill>
            <a:prstDash val="solid"/>
          </a:ln>
        </p:spPr>
      </p:sp>
      <p:pic>
        <p:nvPicPr>
          <p:cNvPr id="40" name="Image 1" descr="preencoded.png">    </p:cNvPr>
          <p:cNvPicPr>
            <a:picLocks noChangeAspect="1"/>
          </p:cNvPicPr>
          <p:nvPr/>
        </p:nvPicPr>
        <p:blipFill>
          <a:blip r:embed="rId3"/>
          <a:stretch>
            <a:fillRect/>
          </a:stretch>
        </p:blipFill>
        <p:spPr>
          <a:xfrm>
            <a:off x="9381012" y="2248692"/>
            <a:ext cx="184343" cy="184343"/>
          </a:xfrm>
          <a:prstGeom prst="rect">
            <a:avLst/>
          </a:prstGeom>
        </p:spPr>
      </p:pic>
      <p:sp>
        <p:nvSpPr>
          <p:cNvPr id="41" name="Text 36"/>
          <p:cNvSpPr txBox="1"/>
          <p:nvPr/>
        </p:nvSpPr>
        <p:spPr>
          <a:xfrm>
            <a:off x="9784080" y="2148840"/>
            <a:ext cx="1721815" cy="384048"/>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Règle de décompte</a:t>
            </a:r>
            <a:endParaRPr lang="en-US" sz="1250" dirty="0"/>
          </a:p>
        </p:txBody>
      </p:sp>
      <p:sp>
        <p:nvSpPr>
          <p:cNvPr id="42" name="Text 37"/>
          <p:cNvSpPr txBox="1"/>
          <p:nvPr/>
        </p:nvSpPr>
        <p:spPr>
          <a:xfrm>
            <a:off x="9326880" y="2606040"/>
            <a:ext cx="2133295" cy="155448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Seules les heures qualifiées « Case » (demandes de service) sont décomptées des 50 h.</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Anomalies produit, questions et suivi sont pris en charge par Selligent, hors forfait.</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Suivi partagé chaque mois avec le rapport SLA.</a:t>
            </a:r>
            <a:endParaRPr lang="en-US" sz="1050" dirty="0"/>
          </a:p>
        </p:txBody>
      </p:sp>
      <p:sp>
        <p:nvSpPr>
          <p:cNvPr id="43" name="Shape 38"/>
          <p:cNvSpPr/>
          <p:nvPr/>
        </p:nvSpPr>
        <p:spPr>
          <a:xfrm>
            <a:off x="9098280" y="4434840"/>
            <a:ext cx="2590495" cy="1783080"/>
          </a:xfrm>
          <a:prstGeom prst="roundRect">
            <a:avLst>
              <a:gd name="adj" fmla="val 6154"/>
            </a:avLst>
          </a:prstGeom>
          <a:solidFill>
            <a:srgbClr val="E3F3EA"/>
          </a:solidFill>
          <a:ln w="12700">
            <a:solidFill>
              <a:srgbClr val="E3F3EA"/>
            </a:solidFill>
            <a:prstDash val="solid"/>
          </a:ln>
        </p:spPr>
      </p:sp>
      <p:sp>
        <p:nvSpPr>
          <p:cNvPr id="44" name="Shape 39"/>
          <p:cNvSpPr/>
          <p:nvPr/>
        </p:nvSpPr>
        <p:spPr>
          <a:xfrm>
            <a:off x="9281160" y="4617720"/>
            <a:ext cx="384048" cy="384048"/>
          </a:xfrm>
          <a:prstGeom prst="ellipse">
            <a:avLst/>
          </a:prstGeom>
          <a:solidFill>
            <a:srgbClr val="2E8B57"/>
          </a:solidFill>
          <a:ln w="12700">
            <a:solidFill>
              <a:srgbClr val="2E8B57"/>
            </a:solidFill>
            <a:prstDash val="solid"/>
          </a:ln>
        </p:spPr>
      </p:sp>
      <p:pic>
        <p:nvPicPr>
          <p:cNvPr id="45" name="Image 2" descr="preencoded.png">    </p:cNvPr>
          <p:cNvPicPr>
            <a:picLocks noChangeAspect="1"/>
          </p:cNvPicPr>
          <p:nvPr/>
        </p:nvPicPr>
        <p:blipFill>
          <a:blip r:embed="rId4"/>
          <a:stretch>
            <a:fillRect/>
          </a:stretch>
        </p:blipFill>
        <p:spPr>
          <a:xfrm>
            <a:off x="9381012" y="4717572"/>
            <a:ext cx="184343" cy="184343"/>
          </a:xfrm>
          <a:prstGeom prst="rect">
            <a:avLst/>
          </a:prstGeom>
        </p:spPr>
      </p:pic>
      <p:sp>
        <p:nvSpPr>
          <p:cNvPr id="46" name="Text 40"/>
          <p:cNvSpPr txBox="1"/>
          <p:nvPr/>
        </p:nvSpPr>
        <p:spPr>
          <a:xfrm>
            <a:off x="9784080" y="4617720"/>
            <a:ext cx="1721815" cy="384048"/>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Ce que nous proposons</a:t>
            </a:r>
            <a:endParaRPr lang="en-US" sz="1250" dirty="0"/>
          </a:p>
        </p:txBody>
      </p:sp>
      <p:sp>
        <p:nvSpPr>
          <p:cNvPr id="47" name="Text 41"/>
          <p:cNvSpPr txBox="1"/>
          <p:nvPr/>
        </p:nvSpPr>
        <p:spPr>
          <a:xfrm>
            <a:off x="9326880" y="5074920"/>
            <a:ext cx="2133295" cy="100584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Point SLA mensuel dans le reporting CSM.</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Alerte proactive dès 60 % de consommation.</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CDM</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Base de données : 47 GB sur 50, anticipons ensemble</a:t>
            </a:r>
            <a:endParaRPr lang="en-US" sz="26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+3 GB en six mois, par paliers, et un plateau à 47 GB depuis juin : 3 GB de marge, soit environ six mois si le rythme du premier semestre reprend.</a:t>
            </a:r>
            <a:endParaRPr lang="en-US" sz="1300" dirty="0"/>
          </a:p>
        </p:txBody>
      </p:sp>
      <p:sp>
        <p:nvSpPr>
          <p:cNvPr id="7" name="Text 4"/>
          <p:cNvSpPr txBox="1"/>
          <p:nvPr/>
        </p:nvSpPr>
        <p:spPr>
          <a:xfrm>
            <a:off x="502920" y="6473952"/>
            <a:ext cx="7315200" cy="228600"/>
          </a:xfrm>
          <a:prstGeom prst="rect">
            <a:avLst/>
          </a:prstGeom>
          <a:noFill/>
          <a:ln/>
        </p:spPr>
        <p:txBody>
          <a:bodyPr wrap="square" lIns="0" tIns="0" rIns="0" bIns="0" rtlCol="0" anchor="ctr"/>
          <a:lstStyle/>
          <a:p>
            <a:pPr indent="0" marL="0">
              <a:buNone/>
            </a:pPr>
            <a:r>
              <a:rPr lang="en-US" sz="850" dirty="0">
                <a:solidFill>
                  <a:srgbClr val="6B7B83"/>
                </a:solidFill>
                <a:latin typeface="Calibri" pitchFamily="34" charset="0"/>
                <a:ea typeface="Calibri" pitchFamily="34" charset="-122"/>
                <a:cs typeface="Calibri" pitchFamily="34" charset="-120"/>
              </a:rPr>
              <a:t>COPIL Mutuelle Viasanté · 14 septembre 2026 · Confidentiel</a:t>
            </a:r>
            <a:endParaRPr lang="en-US" sz="850" dirty="0"/>
          </a:p>
        </p:txBody>
      </p:sp>
      <p:sp>
        <p:nvSpPr>
          <p:cNvPr id="8" name="Text 5"/>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850" dirty="0">
                <a:solidFill>
                  <a:srgbClr val="6B7B83"/>
                </a:solidFill>
                <a:latin typeface="Calibri" pitchFamily="34" charset="0"/>
                <a:ea typeface="Calibri" pitchFamily="34" charset="-122"/>
                <a:cs typeface="Calibri" pitchFamily="34" charset="-120"/>
              </a:rPr>
              <a:t>6</a:t>
            </a:r>
            <a:endParaRPr lang="en-US" sz="850" dirty="0"/>
          </a:p>
        </p:txBody>
      </p:sp>
      <p:sp>
        <p:nvSpPr>
          <p:cNvPr id="9" name="Shape 6"/>
          <p:cNvSpPr/>
          <p:nvPr/>
        </p:nvSpPr>
        <p:spPr>
          <a:xfrm>
            <a:off x="502920" y="1965960"/>
            <a:ext cx="6766560" cy="4251960"/>
          </a:xfrm>
          <a:prstGeom prst="roundRect">
            <a:avLst>
              <a:gd name="adj" fmla="val 2581"/>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0" name="Text 7"/>
          <p:cNvSpPr txBox="1"/>
          <p:nvPr/>
        </p:nvSpPr>
        <p:spPr>
          <a:xfrm>
            <a:off x="731520" y="2103120"/>
            <a:ext cx="6309360" cy="274320"/>
          </a:xfrm>
          <a:prstGeom prst="rect">
            <a:avLst/>
          </a:prstGeom>
          <a:noFill/>
          <a:ln/>
        </p:spPr>
        <p:txBody>
          <a:bodyPr wrap="square" lIns="0" tIns="0" rIns="0" bIns="0" rtlCol="0" anchor="t"/>
          <a:lstStyle/>
          <a:p>
            <a:pPr indent="0" marL="0">
              <a:buNone/>
            </a:pPr>
            <a:r>
              <a:rPr lang="en-US" sz="1100" b="1" dirty="0">
                <a:solidFill>
                  <a:srgbClr val="6B7B83"/>
                </a:solidFill>
                <a:latin typeface="Calibri" pitchFamily="34" charset="0"/>
                <a:ea typeface="Calibri" pitchFamily="34" charset="-122"/>
                <a:cs typeface="Calibri" pitchFamily="34" charset="-120"/>
              </a:rPr>
              <a:t>Taille de la base de données (GB, moyenne mensuelle) — mars à août 2026</a:t>
            </a:r>
            <a:endParaRPr lang="en-US" sz="1100" dirty="0"/>
          </a:p>
        </p:txBody>
      </p:sp>
      <p:graphicFrame>
        <p:nvGraphicFramePr>
          <p:cNvPr id="11" name="Chart 0" descr=""/>
          <p:cNvGraphicFramePr/>
          <p:nvPr/>
        </p:nvGraphicFramePr>
        <p:xfrm>
          <a:off x="685800" y="2423160"/>
          <a:ext cx="6400800" cy="338328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txBox="1"/>
          <p:nvPr/>
        </p:nvSpPr>
        <p:spPr>
          <a:xfrm>
            <a:off x="731520" y="5870448"/>
            <a:ext cx="6309360" cy="274320"/>
          </a:xfrm>
          <a:prstGeom prst="rect">
            <a:avLst/>
          </a:prstGeom>
          <a:noFill/>
          <a:ln/>
        </p:spPr>
        <p:txBody>
          <a:bodyPr wrap="square" lIns="0" tIns="0" rIns="0" bIns="0" rtlCol="0" anchor="t"/>
          <a:lstStyle/>
          <a:p>
            <a:pPr indent="0" marL="0">
              <a:buNone/>
            </a:pPr>
            <a:r>
              <a:rPr lang="en-US" sz="850" i="1" dirty="0">
                <a:solidFill>
                  <a:srgbClr val="6B7B83"/>
                </a:solidFill>
                <a:latin typeface="Calibri" pitchFamily="34" charset="0"/>
                <a:ea typeface="Calibri" pitchFamily="34" charset="-122"/>
                <a:cs typeface="Calibri" pitchFamily="34" charset="-120"/>
              </a:rPr>
              <a:t>Source : dashboard Database Sizes, données au 24/08/2026 — valeurs lues sur le graphique, arrondies.</a:t>
            </a:r>
            <a:endParaRPr lang="en-US" sz="850" dirty="0"/>
          </a:p>
        </p:txBody>
      </p:sp>
      <p:sp>
        <p:nvSpPr>
          <p:cNvPr id="13" name="Shape 9"/>
          <p:cNvSpPr/>
          <p:nvPr/>
        </p:nvSpPr>
        <p:spPr>
          <a:xfrm>
            <a:off x="7543800" y="1965960"/>
            <a:ext cx="4144975" cy="1600200"/>
          </a:xfrm>
          <a:prstGeom prst="roundRect">
            <a:avLst>
              <a:gd name="adj" fmla="val 6857"/>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4" name="Shape 10"/>
          <p:cNvSpPr/>
          <p:nvPr/>
        </p:nvSpPr>
        <p:spPr>
          <a:xfrm>
            <a:off x="7744968" y="2167128"/>
            <a:ext cx="457200" cy="457200"/>
          </a:xfrm>
          <a:prstGeom prst="ellipse">
            <a:avLst/>
          </a:prstGeom>
          <a:solidFill>
            <a:srgbClr val="E4F0F2"/>
          </a:solidFill>
          <a:ln w="12700">
            <a:solidFill>
              <a:srgbClr val="E4F0F2"/>
            </a:solidFill>
            <a:prstDash val="solid"/>
          </a:ln>
        </p:spPr>
      </p:sp>
      <p:pic>
        <p:nvPicPr>
          <p:cNvPr id="15" name="Image 1" descr="preencoded.png">    </p:cNvPr>
          <p:cNvPicPr>
            <a:picLocks noChangeAspect="1"/>
          </p:cNvPicPr>
          <p:nvPr/>
        </p:nvPicPr>
        <p:blipFill>
          <a:blip r:embed="rId3"/>
          <a:stretch>
            <a:fillRect/>
          </a:stretch>
        </p:blipFill>
        <p:spPr>
          <a:xfrm>
            <a:off x="7863840" y="2286000"/>
            <a:ext cx="219456" cy="219456"/>
          </a:xfrm>
          <a:prstGeom prst="rect">
            <a:avLst/>
          </a:prstGeom>
        </p:spPr>
      </p:pic>
      <p:sp>
        <p:nvSpPr>
          <p:cNvPr id="16" name="Text 11"/>
          <p:cNvSpPr txBox="1"/>
          <p:nvPr/>
        </p:nvSpPr>
        <p:spPr>
          <a:xfrm>
            <a:off x="8321040" y="2167128"/>
            <a:ext cx="3184855"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Marge restante</a:t>
            </a:r>
            <a:endParaRPr lang="en-US" sz="1100" dirty="0"/>
          </a:p>
        </p:txBody>
      </p:sp>
      <p:sp>
        <p:nvSpPr>
          <p:cNvPr id="17" name="Text 12"/>
          <p:cNvSpPr txBox="1"/>
          <p:nvPr/>
        </p:nvSpPr>
        <p:spPr>
          <a:xfrm>
            <a:off x="7744968" y="2679192"/>
            <a:ext cx="3742639"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3 GB (6 %)</a:t>
            </a:r>
            <a:endParaRPr lang="en-US" sz="2400" dirty="0"/>
          </a:p>
        </p:txBody>
      </p:sp>
      <p:sp>
        <p:nvSpPr>
          <p:cNvPr id="18" name="Text 13"/>
          <p:cNvSpPr txBox="1"/>
          <p:nvPr/>
        </p:nvSpPr>
        <p:spPr>
          <a:xfrm>
            <a:off x="7744968" y="3182112"/>
            <a:ext cx="3742639" cy="246888"/>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sur un seuil de 50 GB · plateau à 47 GB depuis juin</a:t>
            </a:r>
            <a:endParaRPr lang="en-US" sz="1000" dirty="0"/>
          </a:p>
        </p:txBody>
      </p:sp>
      <p:sp>
        <p:nvSpPr>
          <p:cNvPr id="19" name="Shape 14"/>
          <p:cNvSpPr/>
          <p:nvPr/>
        </p:nvSpPr>
        <p:spPr>
          <a:xfrm>
            <a:off x="7543800" y="3703320"/>
            <a:ext cx="4144975" cy="2514600"/>
          </a:xfrm>
          <a:prstGeom prst="roundRect">
            <a:avLst>
              <a:gd name="adj" fmla="val 4364"/>
            </a:avLst>
          </a:prstGeom>
          <a:solidFill>
            <a:srgbClr val="F2F8F9"/>
          </a:solidFill>
          <a:ln w="12700">
            <a:solidFill>
              <a:srgbClr val="F2F8F9"/>
            </a:solidFill>
            <a:prstDash val="solid"/>
          </a:ln>
        </p:spPr>
      </p:sp>
      <p:sp>
        <p:nvSpPr>
          <p:cNvPr id="20" name="Shape 15"/>
          <p:cNvSpPr/>
          <p:nvPr/>
        </p:nvSpPr>
        <p:spPr>
          <a:xfrm>
            <a:off x="7726680" y="3886200"/>
            <a:ext cx="384048" cy="384048"/>
          </a:xfrm>
          <a:prstGeom prst="ellipse">
            <a:avLst/>
          </a:prstGeom>
          <a:solidFill>
            <a:srgbClr val="06404F"/>
          </a:solidFill>
          <a:ln w="12700">
            <a:solidFill>
              <a:srgbClr val="06404F"/>
            </a:solidFill>
            <a:prstDash val="solid"/>
          </a:ln>
        </p:spPr>
      </p:sp>
      <p:pic>
        <p:nvPicPr>
          <p:cNvPr id="21" name="Image 2" descr="preencoded.png">    </p:cNvPr>
          <p:cNvPicPr>
            <a:picLocks noChangeAspect="1"/>
          </p:cNvPicPr>
          <p:nvPr/>
        </p:nvPicPr>
        <p:blipFill>
          <a:blip r:embed="rId4"/>
          <a:stretch>
            <a:fillRect/>
          </a:stretch>
        </p:blipFill>
        <p:spPr>
          <a:xfrm>
            <a:off x="7826532" y="3986052"/>
            <a:ext cx="184343" cy="184343"/>
          </a:xfrm>
          <a:prstGeom prst="rect">
            <a:avLst/>
          </a:prstGeom>
        </p:spPr>
      </p:pic>
      <p:sp>
        <p:nvSpPr>
          <p:cNvPr id="22" name="Text 16"/>
          <p:cNvSpPr txBox="1"/>
          <p:nvPr/>
        </p:nvSpPr>
        <p:spPr>
          <a:xfrm>
            <a:off x="8229600" y="3886200"/>
            <a:ext cx="3276295" cy="384048"/>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Deux options à étudier ensemble</a:t>
            </a:r>
            <a:endParaRPr lang="en-US" sz="1250" dirty="0"/>
          </a:p>
        </p:txBody>
      </p:sp>
      <p:sp>
        <p:nvSpPr>
          <p:cNvPr id="23" name="Text 17"/>
          <p:cNvSpPr txBox="1"/>
          <p:nvPr/>
        </p:nvSpPr>
        <p:spPr>
          <a:xfrm>
            <a:off x="7772400" y="4343400"/>
            <a:ext cx="3687775" cy="173736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Optimiser : analyse de la répartition de la base, puis purge ou archivage des données obsolètes (historiques, journaux, imports temporaires) — proposition : audit conjoint en octobre.</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Étendre : augmentation de capacité par palier de 100 GB, sur devis — à décider avant d’approcher le seuil.</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CDM</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200" b="1" dirty="0">
                <a:solidFill>
                  <a:srgbClr val="06404F"/>
                </a:solidFill>
                <a:latin typeface="Calibri" pitchFamily="34" charset="0"/>
                <a:ea typeface="Calibri" pitchFamily="34" charset="-122"/>
                <a:cs typeface="Calibri" pitchFamily="34" charset="-120"/>
              </a:rPr>
              <a:t>Audience unique : 824 913 contacts, en croissance régulière</a:t>
            </a:r>
            <a:endParaRPr lang="en-US" sz="22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Indicateur Ucount (contacts uniques) de votre licence Gold — évolution de juin 2025 à août 2026.</a:t>
            </a:r>
            <a:endParaRPr lang="en-US" sz="1300" dirty="0"/>
          </a:p>
        </p:txBody>
      </p:sp>
      <p:sp>
        <p:nvSpPr>
          <p:cNvPr id="7" name="Text 4"/>
          <p:cNvSpPr txBox="1"/>
          <p:nvPr/>
        </p:nvSpPr>
        <p:spPr>
          <a:xfrm>
            <a:off x="502920" y="6473952"/>
            <a:ext cx="7315200" cy="228600"/>
          </a:xfrm>
          <a:prstGeom prst="rect">
            <a:avLst/>
          </a:prstGeom>
          <a:noFill/>
          <a:ln/>
        </p:spPr>
        <p:txBody>
          <a:bodyPr wrap="square" lIns="0" tIns="0" rIns="0" bIns="0" rtlCol="0" anchor="ctr"/>
          <a:lstStyle/>
          <a:p>
            <a:pPr indent="0" marL="0">
              <a:buNone/>
            </a:pPr>
            <a:r>
              <a:rPr lang="en-US" sz="850" dirty="0">
                <a:solidFill>
                  <a:srgbClr val="6B7B83"/>
                </a:solidFill>
                <a:latin typeface="Calibri" pitchFamily="34" charset="0"/>
                <a:ea typeface="Calibri" pitchFamily="34" charset="-122"/>
                <a:cs typeface="Calibri" pitchFamily="34" charset="-120"/>
              </a:rPr>
              <a:t>COPIL Mutuelle Viasanté · 14 septembre 2026 · Confidentiel</a:t>
            </a:r>
            <a:endParaRPr lang="en-US" sz="850" dirty="0"/>
          </a:p>
        </p:txBody>
      </p:sp>
      <p:sp>
        <p:nvSpPr>
          <p:cNvPr id="8" name="Text 5"/>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850" dirty="0">
                <a:solidFill>
                  <a:srgbClr val="6B7B83"/>
                </a:solidFill>
                <a:latin typeface="Calibri" pitchFamily="34" charset="0"/>
                <a:ea typeface="Calibri" pitchFamily="34" charset="-122"/>
                <a:cs typeface="Calibri" pitchFamily="34" charset="-120"/>
              </a:rPr>
              <a:t>7</a:t>
            </a:r>
            <a:endParaRPr lang="en-US" sz="850" dirty="0"/>
          </a:p>
        </p:txBody>
      </p:sp>
      <p:sp>
        <p:nvSpPr>
          <p:cNvPr id="9" name="Shape 6"/>
          <p:cNvSpPr/>
          <p:nvPr/>
        </p:nvSpPr>
        <p:spPr>
          <a:xfrm>
            <a:off x="502920" y="1965960"/>
            <a:ext cx="7223760" cy="4251960"/>
          </a:xfrm>
          <a:prstGeom prst="roundRect">
            <a:avLst>
              <a:gd name="adj" fmla="val 2581"/>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0" name="Text 7"/>
          <p:cNvSpPr txBox="1"/>
          <p:nvPr/>
        </p:nvSpPr>
        <p:spPr>
          <a:xfrm>
            <a:off x="731520" y="2103120"/>
            <a:ext cx="6766560" cy="274320"/>
          </a:xfrm>
          <a:prstGeom prst="rect">
            <a:avLst/>
          </a:prstGeom>
          <a:noFill/>
          <a:ln/>
        </p:spPr>
        <p:txBody>
          <a:bodyPr wrap="square" lIns="0" tIns="0" rIns="0" bIns="0" rtlCol="0" anchor="t"/>
          <a:lstStyle/>
          <a:p>
            <a:pPr indent="0" marL="0">
              <a:buNone/>
            </a:pPr>
            <a:r>
              <a:rPr lang="en-US" sz="1100" b="1" dirty="0">
                <a:solidFill>
                  <a:srgbClr val="6B7B83"/>
                </a:solidFill>
                <a:latin typeface="Calibri" pitchFamily="34" charset="0"/>
                <a:ea typeface="Calibri" pitchFamily="34" charset="-122"/>
                <a:cs typeface="Calibri" pitchFamily="34" charset="-120"/>
              </a:rPr>
              <a:t>Contacts uniques (Ucount) par mois</a:t>
            </a:r>
            <a:endParaRPr lang="en-US" sz="1100" dirty="0"/>
          </a:p>
        </p:txBody>
      </p:sp>
      <p:graphicFrame>
        <p:nvGraphicFramePr>
          <p:cNvPr id="11" name="Chart 0" descr=""/>
          <p:cNvGraphicFramePr/>
          <p:nvPr/>
        </p:nvGraphicFramePr>
        <p:xfrm>
          <a:off x="685800" y="2423160"/>
          <a:ext cx="6858000" cy="338328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txBox="1"/>
          <p:nvPr/>
        </p:nvSpPr>
        <p:spPr>
          <a:xfrm>
            <a:off x="731520" y="5870448"/>
            <a:ext cx="6766560" cy="274320"/>
          </a:xfrm>
          <a:prstGeom prst="rect">
            <a:avLst/>
          </a:prstGeom>
          <a:noFill/>
          <a:ln/>
        </p:spPr>
        <p:txBody>
          <a:bodyPr wrap="square" lIns="0" tIns="0" rIns="0" bIns="0" rtlCol="0" anchor="t"/>
          <a:lstStyle/>
          <a:p>
            <a:pPr indent="0" marL="0">
              <a:buNone/>
            </a:pPr>
            <a:r>
              <a:rPr lang="en-US" sz="850" i="1" dirty="0">
                <a:solidFill>
                  <a:srgbClr val="6B7B83"/>
                </a:solidFill>
                <a:latin typeface="Calibri" pitchFamily="34" charset="0"/>
                <a:ea typeface="Calibri" pitchFamily="34" charset="-122"/>
                <a:cs typeface="Calibri" pitchFamily="34" charset="-120"/>
              </a:rPr>
              <a:t>Source : dashboard Compliance Count, licence Ucount · Tier Gold, données au 24/08/2026.</a:t>
            </a:r>
            <a:endParaRPr lang="en-US" sz="850" dirty="0"/>
          </a:p>
        </p:txBody>
      </p:sp>
      <p:sp>
        <p:nvSpPr>
          <p:cNvPr id="13" name="Shape 9"/>
          <p:cNvSpPr/>
          <p:nvPr/>
        </p:nvSpPr>
        <p:spPr>
          <a:xfrm>
            <a:off x="8001000" y="1965960"/>
            <a:ext cx="3687775"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4" name="Shape 10"/>
          <p:cNvSpPr/>
          <p:nvPr/>
        </p:nvSpPr>
        <p:spPr>
          <a:xfrm>
            <a:off x="8202168" y="2167128"/>
            <a:ext cx="457200" cy="457200"/>
          </a:xfrm>
          <a:prstGeom prst="ellipse">
            <a:avLst/>
          </a:prstGeom>
          <a:solidFill>
            <a:srgbClr val="E4F0F2"/>
          </a:solidFill>
          <a:ln w="12700">
            <a:solidFill>
              <a:srgbClr val="E4F0F2"/>
            </a:solidFill>
            <a:prstDash val="solid"/>
          </a:ln>
        </p:spPr>
      </p:sp>
      <p:pic>
        <p:nvPicPr>
          <p:cNvPr id="15" name="Image 1" descr="preencoded.png">    </p:cNvPr>
          <p:cNvPicPr>
            <a:picLocks noChangeAspect="1"/>
          </p:cNvPicPr>
          <p:nvPr/>
        </p:nvPicPr>
        <p:blipFill>
          <a:blip r:embed="rId3"/>
          <a:stretch>
            <a:fillRect/>
          </a:stretch>
        </p:blipFill>
        <p:spPr>
          <a:xfrm>
            <a:off x="8321040" y="2286000"/>
            <a:ext cx="219456" cy="219456"/>
          </a:xfrm>
          <a:prstGeom prst="rect">
            <a:avLst/>
          </a:prstGeom>
        </p:spPr>
      </p:pic>
      <p:sp>
        <p:nvSpPr>
          <p:cNvPr id="16" name="Text 11"/>
          <p:cNvSpPr txBox="1"/>
          <p:nvPr/>
        </p:nvSpPr>
        <p:spPr>
          <a:xfrm>
            <a:off x="8778240" y="2167128"/>
            <a:ext cx="2727655"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Août 2026</a:t>
            </a:r>
            <a:endParaRPr lang="en-US" sz="1100" dirty="0"/>
          </a:p>
        </p:txBody>
      </p:sp>
      <p:sp>
        <p:nvSpPr>
          <p:cNvPr id="17" name="Text 12"/>
          <p:cNvSpPr txBox="1"/>
          <p:nvPr/>
        </p:nvSpPr>
        <p:spPr>
          <a:xfrm>
            <a:off x="8202168" y="2679192"/>
            <a:ext cx="3285439"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824 913</a:t>
            </a:r>
            <a:endParaRPr lang="en-US" sz="2400" dirty="0"/>
          </a:p>
        </p:txBody>
      </p:sp>
      <p:sp>
        <p:nvSpPr>
          <p:cNvPr id="18" name="Text 13"/>
          <p:cNvSpPr txBox="1"/>
          <p:nvPr/>
        </p:nvSpPr>
        <p:spPr>
          <a:xfrm>
            <a:off x="8202168" y="3182112"/>
            <a:ext cx="3285439" cy="-27432"/>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+0,6 % vs juillet (+4 874) · +20,2 % sur un an</a:t>
            </a:r>
            <a:endParaRPr lang="en-US" sz="1000" dirty="0"/>
          </a:p>
        </p:txBody>
      </p:sp>
      <p:sp>
        <p:nvSpPr>
          <p:cNvPr id="19" name="Shape 14"/>
          <p:cNvSpPr/>
          <p:nvPr/>
        </p:nvSpPr>
        <p:spPr>
          <a:xfrm>
            <a:off x="8001000" y="3429000"/>
            <a:ext cx="3687775" cy="1325880"/>
          </a:xfrm>
          <a:prstGeom prst="roundRect">
            <a:avLst>
              <a:gd name="adj" fmla="val 8276"/>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0" name="Shape 15"/>
          <p:cNvSpPr/>
          <p:nvPr/>
        </p:nvSpPr>
        <p:spPr>
          <a:xfrm>
            <a:off x="8202168" y="3630168"/>
            <a:ext cx="457200" cy="457200"/>
          </a:xfrm>
          <a:prstGeom prst="ellipse">
            <a:avLst/>
          </a:prstGeom>
          <a:solidFill>
            <a:srgbClr val="E4F0F2"/>
          </a:solidFill>
          <a:ln w="12700">
            <a:solidFill>
              <a:srgbClr val="E4F0F2"/>
            </a:solidFill>
            <a:prstDash val="solid"/>
          </a:ln>
        </p:spPr>
      </p:sp>
      <p:pic>
        <p:nvPicPr>
          <p:cNvPr id="21" name="Image 2" descr="preencoded.png">    </p:cNvPr>
          <p:cNvPicPr>
            <a:picLocks noChangeAspect="1"/>
          </p:cNvPicPr>
          <p:nvPr/>
        </p:nvPicPr>
        <p:blipFill>
          <a:blip r:embed="rId4"/>
          <a:stretch>
            <a:fillRect/>
          </a:stretch>
        </p:blipFill>
        <p:spPr>
          <a:xfrm>
            <a:off x="8321040" y="3749040"/>
            <a:ext cx="219456" cy="219456"/>
          </a:xfrm>
          <a:prstGeom prst="rect">
            <a:avLst/>
          </a:prstGeom>
        </p:spPr>
      </p:pic>
      <p:sp>
        <p:nvSpPr>
          <p:cNvPr id="22" name="Text 16"/>
          <p:cNvSpPr txBox="1"/>
          <p:nvPr/>
        </p:nvSpPr>
        <p:spPr>
          <a:xfrm>
            <a:off x="8778240" y="3630168"/>
            <a:ext cx="2727655" cy="457200"/>
          </a:xfrm>
          <a:prstGeom prst="rect">
            <a:avLst/>
          </a:prstGeom>
          <a:noFill/>
          <a:ln/>
        </p:spPr>
        <p:txBody>
          <a:bodyPr wrap="square" lIns="0" tIns="0" rIns="0" bIns="0" rtlCol="0" anchor="ctr"/>
          <a:lstStyle/>
          <a:p>
            <a:pPr indent="0" marL="0">
              <a:buNone/>
            </a:pPr>
            <a:r>
              <a:rPr lang="en-US" sz="1100" b="1" dirty="0">
                <a:solidFill>
                  <a:srgbClr val="6B7B83"/>
                </a:solidFill>
                <a:latin typeface="Calibri" pitchFamily="34" charset="0"/>
                <a:ea typeface="Calibri" pitchFamily="34" charset="-122"/>
                <a:cs typeface="Calibri" pitchFamily="34" charset="-120"/>
              </a:rPr>
              <a:t>Depuis juin 2025</a:t>
            </a:r>
            <a:endParaRPr lang="en-US" sz="1100" dirty="0"/>
          </a:p>
        </p:txBody>
      </p:sp>
      <p:sp>
        <p:nvSpPr>
          <p:cNvPr id="23" name="Text 17"/>
          <p:cNvSpPr txBox="1"/>
          <p:nvPr/>
        </p:nvSpPr>
        <p:spPr>
          <a:xfrm>
            <a:off x="8202168" y="4142232"/>
            <a:ext cx="3285439"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+17,5 %</a:t>
            </a:r>
            <a:endParaRPr lang="en-US" sz="2400" dirty="0"/>
          </a:p>
        </p:txBody>
      </p:sp>
      <p:sp>
        <p:nvSpPr>
          <p:cNvPr id="24" name="Text 18"/>
          <p:cNvSpPr txBox="1"/>
          <p:nvPr/>
        </p:nvSpPr>
        <p:spPr>
          <a:xfrm>
            <a:off x="8202168" y="4645152"/>
            <a:ext cx="3285439" cy="-27432"/>
          </a:xfrm>
          <a:prstGeom prst="rect">
            <a:avLst/>
          </a:prstGeom>
          <a:noFill/>
          <a:ln/>
        </p:spPr>
        <p:txBody>
          <a:bodyPr wrap="square" lIns="0" tIns="0" rIns="0" bIns="0" rtlCol="0" anchor="t"/>
          <a:lstStyle/>
          <a:p>
            <a:pPr indent="0" marL="0">
              <a:buNone/>
            </a:pPr>
            <a:r>
              <a:rPr lang="en-US" sz="1000" dirty="0">
                <a:solidFill>
                  <a:srgbClr val="1F2A30"/>
                </a:solidFill>
                <a:latin typeface="Calibri" pitchFamily="34" charset="0"/>
                <a:ea typeface="Calibri" pitchFamily="34" charset="-122"/>
                <a:cs typeface="Calibri" pitchFamily="34" charset="-120"/>
              </a:rPr>
              <a:t>≈ +8 800 contacts par mois · en ralentissement</a:t>
            </a:r>
            <a:endParaRPr lang="en-US" sz="1000" dirty="0"/>
          </a:p>
        </p:txBody>
      </p:sp>
      <p:sp>
        <p:nvSpPr>
          <p:cNvPr id="25" name="Shape 19"/>
          <p:cNvSpPr/>
          <p:nvPr/>
        </p:nvSpPr>
        <p:spPr>
          <a:xfrm>
            <a:off x="8001000" y="4892040"/>
            <a:ext cx="3687775" cy="1325880"/>
          </a:xfrm>
          <a:prstGeom prst="roundRect">
            <a:avLst>
              <a:gd name="adj" fmla="val 8276"/>
            </a:avLst>
          </a:prstGeom>
          <a:solidFill>
            <a:srgbClr val="F2F8F9"/>
          </a:solidFill>
          <a:ln w="12700">
            <a:solidFill>
              <a:srgbClr val="F2F8F9"/>
            </a:solidFill>
            <a:prstDash val="solid"/>
          </a:ln>
        </p:spPr>
      </p:sp>
      <p:sp>
        <p:nvSpPr>
          <p:cNvPr id="26" name="Shape 20"/>
          <p:cNvSpPr/>
          <p:nvPr/>
        </p:nvSpPr>
        <p:spPr>
          <a:xfrm>
            <a:off x="8183880" y="5074920"/>
            <a:ext cx="384048" cy="384048"/>
          </a:xfrm>
          <a:prstGeom prst="ellipse">
            <a:avLst/>
          </a:prstGeom>
          <a:solidFill>
            <a:srgbClr val="06404F"/>
          </a:solidFill>
          <a:ln w="12700">
            <a:solidFill>
              <a:srgbClr val="06404F"/>
            </a:solidFill>
            <a:prstDash val="solid"/>
          </a:ln>
        </p:spPr>
      </p:sp>
      <p:pic>
        <p:nvPicPr>
          <p:cNvPr id="27" name="Image 3" descr="preencoded.png">    </p:cNvPr>
          <p:cNvPicPr>
            <a:picLocks noChangeAspect="1"/>
          </p:cNvPicPr>
          <p:nvPr/>
        </p:nvPicPr>
        <p:blipFill>
          <a:blip r:embed="rId5"/>
          <a:stretch>
            <a:fillRect/>
          </a:stretch>
        </p:blipFill>
        <p:spPr>
          <a:xfrm>
            <a:off x="8283732" y="5174772"/>
            <a:ext cx="184343" cy="184343"/>
          </a:xfrm>
          <a:prstGeom prst="rect">
            <a:avLst/>
          </a:prstGeom>
        </p:spPr>
      </p:pic>
      <p:sp>
        <p:nvSpPr>
          <p:cNvPr id="28" name="Text 21"/>
          <p:cNvSpPr txBox="1"/>
          <p:nvPr/>
        </p:nvSpPr>
        <p:spPr>
          <a:xfrm>
            <a:off x="8686800" y="5074920"/>
            <a:ext cx="2819095" cy="384048"/>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Licence</a:t>
            </a:r>
            <a:endParaRPr lang="en-US" sz="1250" dirty="0"/>
          </a:p>
        </p:txBody>
      </p:sp>
      <p:sp>
        <p:nvSpPr>
          <p:cNvPr id="29" name="Text 22"/>
          <p:cNvSpPr txBox="1"/>
          <p:nvPr/>
        </p:nvSpPr>
        <p:spPr>
          <a:xfrm>
            <a:off x="8229600" y="5532120"/>
            <a:ext cx="3230575" cy="548640"/>
          </a:xfrm>
          <a:prstGeom prst="rect">
            <a:avLst/>
          </a:prstGeom>
          <a:noFill/>
          <a:ln/>
        </p:spPr>
        <p:txBody>
          <a:bodyPr wrap="square" lIns="0" tIns="0" rIns="0" bIns="0" rtlCol="0" anchor="t"/>
          <a:lstStyle/>
          <a:p>
            <a:pPr indent="0" marL="0">
              <a:buNone/>
            </a:pPr>
            <a:r>
              <a:rPr lang="en-US" sz="1050" dirty="0">
                <a:solidFill>
                  <a:srgbClr val="1F2A30"/>
                </a:solidFill>
                <a:latin typeface="Calibri" pitchFamily="34" charset="0"/>
                <a:ea typeface="Calibri" pitchFamily="34" charset="-122"/>
                <a:cs typeface="Calibri" pitchFamily="34" charset="-120"/>
              </a:rPr>
              <a:t>Nous vérifions que votre palier de licence reste adapté à cette croissance — retour formel d’ici fin septembre, aucune action de votre côté.</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CDM</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200" b="1" dirty="0">
                <a:solidFill>
                  <a:srgbClr val="06404F"/>
                </a:solidFill>
                <a:latin typeface="Calibri" pitchFamily="34" charset="0"/>
                <a:ea typeface="Calibri" pitchFamily="34" charset="-122"/>
                <a:cs typeface="Calibri" pitchFamily="34" charset="-120"/>
              </a:rPr>
              <a:t>Sécurisation de la configuration et patch du 10 septembre</a:t>
            </a:r>
            <a:endParaRPr lang="en-US" sz="22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Deux interventions techniques menées par Selligent, sans changement d’usage pour vos équipes.</a:t>
            </a:r>
            <a:endParaRPr lang="en-US" sz="1300" dirty="0"/>
          </a:p>
        </p:txBody>
      </p:sp>
      <p:sp>
        <p:nvSpPr>
          <p:cNvPr id="7" name="Text 4"/>
          <p:cNvSpPr txBox="1"/>
          <p:nvPr/>
        </p:nvSpPr>
        <p:spPr>
          <a:xfrm>
            <a:off x="502920" y="6473952"/>
            <a:ext cx="7315200" cy="228600"/>
          </a:xfrm>
          <a:prstGeom prst="rect">
            <a:avLst/>
          </a:prstGeom>
          <a:noFill/>
          <a:ln/>
        </p:spPr>
        <p:txBody>
          <a:bodyPr wrap="square" lIns="0" tIns="0" rIns="0" bIns="0" rtlCol="0" anchor="ctr"/>
          <a:lstStyle/>
          <a:p>
            <a:pPr indent="0" marL="0">
              <a:buNone/>
            </a:pPr>
            <a:r>
              <a:rPr lang="en-US" sz="850" dirty="0">
                <a:solidFill>
                  <a:srgbClr val="6B7B83"/>
                </a:solidFill>
                <a:latin typeface="Calibri" pitchFamily="34" charset="0"/>
                <a:ea typeface="Calibri" pitchFamily="34" charset="-122"/>
                <a:cs typeface="Calibri" pitchFamily="34" charset="-120"/>
              </a:rPr>
              <a:t>COPIL Mutuelle Viasanté · 14 septembre 2026 · Confidentiel</a:t>
            </a:r>
            <a:endParaRPr lang="en-US" sz="850" dirty="0"/>
          </a:p>
        </p:txBody>
      </p:sp>
      <p:sp>
        <p:nvSpPr>
          <p:cNvPr id="8" name="Text 5"/>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850" dirty="0">
                <a:solidFill>
                  <a:srgbClr val="6B7B83"/>
                </a:solidFill>
                <a:latin typeface="Calibri" pitchFamily="34" charset="0"/>
                <a:ea typeface="Calibri" pitchFamily="34" charset="-122"/>
                <a:cs typeface="Calibri" pitchFamily="34" charset="-120"/>
              </a:rPr>
              <a:t>8</a:t>
            </a:r>
            <a:endParaRPr lang="en-US" sz="850" dirty="0"/>
          </a:p>
        </p:txBody>
      </p:sp>
      <p:sp>
        <p:nvSpPr>
          <p:cNvPr id="9" name="Shape 6"/>
          <p:cNvSpPr/>
          <p:nvPr/>
        </p:nvSpPr>
        <p:spPr>
          <a:xfrm>
            <a:off x="2275789" y="2377440"/>
            <a:ext cx="7640117" cy="0"/>
          </a:xfrm>
          <a:prstGeom prst="line">
            <a:avLst/>
          </a:prstGeom>
          <a:noFill/>
          <a:ln w="25400">
            <a:solidFill>
              <a:srgbClr val="D6E0E3"/>
            </a:solidFill>
            <a:prstDash val="solid"/>
          </a:ln>
        </p:spPr>
      </p:sp>
      <p:sp>
        <p:nvSpPr>
          <p:cNvPr id="10" name="Shape 7"/>
          <p:cNvSpPr/>
          <p:nvPr/>
        </p:nvSpPr>
        <p:spPr>
          <a:xfrm>
            <a:off x="1955749" y="2057400"/>
            <a:ext cx="640080" cy="640080"/>
          </a:xfrm>
          <a:prstGeom prst="ellipse">
            <a:avLst/>
          </a:prstGeom>
          <a:solidFill>
            <a:srgbClr val="06404F"/>
          </a:solidFill>
          <a:ln w="12700">
            <a:solidFill>
              <a:srgbClr val="06404F"/>
            </a:solidFill>
            <a:prstDash val="solid"/>
          </a:ln>
        </p:spPr>
      </p:sp>
      <p:pic>
        <p:nvPicPr>
          <p:cNvPr id="11" name="Image 1" descr="preencoded.png">    </p:cNvPr>
          <p:cNvPicPr>
            <a:picLocks noChangeAspect="1"/>
          </p:cNvPicPr>
          <p:nvPr/>
        </p:nvPicPr>
        <p:blipFill>
          <a:blip r:embed="rId2"/>
          <a:stretch>
            <a:fillRect/>
          </a:stretch>
        </p:blipFill>
        <p:spPr>
          <a:xfrm>
            <a:off x="2122170" y="2223821"/>
            <a:ext cx="307238" cy="307238"/>
          </a:xfrm>
          <a:prstGeom prst="rect">
            <a:avLst/>
          </a:prstGeom>
        </p:spPr>
      </p:pic>
      <p:sp>
        <p:nvSpPr>
          <p:cNvPr id="12" name="Text 8"/>
          <p:cNvSpPr txBox="1"/>
          <p:nvPr/>
        </p:nvSpPr>
        <p:spPr>
          <a:xfrm>
            <a:off x="502920" y="2834640"/>
            <a:ext cx="3545738" cy="274320"/>
          </a:xfrm>
          <a:prstGeom prst="rect">
            <a:avLst/>
          </a:prstGeom>
          <a:noFill/>
          <a:ln/>
        </p:spPr>
        <p:txBody>
          <a:bodyPr wrap="square" lIns="0" tIns="0" rIns="0" bIns="0" rtlCol="0" anchor="t"/>
          <a:lstStyle/>
          <a:p>
            <a:pPr algn="ctr" indent="0" marL="0">
              <a:buNone/>
            </a:pPr>
            <a:r>
              <a:rPr lang="en-US" sz="1100" b="1" dirty="0">
                <a:solidFill>
                  <a:srgbClr val="F28C28"/>
                </a:solidFill>
                <a:latin typeface="Calibri" pitchFamily="34" charset="0"/>
                <a:ea typeface="Calibri" pitchFamily="34" charset="-122"/>
                <a:cs typeface="Calibri" pitchFamily="34" charset="-120"/>
              </a:rPr>
              <a:t>31 août 2026</a:t>
            </a:r>
            <a:endParaRPr lang="en-US" sz="1100" dirty="0"/>
          </a:p>
        </p:txBody>
      </p:sp>
      <p:sp>
        <p:nvSpPr>
          <p:cNvPr id="13" name="Shape 9"/>
          <p:cNvSpPr/>
          <p:nvPr/>
        </p:nvSpPr>
        <p:spPr>
          <a:xfrm>
            <a:off x="502920" y="3200400"/>
            <a:ext cx="3545738" cy="201168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4" name="Text 10"/>
          <p:cNvSpPr txBox="1"/>
          <p:nvPr/>
        </p:nvSpPr>
        <p:spPr>
          <a:xfrm>
            <a:off x="731520" y="3337560"/>
            <a:ext cx="3088538" cy="36576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Sécurisation de la configuration</a:t>
            </a:r>
            <a:endParaRPr lang="en-US" sz="1350" dirty="0"/>
          </a:p>
        </p:txBody>
      </p:sp>
      <p:sp>
        <p:nvSpPr>
          <p:cNvPr id="15" name="Text 11"/>
          <p:cNvSpPr txBox="1"/>
          <p:nvPr/>
        </p:nvSpPr>
        <p:spPr>
          <a:xfrm>
            <a:off x="731520" y="3749040"/>
            <a:ext cx="3088538" cy="822960"/>
          </a:xfrm>
          <a:prstGeom prst="rect">
            <a:avLst/>
          </a:prstGeom>
          <a:noFill/>
          <a:ln/>
        </p:spPr>
        <p:txBody>
          <a:bodyPr wrap="square" lIns="0" tIns="0" rIns="0" bIns="0" rtlCol="0" anchor="t"/>
          <a:lstStyle/>
          <a:p>
            <a:pPr indent="0" marL="0">
              <a:buNone/>
            </a:pPr>
            <a:r>
              <a:rPr lang="en-US" sz="1100" dirty="0">
                <a:solidFill>
                  <a:srgbClr val="1F2A30"/>
                </a:solidFill>
                <a:latin typeface="Calibri" pitchFamily="34" charset="0"/>
                <a:ea typeface="Calibri" pitchFamily="34" charset="-122"/>
                <a:cs typeface="Calibri" pitchFamily="34" charset="-120"/>
              </a:rPr>
              <a:t>Solution communiquée et mise en œuvre sur les accès SSO, AdminTool et ConfigTool.</a:t>
            </a:r>
            <a:endParaRPr lang="en-US" sz="1100" dirty="0"/>
          </a:p>
        </p:txBody>
      </p:sp>
      <p:sp>
        <p:nvSpPr>
          <p:cNvPr id="16" name="Shape 12"/>
          <p:cNvSpPr/>
          <p:nvPr/>
        </p:nvSpPr>
        <p:spPr>
          <a:xfrm>
            <a:off x="731520" y="4754880"/>
            <a:ext cx="2377440" cy="274320"/>
          </a:xfrm>
          <a:prstGeom prst="roundRect">
            <a:avLst>
              <a:gd name="adj" fmla="val 50000"/>
            </a:avLst>
          </a:prstGeom>
          <a:solidFill>
            <a:srgbClr val="E3F3EA"/>
          </a:solidFill>
          <a:ln w="12700">
            <a:solidFill>
              <a:srgbClr val="E3F3EA"/>
            </a:solidFill>
            <a:prstDash val="solid"/>
          </a:ln>
        </p:spPr>
      </p:sp>
      <p:sp>
        <p:nvSpPr>
          <p:cNvPr id="17" name="Text 13"/>
          <p:cNvSpPr txBox="1"/>
          <p:nvPr/>
        </p:nvSpPr>
        <p:spPr>
          <a:xfrm>
            <a:off x="731520" y="4754880"/>
            <a:ext cx="2377440" cy="274320"/>
          </a:xfrm>
          <a:prstGeom prst="rect">
            <a:avLst/>
          </a:prstGeom>
          <a:noFill/>
          <a:ln/>
        </p:spPr>
        <p:txBody>
          <a:bodyPr wrap="square" lIns="0" tIns="0" rIns="0" bIns="0" rtlCol="0" anchor="ctr"/>
          <a:lstStyle/>
          <a:p>
            <a:pPr algn="ctr" indent="0" marL="0">
              <a:buNone/>
            </a:pPr>
            <a:r>
              <a:rPr lang="en-US" sz="900" b="1" spc="100" kern="0" dirty="0">
                <a:solidFill>
                  <a:srgbClr val="2E8B57"/>
                </a:solidFill>
                <a:latin typeface="Calibri" pitchFamily="34" charset="0"/>
                <a:ea typeface="Calibri" pitchFamily="34" charset="-122"/>
                <a:cs typeface="Calibri" pitchFamily="34" charset="-120"/>
              </a:rPr>
              <a:t>LIVRÉ</a:t>
            </a:r>
            <a:endParaRPr lang="en-US" sz="900" dirty="0"/>
          </a:p>
        </p:txBody>
      </p:sp>
      <p:sp>
        <p:nvSpPr>
          <p:cNvPr id="18" name="Shape 14"/>
          <p:cNvSpPr/>
          <p:nvPr/>
        </p:nvSpPr>
        <p:spPr>
          <a:xfrm>
            <a:off x="5775808" y="2057400"/>
            <a:ext cx="640080" cy="640080"/>
          </a:xfrm>
          <a:prstGeom prst="ellipse">
            <a:avLst/>
          </a:prstGeom>
          <a:solidFill>
            <a:srgbClr val="06404F"/>
          </a:solidFill>
          <a:ln w="12700">
            <a:solidFill>
              <a:srgbClr val="06404F"/>
            </a:solidFill>
            <a:prstDash val="solid"/>
          </a:ln>
        </p:spPr>
      </p:sp>
      <p:pic>
        <p:nvPicPr>
          <p:cNvPr id="19" name="Image 2" descr="preencoded.png">    </p:cNvPr>
          <p:cNvPicPr>
            <a:picLocks noChangeAspect="1"/>
          </p:cNvPicPr>
          <p:nvPr/>
        </p:nvPicPr>
        <p:blipFill>
          <a:blip r:embed="rId3"/>
          <a:stretch>
            <a:fillRect/>
          </a:stretch>
        </p:blipFill>
        <p:spPr>
          <a:xfrm>
            <a:off x="5942228" y="2223821"/>
            <a:ext cx="307238" cy="307238"/>
          </a:xfrm>
          <a:prstGeom prst="rect">
            <a:avLst/>
          </a:prstGeom>
        </p:spPr>
      </p:pic>
      <p:sp>
        <p:nvSpPr>
          <p:cNvPr id="20" name="Text 15"/>
          <p:cNvSpPr txBox="1"/>
          <p:nvPr/>
        </p:nvSpPr>
        <p:spPr>
          <a:xfrm>
            <a:off x="4322978" y="2834640"/>
            <a:ext cx="3545738" cy="274320"/>
          </a:xfrm>
          <a:prstGeom prst="rect">
            <a:avLst/>
          </a:prstGeom>
          <a:noFill/>
          <a:ln/>
        </p:spPr>
        <p:txBody>
          <a:bodyPr wrap="square" lIns="0" tIns="0" rIns="0" bIns="0" rtlCol="0" anchor="t"/>
          <a:lstStyle/>
          <a:p>
            <a:pPr algn="ctr" indent="0" marL="0">
              <a:buNone/>
            </a:pPr>
            <a:r>
              <a:rPr lang="en-US" sz="1100" b="1" dirty="0">
                <a:solidFill>
                  <a:srgbClr val="F28C28"/>
                </a:solidFill>
                <a:latin typeface="Calibri" pitchFamily="34" charset="0"/>
                <a:ea typeface="Calibri" pitchFamily="34" charset="-122"/>
                <a:cs typeface="Calibri" pitchFamily="34" charset="-120"/>
              </a:rPr>
              <a:t>10 septembre 2026</a:t>
            </a:r>
            <a:endParaRPr lang="en-US" sz="1100" dirty="0"/>
          </a:p>
        </p:txBody>
      </p:sp>
      <p:sp>
        <p:nvSpPr>
          <p:cNvPr id="21" name="Shape 16"/>
          <p:cNvSpPr/>
          <p:nvPr/>
        </p:nvSpPr>
        <p:spPr>
          <a:xfrm>
            <a:off x="4322978" y="3200400"/>
            <a:ext cx="3545738" cy="201168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2" name="Text 17"/>
          <p:cNvSpPr txBox="1"/>
          <p:nvPr/>
        </p:nvSpPr>
        <p:spPr>
          <a:xfrm>
            <a:off x="4551578" y="3337560"/>
            <a:ext cx="3088538" cy="36576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Patch asynchrone CDM</a:t>
            </a:r>
            <a:endParaRPr lang="en-US" sz="1350" dirty="0"/>
          </a:p>
        </p:txBody>
      </p:sp>
      <p:sp>
        <p:nvSpPr>
          <p:cNvPr id="23" name="Text 18"/>
          <p:cNvSpPr txBox="1"/>
          <p:nvPr/>
        </p:nvSpPr>
        <p:spPr>
          <a:xfrm>
            <a:off x="4551578" y="3749040"/>
            <a:ext cx="3088538" cy="822960"/>
          </a:xfrm>
          <a:prstGeom prst="rect">
            <a:avLst/>
          </a:prstGeom>
          <a:noFill/>
          <a:ln/>
        </p:spPr>
        <p:txBody>
          <a:bodyPr wrap="square" lIns="0" tIns="0" rIns="0" bIns="0" rtlCol="0" anchor="t"/>
          <a:lstStyle/>
          <a:p>
            <a:pPr indent="0" marL="0">
              <a:buNone/>
            </a:pPr>
            <a:r>
              <a:rPr lang="en-US" sz="1100" dirty="0">
                <a:solidFill>
                  <a:srgbClr val="1F2A30"/>
                </a:solidFill>
                <a:latin typeface="Calibri" pitchFamily="34" charset="0"/>
                <a:ea typeface="Calibri" pitchFamily="34" charset="-122"/>
                <a:cs typeface="Calibri" pitchFamily="34" charset="-120"/>
              </a:rPr>
              <a:t>Déploiement du correctif sur les traitements asynchrones (redescente planifiée).</a:t>
            </a:r>
            <a:endParaRPr lang="en-US" sz="1100" dirty="0"/>
          </a:p>
        </p:txBody>
      </p:sp>
      <p:sp>
        <p:nvSpPr>
          <p:cNvPr id="24" name="Shape 19"/>
          <p:cNvSpPr/>
          <p:nvPr/>
        </p:nvSpPr>
        <p:spPr>
          <a:xfrm>
            <a:off x="4551578" y="4754880"/>
            <a:ext cx="2377440" cy="274320"/>
          </a:xfrm>
          <a:prstGeom prst="roundRect">
            <a:avLst>
              <a:gd name="adj" fmla="val 50000"/>
            </a:avLst>
          </a:prstGeom>
          <a:solidFill>
            <a:srgbClr val="FFF3D6"/>
          </a:solidFill>
          <a:ln w="12700">
            <a:solidFill>
              <a:srgbClr val="FFF3D6"/>
            </a:solidFill>
            <a:prstDash val="solid"/>
          </a:ln>
        </p:spPr>
      </p:sp>
      <p:sp>
        <p:nvSpPr>
          <p:cNvPr id="25" name="Text 20"/>
          <p:cNvSpPr txBox="1"/>
          <p:nvPr/>
        </p:nvSpPr>
        <p:spPr>
          <a:xfrm>
            <a:off x="4551578" y="4754880"/>
            <a:ext cx="2377440" cy="274320"/>
          </a:xfrm>
          <a:prstGeom prst="rect">
            <a:avLst/>
          </a:prstGeom>
          <a:noFill/>
          <a:ln/>
        </p:spPr>
        <p:txBody>
          <a:bodyPr wrap="square" lIns="0" tIns="0" rIns="0" bIns="0" rtlCol="0" anchor="ctr"/>
          <a:lstStyle/>
          <a:p>
            <a:pPr algn="ctr" indent="0" marL="0">
              <a:buNone/>
            </a:pPr>
            <a:r>
              <a:rPr lang="en-US" sz="900" b="1" spc="100" kern="0" dirty="0">
                <a:solidFill>
                  <a:srgbClr val="D99A00"/>
                </a:solidFill>
                <a:latin typeface="Calibri" pitchFamily="34" charset="0"/>
                <a:ea typeface="Calibri" pitchFamily="34" charset="-122"/>
                <a:cs typeface="Calibri" pitchFamily="34" charset="-120"/>
              </a:rPr>
              <a:t>DÉPLOYÉ — EN OBSERVATION</a:t>
            </a:r>
            <a:endParaRPr lang="en-US" sz="900" dirty="0"/>
          </a:p>
        </p:txBody>
      </p:sp>
      <p:sp>
        <p:nvSpPr>
          <p:cNvPr id="26" name="Shape 21"/>
          <p:cNvSpPr/>
          <p:nvPr/>
        </p:nvSpPr>
        <p:spPr>
          <a:xfrm>
            <a:off x="9595866" y="2057400"/>
            <a:ext cx="640080" cy="640080"/>
          </a:xfrm>
          <a:prstGeom prst="ellipse">
            <a:avLst/>
          </a:prstGeom>
          <a:solidFill>
            <a:srgbClr val="06404F"/>
          </a:solidFill>
          <a:ln w="12700">
            <a:solidFill>
              <a:srgbClr val="06404F"/>
            </a:solidFill>
            <a:prstDash val="solid"/>
          </a:ln>
        </p:spPr>
      </p:sp>
      <p:pic>
        <p:nvPicPr>
          <p:cNvPr id="27" name="Image 3" descr="preencoded.png">    </p:cNvPr>
          <p:cNvPicPr>
            <a:picLocks noChangeAspect="1"/>
          </p:cNvPicPr>
          <p:nvPr/>
        </p:nvPicPr>
        <p:blipFill>
          <a:blip r:embed="rId4"/>
          <a:stretch>
            <a:fillRect/>
          </a:stretch>
        </p:blipFill>
        <p:spPr>
          <a:xfrm>
            <a:off x="9762287" y="2223821"/>
            <a:ext cx="307238" cy="307238"/>
          </a:xfrm>
          <a:prstGeom prst="rect">
            <a:avLst/>
          </a:prstGeom>
        </p:spPr>
      </p:pic>
      <p:sp>
        <p:nvSpPr>
          <p:cNvPr id="28" name="Text 22"/>
          <p:cNvSpPr txBox="1"/>
          <p:nvPr/>
        </p:nvSpPr>
        <p:spPr>
          <a:xfrm>
            <a:off x="8143037" y="2834640"/>
            <a:ext cx="3545738" cy="274320"/>
          </a:xfrm>
          <a:prstGeom prst="rect">
            <a:avLst/>
          </a:prstGeom>
          <a:noFill/>
          <a:ln/>
        </p:spPr>
        <p:txBody>
          <a:bodyPr wrap="square" lIns="0" tIns="0" rIns="0" bIns="0" rtlCol="0" anchor="t"/>
          <a:lstStyle/>
          <a:p>
            <a:pPr algn="ctr" indent="0" marL="0">
              <a:buNone/>
            </a:pPr>
            <a:r>
              <a:rPr lang="en-US" sz="1100" b="1" dirty="0">
                <a:solidFill>
                  <a:srgbClr val="F28C28"/>
                </a:solidFill>
                <a:latin typeface="Calibri" pitchFamily="34" charset="0"/>
                <a:ea typeface="Calibri" pitchFamily="34" charset="-122"/>
                <a:cs typeface="Calibri" pitchFamily="34" charset="-120"/>
              </a:rPr>
              <a:t>14 septembre 2026</a:t>
            </a:r>
            <a:endParaRPr lang="en-US" sz="1100" dirty="0"/>
          </a:p>
        </p:txBody>
      </p:sp>
      <p:sp>
        <p:nvSpPr>
          <p:cNvPr id="29" name="Shape 23"/>
          <p:cNvSpPr/>
          <p:nvPr/>
        </p:nvSpPr>
        <p:spPr>
          <a:xfrm>
            <a:off x="8143037" y="3200400"/>
            <a:ext cx="3545738" cy="2011680"/>
          </a:xfrm>
          <a:prstGeom prst="roundRect">
            <a:avLst>
              <a:gd name="adj" fmla="val 545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30" name="Text 24"/>
          <p:cNvSpPr txBox="1"/>
          <p:nvPr/>
        </p:nvSpPr>
        <p:spPr>
          <a:xfrm>
            <a:off x="8371637" y="3337560"/>
            <a:ext cx="3088538" cy="36576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Bilan post-patch</a:t>
            </a:r>
            <a:endParaRPr lang="en-US" sz="1350" dirty="0"/>
          </a:p>
        </p:txBody>
      </p:sp>
      <p:sp>
        <p:nvSpPr>
          <p:cNvPr id="31" name="Text 25"/>
          <p:cNvSpPr txBox="1"/>
          <p:nvPr/>
        </p:nvSpPr>
        <p:spPr>
          <a:xfrm>
            <a:off x="8371637" y="3749040"/>
            <a:ext cx="3088538" cy="822960"/>
          </a:xfrm>
          <a:prstGeom prst="rect">
            <a:avLst/>
          </a:prstGeom>
          <a:noFill/>
          <a:ln/>
        </p:spPr>
        <p:txBody>
          <a:bodyPr wrap="square" lIns="0" tIns="0" rIns="0" bIns="0" rtlCol="0" anchor="t"/>
          <a:lstStyle/>
          <a:p>
            <a:pPr indent="0" marL="0">
              <a:buNone/>
            </a:pPr>
            <a:r>
              <a:rPr lang="en-US" sz="1100" dirty="0">
                <a:solidFill>
                  <a:srgbClr val="1F2A30"/>
                </a:solidFill>
                <a:latin typeface="Calibri" pitchFamily="34" charset="0"/>
                <a:ea typeface="Calibri" pitchFamily="34" charset="-122"/>
                <a:cs typeface="Calibri" pitchFamily="34" charset="-120"/>
              </a:rPr>
              <a:t>Vérification conjointe : traitements nominaux, aucun impact opérationnel constaté.</a:t>
            </a:r>
            <a:endParaRPr lang="en-US" sz="1100" dirty="0"/>
          </a:p>
        </p:txBody>
      </p:sp>
      <p:sp>
        <p:nvSpPr>
          <p:cNvPr id="32" name="Shape 26"/>
          <p:cNvSpPr/>
          <p:nvPr/>
        </p:nvSpPr>
        <p:spPr>
          <a:xfrm>
            <a:off x="8371637" y="4754880"/>
            <a:ext cx="2377440" cy="274320"/>
          </a:xfrm>
          <a:prstGeom prst="roundRect">
            <a:avLst>
              <a:gd name="adj" fmla="val 50000"/>
            </a:avLst>
          </a:prstGeom>
          <a:solidFill>
            <a:srgbClr val="E4F0F2"/>
          </a:solidFill>
          <a:ln w="12700">
            <a:solidFill>
              <a:srgbClr val="E4F0F2"/>
            </a:solidFill>
            <a:prstDash val="solid"/>
          </a:ln>
        </p:spPr>
      </p:sp>
      <p:sp>
        <p:nvSpPr>
          <p:cNvPr id="33" name="Text 27"/>
          <p:cNvSpPr txBox="1"/>
          <p:nvPr/>
        </p:nvSpPr>
        <p:spPr>
          <a:xfrm>
            <a:off x="8371637" y="4754880"/>
            <a:ext cx="23774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CE JOUR</a:t>
            </a:r>
            <a:endParaRPr lang="en-US" sz="900" dirty="0"/>
          </a:p>
        </p:txBody>
      </p:sp>
      <p:sp>
        <p:nvSpPr>
          <p:cNvPr id="34" name="Shape 28"/>
          <p:cNvSpPr/>
          <p:nvPr/>
        </p:nvSpPr>
        <p:spPr>
          <a:xfrm>
            <a:off x="502920" y="5349240"/>
            <a:ext cx="5455768" cy="868680"/>
          </a:xfrm>
          <a:prstGeom prst="roundRect">
            <a:avLst>
              <a:gd name="adj" fmla="val 12632"/>
            </a:avLst>
          </a:prstGeom>
          <a:solidFill>
            <a:srgbClr val="F2F8F9"/>
          </a:solidFill>
          <a:ln w="12700">
            <a:solidFill>
              <a:srgbClr val="F2F8F9"/>
            </a:solidFill>
            <a:prstDash val="solid"/>
          </a:ln>
        </p:spPr>
      </p:sp>
      <p:sp>
        <p:nvSpPr>
          <p:cNvPr id="35" name="Shape 29"/>
          <p:cNvSpPr/>
          <p:nvPr/>
        </p:nvSpPr>
        <p:spPr>
          <a:xfrm>
            <a:off x="685800" y="5591556"/>
            <a:ext cx="384048" cy="384048"/>
          </a:xfrm>
          <a:prstGeom prst="ellipse">
            <a:avLst/>
          </a:prstGeom>
          <a:solidFill>
            <a:srgbClr val="06404F"/>
          </a:solidFill>
          <a:ln w="12700">
            <a:solidFill>
              <a:srgbClr val="06404F"/>
            </a:solidFill>
            <a:prstDash val="solid"/>
          </a:ln>
        </p:spPr>
      </p:sp>
      <p:pic>
        <p:nvPicPr>
          <p:cNvPr id="36" name="Image 4" descr="preencoded.png">    </p:cNvPr>
          <p:cNvPicPr>
            <a:picLocks noChangeAspect="1"/>
          </p:cNvPicPr>
          <p:nvPr/>
        </p:nvPicPr>
        <p:blipFill>
          <a:blip r:embed="rId5"/>
          <a:stretch>
            <a:fillRect/>
          </a:stretch>
        </p:blipFill>
        <p:spPr>
          <a:xfrm>
            <a:off x="785652" y="5691408"/>
            <a:ext cx="184343" cy="184343"/>
          </a:xfrm>
          <a:prstGeom prst="rect">
            <a:avLst/>
          </a:prstGeom>
        </p:spPr>
      </p:pic>
      <p:sp>
        <p:nvSpPr>
          <p:cNvPr id="37" name="Text 30"/>
          <p:cNvSpPr txBox="1"/>
          <p:nvPr/>
        </p:nvSpPr>
        <p:spPr>
          <a:xfrm>
            <a:off x="1188720" y="5349240"/>
            <a:ext cx="1737360" cy="86868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Périmètre</a:t>
            </a:r>
            <a:endParaRPr lang="en-US" sz="1250" dirty="0"/>
          </a:p>
        </p:txBody>
      </p:sp>
      <p:sp>
        <p:nvSpPr>
          <p:cNvPr id="38" name="Text 31"/>
          <p:cNvSpPr txBox="1"/>
          <p:nvPr/>
        </p:nvSpPr>
        <p:spPr>
          <a:xfrm>
            <a:off x="3017520" y="5349240"/>
            <a:ext cx="2712568" cy="868680"/>
          </a:xfrm>
          <a:prstGeom prst="rect">
            <a:avLst/>
          </a:prstGeom>
          <a:noFill/>
          <a:ln/>
        </p:spPr>
        <p:txBody>
          <a:bodyPr wrap="square" lIns="0" tIns="0" rIns="0" bIns="0" rtlCol="0" anchor="ctr"/>
          <a:lstStyle/>
          <a:p>
            <a:pPr indent="0" marL="0">
              <a:buNone/>
            </a:pPr>
            <a:r>
              <a:rPr lang="en-US" sz="1050" dirty="0">
                <a:solidFill>
                  <a:srgbClr val="1F2A30"/>
                </a:solidFill>
                <a:latin typeface="Calibri" pitchFamily="34" charset="0"/>
                <a:ea typeface="Calibri" pitchFamily="34" charset="-122"/>
                <a:cs typeface="Calibri" pitchFamily="34" charset="-120"/>
              </a:rPr>
              <a:t>Accès d’administration CDM (SSO technique, AdminTool, ConfigTool) et traitements asynchrones.</a:t>
            </a:r>
            <a:endParaRPr lang="en-US" sz="1050" dirty="0"/>
          </a:p>
        </p:txBody>
      </p:sp>
      <p:sp>
        <p:nvSpPr>
          <p:cNvPr id="39" name="Shape 32"/>
          <p:cNvSpPr/>
          <p:nvPr/>
        </p:nvSpPr>
        <p:spPr>
          <a:xfrm>
            <a:off x="6233008" y="5349240"/>
            <a:ext cx="5455768" cy="868680"/>
          </a:xfrm>
          <a:prstGeom prst="roundRect">
            <a:avLst>
              <a:gd name="adj" fmla="val 12632"/>
            </a:avLst>
          </a:prstGeom>
          <a:solidFill>
            <a:srgbClr val="E3F3EA"/>
          </a:solidFill>
          <a:ln w="12700">
            <a:solidFill>
              <a:srgbClr val="E3F3EA"/>
            </a:solidFill>
            <a:prstDash val="solid"/>
          </a:ln>
        </p:spPr>
      </p:sp>
      <p:sp>
        <p:nvSpPr>
          <p:cNvPr id="40" name="Shape 33"/>
          <p:cNvSpPr/>
          <p:nvPr/>
        </p:nvSpPr>
        <p:spPr>
          <a:xfrm>
            <a:off x="6415888" y="5591556"/>
            <a:ext cx="384048" cy="384048"/>
          </a:xfrm>
          <a:prstGeom prst="ellipse">
            <a:avLst/>
          </a:prstGeom>
          <a:solidFill>
            <a:srgbClr val="2E8B57"/>
          </a:solidFill>
          <a:ln w="12700">
            <a:solidFill>
              <a:srgbClr val="2E8B57"/>
            </a:solidFill>
            <a:prstDash val="solid"/>
          </a:ln>
        </p:spPr>
      </p:sp>
      <p:pic>
        <p:nvPicPr>
          <p:cNvPr id="41" name="Image 5" descr="preencoded.png">    </p:cNvPr>
          <p:cNvPicPr>
            <a:picLocks noChangeAspect="1"/>
          </p:cNvPicPr>
          <p:nvPr/>
        </p:nvPicPr>
        <p:blipFill>
          <a:blip r:embed="rId6"/>
          <a:stretch>
            <a:fillRect/>
          </a:stretch>
        </p:blipFill>
        <p:spPr>
          <a:xfrm>
            <a:off x="6515740" y="5691408"/>
            <a:ext cx="184343" cy="184343"/>
          </a:xfrm>
          <a:prstGeom prst="rect">
            <a:avLst/>
          </a:prstGeom>
        </p:spPr>
      </p:pic>
      <p:sp>
        <p:nvSpPr>
          <p:cNvPr id="42" name="Text 34"/>
          <p:cNvSpPr txBox="1"/>
          <p:nvPr/>
        </p:nvSpPr>
        <p:spPr>
          <a:xfrm>
            <a:off x="6918808" y="5349240"/>
            <a:ext cx="1737360" cy="868680"/>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Pour vos équipes</a:t>
            </a:r>
            <a:endParaRPr lang="en-US" sz="1250" dirty="0"/>
          </a:p>
        </p:txBody>
      </p:sp>
      <p:sp>
        <p:nvSpPr>
          <p:cNvPr id="43" name="Text 35"/>
          <p:cNvSpPr txBox="1"/>
          <p:nvPr/>
        </p:nvSpPr>
        <p:spPr>
          <a:xfrm>
            <a:off x="8747608" y="5349240"/>
            <a:ext cx="2712568" cy="868680"/>
          </a:xfrm>
          <a:prstGeom prst="rect">
            <a:avLst/>
          </a:prstGeom>
          <a:noFill/>
          <a:ln/>
        </p:spPr>
        <p:txBody>
          <a:bodyPr wrap="square" lIns="0" tIns="0" rIns="0" bIns="0" rtlCol="0" anchor="ctr"/>
          <a:lstStyle/>
          <a:p>
            <a:pPr indent="0" marL="0">
              <a:buNone/>
            </a:pPr>
            <a:r>
              <a:rPr lang="en-US" sz="1050" dirty="0">
                <a:solidFill>
                  <a:srgbClr val="1F2A30"/>
                </a:solidFill>
                <a:latin typeface="Calibri" pitchFamily="34" charset="0"/>
                <a:ea typeface="Calibri" pitchFamily="34" charset="-122"/>
                <a:cs typeface="Calibri" pitchFamily="34" charset="-120"/>
              </a:rPr>
              <a:t>Aucune action attendue de votre côté ; accès d’administration mieux sécurisés, bilan d’impact partagé ce jour.</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CDM</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Roadmap CDM 2026–2027 : cinq axes d’évolution</a:t>
            </a:r>
            <a:endParaRPr lang="en-US" sz="26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De l’ergonomie et de la qualité de donnée vers l’automatisation et l’intelligence artificielle — orientations produit, non contractuelles.</a:t>
            </a:r>
            <a:endParaRPr lang="en-US" sz="1300" dirty="0"/>
          </a:p>
        </p:txBody>
      </p:sp>
      <p:sp>
        <p:nvSpPr>
          <p:cNvPr id="7" name="Text 4"/>
          <p:cNvSpPr txBox="1"/>
          <p:nvPr/>
        </p:nvSpPr>
        <p:spPr>
          <a:xfrm>
            <a:off x="502920" y="6473952"/>
            <a:ext cx="7315200" cy="228600"/>
          </a:xfrm>
          <a:prstGeom prst="rect">
            <a:avLst/>
          </a:prstGeom>
          <a:noFill/>
          <a:ln/>
        </p:spPr>
        <p:txBody>
          <a:bodyPr wrap="square" lIns="0" tIns="0" rIns="0" bIns="0" rtlCol="0" anchor="ctr"/>
          <a:lstStyle/>
          <a:p>
            <a:pPr indent="0" marL="0">
              <a:buNone/>
            </a:pPr>
            <a:r>
              <a:rPr lang="en-US" sz="850" dirty="0">
                <a:solidFill>
                  <a:srgbClr val="6B7B83"/>
                </a:solidFill>
                <a:latin typeface="Calibri" pitchFamily="34" charset="0"/>
                <a:ea typeface="Calibri" pitchFamily="34" charset="-122"/>
                <a:cs typeface="Calibri" pitchFamily="34" charset="-120"/>
              </a:rPr>
              <a:t>COPIL Mutuelle Viasanté · 14 septembre 2026 · Confidentiel</a:t>
            </a:r>
            <a:endParaRPr lang="en-US" sz="850" dirty="0"/>
          </a:p>
        </p:txBody>
      </p:sp>
      <p:sp>
        <p:nvSpPr>
          <p:cNvPr id="8" name="Text 5"/>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850" dirty="0">
                <a:solidFill>
                  <a:srgbClr val="6B7B83"/>
                </a:solidFill>
                <a:latin typeface="Calibri" pitchFamily="34" charset="0"/>
                <a:ea typeface="Calibri" pitchFamily="34" charset="-122"/>
                <a:cs typeface="Calibri" pitchFamily="34" charset="-120"/>
              </a:rPr>
              <a:t>9</a:t>
            </a:r>
            <a:endParaRPr lang="en-US" sz="850" dirty="0"/>
          </a:p>
        </p:txBody>
      </p:sp>
      <p:sp>
        <p:nvSpPr>
          <p:cNvPr id="9" name="Shape 6"/>
          <p:cNvSpPr/>
          <p:nvPr/>
        </p:nvSpPr>
        <p:spPr>
          <a:xfrm>
            <a:off x="502920" y="1965960"/>
            <a:ext cx="2076237" cy="3931920"/>
          </a:xfrm>
          <a:prstGeom prst="roundRect">
            <a:avLst>
              <a:gd name="adj" fmla="val 528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0" name="Shape 7"/>
          <p:cNvSpPr/>
          <p:nvPr/>
        </p:nvSpPr>
        <p:spPr>
          <a:xfrm>
            <a:off x="704088" y="2167128"/>
            <a:ext cx="548640" cy="548640"/>
          </a:xfrm>
          <a:prstGeom prst="ellipse">
            <a:avLst/>
          </a:prstGeom>
          <a:solidFill>
            <a:srgbClr val="06404F"/>
          </a:solidFill>
          <a:ln w="12700">
            <a:solidFill>
              <a:srgbClr val="06404F"/>
            </a:solidFill>
            <a:prstDash val="solid"/>
          </a:ln>
        </p:spPr>
      </p:sp>
      <p:pic>
        <p:nvPicPr>
          <p:cNvPr id="11" name="Image 1" descr="preencoded.png">    </p:cNvPr>
          <p:cNvPicPr>
            <a:picLocks noChangeAspect="1"/>
          </p:cNvPicPr>
          <p:nvPr/>
        </p:nvPicPr>
        <p:blipFill>
          <a:blip r:embed="rId2"/>
          <a:stretch>
            <a:fillRect/>
          </a:stretch>
        </p:blipFill>
        <p:spPr>
          <a:xfrm>
            <a:off x="846734" y="2309774"/>
            <a:ext cx="263347" cy="263347"/>
          </a:xfrm>
          <a:prstGeom prst="rect">
            <a:avLst/>
          </a:prstGeom>
        </p:spPr>
      </p:pic>
      <p:sp>
        <p:nvSpPr>
          <p:cNvPr id="12" name="Text 8"/>
          <p:cNvSpPr txBox="1"/>
          <p:nvPr/>
        </p:nvSpPr>
        <p:spPr>
          <a:xfrm>
            <a:off x="1847637" y="2148840"/>
            <a:ext cx="548640" cy="548640"/>
          </a:xfrm>
          <a:prstGeom prst="rect">
            <a:avLst/>
          </a:prstGeom>
          <a:noFill/>
          <a:ln/>
        </p:spPr>
        <p:txBody>
          <a:bodyPr wrap="square" lIns="0" tIns="0" rIns="0" bIns="0" rtlCol="0" anchor="ctr"/>
          <a:lstStyle/>
          <a:p>
            <a:pPr algn="r" indent="0" marL="0">
              <a:buNone/>
            </a:pPr>
            <a:r>
              <a:rPr lang="en-US" sz="2200" b="1" dirty="0">
                <a:solidFill>
                  <a:srgbClr val="F28C28"/>
                </a:solidFill>
                <a:latin typeface="Calibri" pitchFamily="34" charset="0"/>
                <a:ea typeface="Calibri" pitchFamily="34" charset="-122"/>
                <a:cs typeface="Calibri" pitchFamily="34" charset="-120"/>
              </a:rPr>
              <a:t>01</a:t>
            </a:r>
            <a:endParaRPr lang="en-US" sz="2200" dirty="0"/>
          </a:p>
        </p:txBody>
      </p:sp>
      <p:sp>
        <p:nvSpPr>
          <p:cNvPr id="13" name="Text 9"/>
          <p:cNvSpPr txBox="1"/>
          <p:nvPr/>
        </p:nvSpPr>
        <p:spPr>
          <a:xfrm>
            <a:off x="704088" y="2834640"/>
            <a:ext cx="1673901" cy="41148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Expérience utilisateur</a:t>
            </a:r>
            <a:endParaRPr lang="en-US" sz="1350" dirty="0"/>
          </a:p>
        </p:txBody>
      </p:sp>
      <p:sp>
        <p:nvSpPr>
          <p:cNvPr id="14" name="Text 10"/>
          <p:cNvSpPr txBox="1"/>
          <p:nvPr/>
        </p:nvSpPr>
        <p:spPr>
          <a:xfrm>
            <a:off x="704088" y="3264408"/>
            <a:ext cx="1673901" cy="548640"/>
          </a:xfrm>
          <a:prstGeom prst="rect">
            <a:avLst/>
          </a:prstGeom>
          <a:noFill/>
          <a:ln/>
        </p:spPr>
        <p:txBody>
          <a:bodyPr wrap="square" lIns="0" tIns="0" rIns="0" bIns="0" rtlCol="0" anchor="t"/>
          <a:lstStyle/>
          <a:p>
            <a:pPr indent="0" marL="0">
              <a:buNone/>
            </a:pPr>
            <a:r>
              <a:rPr lang="en-US" sz="1050" i="1" dirty="0">
                <a:solidFill>
                  <a:srgbClr val="6B7B83"/>
                </a:solidFill>
                <a:latin typeface="Calibri" pitchFamily="34" charset="0"/>
                <a:ea typeface="Calibri" pitchFamily="34" charset="-122"/>
                <a:cs typeface="Calibri" pitchFamily="34" charset="-120"/>
              </a:rPr>
              <a:t>Simplifier l’interface pour favoriser l’adoption</a:t>
            </a:r>
            <a:endParaRPr lang="en-US" sz="1050" dirty="0"/>
          </a:p>
        </p:txBody>
      </p:sp>
      <p:sp>
        <p:nvSpPr>
          <p:cNvPr id="15" name="Shape 11"/>
          <p:cNvSpPr/>
          <p:nvPr/>
        </p:nvSpPr>
        <p:spPr>
          <a:xfrm>
            <a:off x="704088" y="3867912"/>
            <a:ext cx="1673901" cy="0"/>
          </a:xfrm>
          <a:prstGeom prst="line">
            <a:avLst/>
          </a:prstGeom>
          <a:noFill/>
          <a:ln w="9525">
            <a:solidFill>
              <a:srgbClr val="D6E0E3"/>
            </a:solidFill>
            <a:prstDash val="solid"/>
          </a:ln>
        </p:spPr>
      </p:sp>
      <p:sp>
        <p:nvSpPr>
          <p:cNvPr id="16" name="Text 12"/>
          <p:cNvSpPr txBox="1"/>
          <p:nvPr/>
        </p:nvSpPr>
        <p:spPr>
          <a:xfrm>
            <a:off x="704088" y="3977640"/>
            <a:ext cx="1673901" cy="182880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rgbClr val="1F2A30"/>
                </a:solidFill>
                <a:latin typeface="Calibri" pitchFamily="34" charset="0"/>
                <a:ea typeface="Calibri" pitchFamily="34" charset="-122"/>
                <a:cs typeface="Calibri" pitchFamily="34" charset="-120"/>
              </a:rPr>
              <a:t>Vues intuitives et personnalisables (glisser-déposer, thèmes)</a:t>
            </a:r>
            <a:endParaRPr lang="en-US" sz="1000" dirty="0"/>
          </a:p>
          <a:p>
            <a:pPr marL="152400" indent="-152400">
              <a:spcAft>
                <a:spcPts val="500"/>
              </a:spcAft>
              <a:buSzPct val="100000"/>
              <a:buChar char="•"/>
            </a:pPr>
            <a:r>
              <a:rPr lang="en-US" sz="1000" dirty="0">
                <a:solidFill>
                  <a:srgbClr val="1F2A30"/>
                </a:solidFill>
                <a:latin typeface="Calibri" pitchFamily="34" charset="0"/>
                <a:ea typeface="Calibri" pitchFamily="34" charset="-122"/>
                <a:cs typeface="Calibri" pitchFamily="34" charset="-120"/>
              </a:rPr>
              <a:t>Navigation simplifiée vers les fonctions clés</a:t>
            </a:r>
            <a:endParaRPr lang="en-US" sz="1000" dirty="0"/>
          </a:p>
          <a:p>
            <a:pPr marL="152400" indent="-152400">
              <a:spcAft>
                <a:spcPts val="500"/>
              </a:spcAft>
              <a:buSzPct val="100000"/>
              <a:buChar char="•"/>
            </a:pPr>
            <a:r>
              <a:rPr lang="en-US" sz="1000" dirty="0">
                <a:solidFill>
                  <a:srgbClr val="1F2A30"/>
                </a:solidFill>
                <a:latin typeface="Calibri" pitchFamily="34" charset="0"/>
                <a:ea typeface="Calibri" pitchFamily="34" charset="-122"/>
                <a:cs typeface="Calibri" pitchFamily="34" charset="-120"/>
              </a:rPr>
              <a:t>Meilleure intégration contacts, opportunités, incidents</a:t>
            </a:r>
            <a:endParaRPr lang="en-US" sz="1000" dirty="0"/>
          </a:p>
        </p:txBody>
      </p:sp>
      <p:sp>
        <p:nvSpPr>
          <p:cNvPr id="17" name="Shape 13"/>
          <p:cNvSpPr/>
          <p:nvPr/>
        </p:nvSpPr>
        <p:spPr>
          <a:xfrm>
            <a:off x="2780325" y="1965960"/>
            <a:ext cx="2076237" cy="3931920"/>
          </a:xfrm>
          <a:prstGeom prst="roundRect">
            <a:avLst>
              <a:gd name="adj" fmla="val 528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8" name="Shape 14"/>
          <p:cNvSpPr/>
          <p:nvPr/>
        </p:nvSpPr>
        <p:spPr>
          <a:xfrm>
            <a:off x="2981493" y="2167128"/>
            <a:ext cx="548640" cy="548640"/>
          </a:xfrm>
          <a:prstGeom prst="ellipse">
            <a:avLst/>
          </a:prstGeom>
          <a:solidFill>
            <a:srgbClr val="06404F"/>
          </a:solidFill>
          <a:ln w="12700">
            <a:solidFill>
              <a:srgbClr val="06404F"/>
            </a:solidFill>
            <a:prstDash val="solid"/>
          </a:ln>
        </p:spPr>
      </p:sp>
      <p:pic>
        <p:nvPicPr>
          <p:cNvPr id="19" name="Image 2" descr="preencoded.png">    </p:cNvPr>
          <p:cNvPicPr>
            <a:picLocks noChangeAspect="1"/>
          </p:cNvPicPr>
          <p:nvPr/>
        </p:nvPicPr>
        <p:blipFill>
          <a:blip r:embed="rId3"/>
          <a:stretch>
            <a:fillRect/>
          </a:stretch>
        </p:blipFill>
        <p:spPr>
          <a:xfrm>
            <a:off x="3124139" y="2309774"/>
            <a:ext cx="263347" cy="263347"/>
          </a:xfrm>
          <a:prstGeom prst="rect">
            <a:avLst/>
          </a:prstGeom>
        </p:spPr>
      </p:pic>
      <p:sp>
        <p:nvSpPr>
          <p:cNvPr id="20" name="Text 15"/>
          <p:cNvSpPr txBox="1"/>
          <p:nvPr/>
        </p:nvSpPr>
        <p:spPr>
          <a:xfrm>
            <a:off x="4125041" y="2148840"/>
            <a:ext cx="548640" cy="548640"/>
          </a:xfrm>
          <a:prstGeom prst="rect">
            <a:avLst/>
          </a:prstGeom>
          <a:noFill/>
          <a:ln/>
        </p:spPr>
        <p:txBody>
          <a:bodyPr wrap="square" lIns="0" tIns="0" rIns="0" bIns="0" rtlCol="0" anchor="ctr"/>
          <a:lstStyle/>
          <a:p>
            <a:pPr algn="r" indent="0" marL="0">
              <a:buNone/>
            </a:pPr>
            <a:r>
              <a:rPr lang="en-US" sz="2200" b="1" dirty="0">
                <a:solidFill>
                  <a:srgbClr val="F28C28"/>
                </a:solidFill>
                <a:latin typeface="Calibri" pitchFamily="34" charset="0"/>
                <a:ea typeface="Calibri" pitchFamily="34" charset="-122"/>
                <a:cs typeface="Calibri" pitchFamily="34" charset="-120"/>
              </a:rPr>
              <a:t>02</a:t>
            </a:r>
            <a:endParaRPr lang="en-US" sz="2200" dirty="0"/>
          </a:p>
        </p:txBody>
      </p:sp>
      <p:sp>
        <p:nvSpPr>
          <p:cNvPr id="21" name="Text 16"/>
          <p:cNvSpPr txBox="1"/>
          <p:nvPr/>
        </p:nvSpPr>
        <p:spPr>
          <a:xfrm>
            <a:off x="2981493" y="2834640"/>
            <a:ext cx="1673901" cy="41148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Vue client 360°</a:t>
            </a:r>
            <a:endParaRPr lang="en-US" sz="1350" dirty="0"/>
          </a:p>
        </p:txBody>
      </p:sp>
      <p:sp>
        <p:nvSpPr>
          <p:cNvPr id="22" name="Text 17"/>
          <p:cNvSpPr txBox="1"/>
          <p:nvPr/>
        </p:nvSpPr>
        <p:spPr>
          <a:xfrm>
            <a:off x="2981493" y="3264408"/>
            <a:ext cx="1673901" cy="548640"/>
          </a:xfrm>
          <a:prstGeom prst="rect">
            <a:avLst/>
          </a:prstGeom>
          <a:noFill/>
          <a:ln/>
        </p:spPr>
        <p:txBody>
          <a:bodyPr wrap="square" lIns="0" tIns="0" rIns="0" bIns="0" rtlCol="0" anchor="t"/>
          <a:lstStyle/>
          <a:p>
            <a:pPr indent="0" marL="0">
              <a:buNone/>
            </a:pPr>
            <a:r>
              <a:rPr lang="en-US" sz="1050" i="1" dirty="0">
                <a:solidFill>
                  <a:srgbClr val="6B7B83"/>
                </a:solidFill>
                <a:latin typeface="Calibri" pitchFamily="34" charset="0"/>
                <a:ea typeface="Calibri" pitchFamily="34" charset="-122"/>
                <a:cs typeface="Calibri" pitchFamily="34" charset="-120"/>
              </a:rPr>
              <a:t>Une fiche unique, des données consolidées</a:t>
            </a:r>
            <a:endParaRPr lang="en-US" sz="1050" dirty="0"/>
          </a:p>
        </p:txBody>
      </p:sp>
      <p:sp>
        <p:nvSpPr>
          <p:cNvPr id="23" name="Shape 18"/>
          <p:cNvSpPr/>
          <p:nvPr/>
        </p:nvSpPr>
        <p:spPr>
          <a:xfrm>
            <a:off x="2981493" y="3867912"/>
            <a:ext cx="1673901" cy="0"/>
          </a:xfrm>
          <a:prstGeom prst="line">
            <a:avLst/>
          </a:prstGeom>
          <a:noFill/>
          <a:ln w="9525">
            <a:solidFill>
              <a:srgbClr val="D6E0E3"/>
            </a:solidFill>
            <a:prstDash val="solid"/>
          </a:ln>
        </p:spPr>
      </p:sp>
      <p:sp>
        <p:nvSpPr>
          <p:cNvPr id="24" name="Text 19"/>
          <p:cNvSpPr txBox="1"/>
          <p:nvPr/>
        </p:nvSpPr>
        <p:spPr>
          <a:xfrm>
            <a:off x="2981493" y="3977640"/>
            <a:ext cx="1673901" cy="182880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rgbClr val="1F2A30"/>
                </a:solidFill>
                <a:latin typeface="Calibri" pitchFamily="34" charset="0"/>
                <a:ea typeface="Calibri" pitchFamily="34" charset="-122"/>
                <a:cs typeface="Calibri" pitchFamily="34" charset="-120"/>
              </a:rPr>
              <a:t>Historique, interactions, incidents, opportunités réunis</a:t>
            </a:r>
            <a:endParaRPr lang="en-US" sz="1000" dirty="0"/>
          </a:p>
          <a:p>
            <a:pPr marL="152400" indent="-152400">
              <a:spcAft>
                <a:spcPts val="500"/>
              </a:spcAft>
              <a:buSzPct val="100000"/>
              <a:buChar char="•"/>
            </a:pPr>
            <a:r>
              <a:rPr lang="en-US" sz="1000" dirty="0">
                <a:solidFill>
                  <a:srgbClr val="1F2A30"/>
                </a:solidFill>
                <a:latin typeface="Calibri" pitchFamily="34" charset="0"/>
                <a:ea typeface="Calibri" pitchFamily="34" charset="-122"/>
                <a:cs typeface="Calibri" pitchFamily="34" charset="-120"/>
              </a:rPr>
              <a:t>Synchronisation messagerie, réseaux sociaux, ERP</a:t>
            </a:r>
            <a:endParaRPr lang="en-US" sz="1000" dirty="0"/>
          </a:p>
          <a:p>
            <a:pPr marL="152400" indent="-152400">
              <a:spcAft>
                <a:spcPts val="500"/>
              </a:spcAft>
              <a:buSzPct val="100000"/>
              <a:buChar char="•"/>
            </a:pPr>
            <a:r>
              <a:rPr lang="en-US" sz="1000" dirty="0">
                <a:solidFill>
                  <a:srgbClr val="1F2A30"/>
                </a:solidFill>
                <a:latin typeface="Calibri" pitchFamily="34" charset="0"/>
                <a:ea typeface="Calibri" pitchFamily="34" charset="-122"/>
                <a:cs typeface="Calibri" pitchFamily="34" charset="-120"/>
              </a:rPr>
              <a:t>Dédoublonnage centralisé et validation automatique</a:t>
            </a:r>
            <a:endParaRPr lang="en-US" sz="1000" dirty="0"/>
          </a:p>
        </p:txBody>
      </p:sp>
      <p:sp>
        <p:nvSpPr>
          <p:cNvPr id="25" name="Shape 20"/>
          <p:cNvSpPr/>
          <p:nvPr/>
        </p:nvSpPr>
        <p:spPr>
          <a:xfrm>
            <a:off x="5057729" y="1965960"/>
            <a:ext cx="2076237" cy="3931920"/>
          </a:xfrm>
          <a:prstGeom prst="roundRect">
            <a:avLst>
              <a:gd name="adj" fmla="val 528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6" name="Shape 21"/>
          <p:cNvSpPr/>
          <p:nvPr/>
        </p:nvSpPr>
        <p:spPr>
          <a:xfrm>
            <a:off x="5258897" y="2167128"/>
            <a:ext cx="548640" cy="548640"/>
          </a:xfrm>
          <a:prstGeom prst="ellipse">
            <a:avLst/>
          </a:prstGeom>
          <a:solidFill>
            <a:srgbClr val="06404F"/>
          </a:solidFill>
          <a:ln w="12700">
            <a:solidFill>
              <a:srgbClr val="06404F"/>
            </a:solidFill>
            <a:prstDash val="solid"/>
          </a:ln>
        </p:spPr>
      </p:sp>
      <p:pic>
        <p:nvPicPr>
          <p:cNvPr id="27" name="Image 3" descr="preencoded.png">    </p:cNvPr>
          <p:cNvPicPr>
            <a:picLocks noChangeAspect="1"/>
          </p:cNvPicPr>
          <p:nvPr/>
        </p:nvPicPr>
        <p:blipFill>
          <a:blip r:embed="rId4"/>
          <a:stretch>
            <a:fillRect/>
          </a:stretch>
        </p:blipFill>
        <p:spPr>
          <a:xfrm>
            <a:off x="5401544" y="2309774"/>
            <a:ext cx="263347" cy="263347"/>
          </a:xfrm>
          <a:prstGeom prst="rect">
            <a:avLst/>
          </a:prstGeom>
        </p:spPr>
      </p:pic>
      <p:sp>
        <p:nvSpPr>
          <p:cNvPr id="28" name="Text 22"/>
          <p:cNvSpPr txBox="1"/>
          <p:nvPr/>
        </p:nvSpPr>
        <p:spPr>
          <a:xfrm>
            <a:off x="6402446" y="2148840"/>
            <a:ext cx="548640" cy="548640"/>
          </a:xfrm>
          <a:prstGeom prst="rect">
            <a:avLst/>
          </a:prstGeom>
          <a:noFill/>
          <a:ln/>
        </p:spPr>
        <p:txBody>
          <a:bodyPr wrap="square" lIns="0" tIns="0" rIns="0" bIns="0" rtlCol="0" anchor="ctr"/>
          <a:lstStyle/>
          <a:p>
            <a:pPr algn="r" indent="0" marL="0">
              <a:buNone/>
            </a:pPr>
            <a:r>
              <a:rPr lang="en-US" sz="2200" b="1" dirty="0">
                <a:solidFill>
                  <a:srgbClr val="F28C28"/>
                </a:solidFill>
                <a:latin typeface="Calibri" pitchFamily="34" charset="0"/>
                <a:ea typeface="Calibri" pitchFamily="34" charset="-122"/>
                <a:cs typeface="Calibri" pitchFamily="34" charset="-120"/>
              </a:rPr>
              <a:t>03</a:t>
            </a:r>
            <a:endParaRPr lang="en-US" sz="2200" dirty="0"/>
          </a:p>
        </p:txBody>
      </p:sp>
      <p:sp>
        <p:nvSpPr>
          <p:cNvPr id="29" name="Text 23"/>
          <p:cNvSpPr txBox="1"/>
          <p:nvPr/>
        </p:nvSpPr>
        <p:spPr>
          <a:xfrm>
            <a:off x="5258897" y="2834640"/>
            <a:ext cx="1673901" cy="41148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Automatisation &amp; IA</a:t>
            </a:r>
            <a:endParaRPr lang="en-US" sz="1350" dirty="0"/>
          </a:p>
        </p:txBody>
      </p:sp>
      <p:sp>
        <p:nvSpPr>
          <p:cNvPr id="30" name="Text 24"/>
          <p:cNvSpPr txBox="1"/>
          <p:nvPr/>
        </p:nvSpPr>
        <p:spPr>
          <a:xfrm>
            <a:off x="5258897" y="3264408"/>
            <a:ext cx="1673901" cy="548640"/>
          </a:xfrm>
          <a:prstGeom prst="rect">
            <a:avLst/>
          </a:prstGeom>
          <a:noFill/>
          <a:ln/>
        </p:spPr>
        <p:txBody>
          <a:bodyPr wrap="square" lIns="0" tIns="0" rIns="0" bIns="0" rtlCol="0" anchor="t"/>
          <a:lstStyle/>
          <a:p>
            <a:pPr indent="0" marL="0">
              <a:buNone/>
            </a:pPr>
            <a:r>
              <a:rPr lang="en-US" sz="1050" i="1" dirty="0">
                <a:solidFill>
                  <a:srgbClr val="6B7B83"/>
                </a:solidFill>
                <a:latin typeface="Calibri" pitchFamily="34" charset="0"/>
                <a:ea typeface="Calibri" pitchFamily="34" charset="-122"/>
                <a:cs typeface="Calibri" pitchFamily="34" charset="-120"/>
              </a:rPr>
              <a:t>Réduire les tâches répétitives</a:t>
            </a:r>
            <a:endParaRPr lang="en-US" sz="1050" dirty="0"/>
          </a:p>
        </p:txBody>
      </p:sp>
      <p:sp>
        <p:nvSpPr>
          <p:cNvPr id="31" name="Shape 25"/>
          <p:cNvSpPr/>
          <p:nvPr/>
        </p:nvSpPr>
        <p:spPr>
          <a:xfrm>
            <a:off x="5258897" y="3867912"/>
            <a:ext cx="1673901" cy="0"/>
          </a:xfrm>
          <a:prstGeom prst="line">
            <a:avLst/>
          </a:prstGeom>
          <a:noFill/>
          <a:ln w="9525">
            <a:solidFill>
              <a:srgbClr val="D6E0E3"/>
            </a:solidFill>
            <a:prstDash val="solid"/>
          </a:ln>
        </p:spPr>
      </p:sp>
      <p:sp>
        <p:nvSpPr>
          <p:cNvPr id="32" name="Text 26"/>
          <p:cNvSpPr txBox="1"/>
          <p:nvPr/>
        </p:nvSpPr>
        <p:spPr>
          <a:xfrm>
            <a:off x="5258897" y="3977640"/>
            <a:ext cx="1673901" cy="182880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rgbClr val="1F2A30"/>
                </a:solidFill>
                <a:latin typeface="Calibri" pitchFamily="34" charset="0"/>
                <a:ea typeface="Calibri" pitchFamily="34" charset="-122"/>
                <a:cs typeface="Calibri" pitchFamily="34" charset="-120"/>
              </a:rPr>
              <a:t>Workflows de relance, rappels, gestion d’incidents</a:t>
            </a:r>
            <a:endParaRPr lang="en-US" sz="1000" dirty="0"/>
          </a:p>
          <a:p>
            <a:pPr marL="152400" indent="-152400">
              <a:spcAft>
                <a:spcPts val="500"/>
              </a:spcAft>
              <a:buSzPct val="100000"/>
              <a:buChar char="•"/>
            </a:pPr>
            <a:r>
              <a:rPr lang="en-US" sz="1000" dirty="0">
                <a:solidFill>
                  <a:srgbClr val="1F2A30"/>
                </a:solidFill>
                <a:latin typeface="Calibri" pitchFamily="34" charset="0"/>
                <a:ea typeface="Calibri" pitchFamily="34" charset="-122"/>
                <a:cs typeface="Calibri" pitchFamily="34" charset="-120"/>
              </a:rPr>
              <a:t>Suggestions d’actions et priorisation par IA</a:t>
            </a:r>
            <a:endParaRPr lang="en-US" sz="1000" dirty="0"/>
          </a:p>
          <a:p>
            <a:pPr marL="152400" indent="-152400">
              <a:spcAft>
                <a:spcPts val="500"/>
              </a:spcAft>
              <a:buSzPct val="100000"/>
              <a:buChar char="•"/>
            </a:pPr>
            <a:r>
              <a:rPr lang="en-US" sz="1000" dirty="0">
                <a:solidFill>
                  <a:srgbClr val="1F2A30"/>
                </a:solidFill>
                <a:latin typeface="Calibri" pitchFamily="34" charset="0"/>
                <a:ea typeface="Calibri" pitchFamily="34" charset="-122"/>
                <a:cs typeface="Calibri" pitchFamily="34" charset="-120"/>
              </a:rPr>
              <a:t>Aide à la rédaction de comptes rendus, auto-complétion, recherche intelligente</a:t>
            </a:r>
            <a:endParaRPr lang="en-US" sz="1000" dirty="0"/>
          </a:p>
        </p:txBody>
      </p:sp>
      <p:sp>
        <p:nvSpPr>
          <p:cNvPr id="33" name="Shape 27"/>
          <p:cNvSpPr/>
          <p:nvPr/>
        </p:nvSpPr>
        <p:spPr>
          <a:xfrm>
            <a:off x="7335134" y="1965960"/>
            <a:ext cx="2076237" cy="3931920"/>
          </a:xfrm>
          <a:prstGeom prst="roundRect">
            <a:avLst>
              <a:gd name="adj" fmla="val 528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34" name="Shape 28"/>
          <p:cNvSpPr/>
          <p:nvPr/>
        </p:nvSpPr>
        <p:spPr>
          <a:xfrm>
            <a:off x="7536302" y="2167128"/>
            <a:ext cx="548640" cy="548640"/>
          </a:xfrm>
          <a:prstGeom prst="ellipse">
            <a:avLst/>
          </a:prstGeom>
          <a:solidFill>
            <a:srgbClr val="06404F"/>
          </a:solidFill>
          <a:ln w="12700">
            <a:solidFill>
              <a:srgbClr val="06404F"/>
            </a:solidFill>
            <a:prstDash val="solid"/>
          </a:ln>
        </p:spPr>
      </p:sp>
      <p:pic>
        <p:nvPicPr>
          <p:cNvPr id="35" name="Image 4" descr="preencoded.png">    </p:cNvPr>
          <p:cNvPicPr>
            <a:picLocks noChangeAspect="1"/>
          </p:cNvPicPr>
          <p:nvPr/>
        </p:nvPicPr>
        <p:blipFill>
          <a:blip r:embed="rId5"/>
          <a:stretch>
            <a:fillRect/>
          </a:stretch>
        </p:blipFill>
        <p:spPr>
          <a:xfrm>
            <a:off x="7678948" y="2309774"/>
            <a:ext cx="263347" cy="263347"/>
          </a:xfrm>
          <a:prstGeom prst="rect">
            <a:avLst/>
          </a:prstGeom>
        </p:spPr>
      </p:pic>
      <p:sp>
        <p:nvSpPr>
          <p:cNvPr id="36" name="Text 29"/>
          <p:cNvSpPr txBox="1"/>
          <p:nvPr/>
        </p:nvSpPr>
        <p:spPr>
          <a:xfrm>
            <a:off x="8679851" y="2148840"/>
            <a:ext cx="548640" cy="548640"/>
          </a:xfrm>
          <a:prstGeom prst="rect">
            <a:avLst/>
          </a:prstGeom>
          <a:noFill/>
          <a:ln/>
        </p:spPr>
        <p:txBody>
          <a:bodyPr wrap="square" lIns="0" tIns="0" rIns="0" bIns="0" rtlCol="0" anchor="ctr"/>
          <a:lstStyle/>
          <a:p>
            <a:pPr algn="r" indent="0" marL="0">
              <a:buNone/>
            </a:pPr>
            <a:r>
              <a:rPr lang="en-US" sz="2200" b="1" dirty="0">
                <a:solidFill>
                  <a:srgbClr val="F28C28"/>
                </a:solidFill>
                <a:latin typeface="Calibri" pitchFamily="34" charset="0"/>
                <a:ea typeface="Calibri" pitchFamily="34" charset="-122"/>
                <a:cs typeface="Calibri" pitchFamily="34" charset="-120"/>
              </a:rPr>
              <a:t>04</a:t>
            </a:r>
            <a:endParaRPr lang="en-US" sz="2200" dirty="0"/>
          </a:p>
        </p:txBody>
      </p:sp>
      <p:sp>
        <p:nvSpPr>
          <p:cNvPr id="37" name="Text 30"/>
          <p:cNvSpPr txBox="1"/>
          <p:nvPr/>
        </p:nvSpPr>
        <p:spPr>
          <a:xfrm>
            <a:off x="7536302" y="2834640"/>
            <a:ext cx="1673901" cy="41148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Analytique avancée</a:t>
            </a:r>
            <a:endParaRPr lang="en-US" sz="1350" dirty="0"/>
          </a:p>
        </p:txBody>
      </p:sp>
      <p:sp>
        <p:nvSpPr>
          <p:cNvPr id="38" name="Text 31"/>
          <p:cNvSpPr txBox="1"/>
          <p:nvPr/>
        </p:nvSpPr>
        <p:spPr>
          <a:xfrm>
            <a:off x="7536302" y="3264408"/>
            <a:ext cx="1673901" cy="548640"/>
          </a:xfrm>
          <a:prstGeom prst="rect">
            <a:avLst/>
          </a:prstGeom>
          <a:noFill/>
          <a:ln/>
        </p:spPr>
        <p:txBody>
          <a:bodyPr wrap="square" lIns="0" tIns="0" rIns="0" bIns="0" rtlCol="0" anchor="t"/>
          <a:lstStyle/>
          <a:p>
            <a:pPr indent="0" marL="0">
              <a:buNone/>
            </a:pPr>
            <a:r>
              <a:rPr lang="en-US" sz="1050" i="1" dirty="0">
                <a:solidFill>
                  <a:srgbClr val="6B7B83"/>
                </a:solidFill>
                <a:latin typeface="Calibri" pitchFamily="34" charset="0"/>
                <a:ea typeface="Calibri" pitchFamily="34" charset="-122"/>
                <a:cs typeface="Calibri" pitchFamily="34" charset="-120"/>
              </a:rPr>
              <a:t>Mieux décider grâce aux insights</a:t>
            </a:r>
            <a:endParaRPr lang="en-US" sz="1050" dirty="0"/>
          </a:p>
        </p:txBody>
      </p:sp>
      <p:sp>
        <p:nvSpPr>
          <p:cNvPr id="39" name="Shape 32"/>
          <p:cNvSpPr/>
          <p:nvPr/>
        </p:nvSpPr>
        <p:spPr>
          <a:xfrm>
            <a:off x="7536302" y="3867912"/>
            <a:ext cx="1673901" cy="0"/>
          </a:xfrm>
          <a:prstGeom prst="line">
            <a:avLst/>
          </a:prstGeom>
          <a:noFill/>
          <a:ln w="9525">
            <a:solidFill>
              <a:srgbClr val="D6E0E3"/>
            </a:solidFill>
            <a:prstDash val="solid"/>
          </a:ln>
        </p:spPr>
      </p:sp>
      <p:sp>
        <p:nvSpPr>
          <p:cNvPr id="40" name="Text 33"/>
          <p:cNvSpPr txBox="1"/>
          <p:nvPr/>
        </p:nvSpPr>
        <p:spPr>
          <a:xfrm>
            <a:off x="7536302" y="3977640"/>
            <a:ext cx="1673901" cy="182880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rgbClr val="1F2A30"/>
                </a:solidFill>
                <a:latin typeface="Calibri" pitchFamily="34" charset="0"/>
                <a:ea typeface="Calibri" pitchFamily="34" charset="-122"/>
                <a:cs typeface="Calibri" pitchFamily="34" charset="-120"/>
              </a:rPr>
              <a:t>Tableaux de bord ventes et service client</a:t>
            </a:r>
            <a:endParaRPr lang="en-US" sz="1000" dirty="0"/>
          </a:p>
          <a:p>
            <a:pPr marL="152400" indent="-152400">
              <a:spcAft>
                <a:spcPts val="500"/>
              </a:spcAft>
              <a:buSzPct val="100000"/>
              <a:buChar char="•"/>
            </a:pPr>
            <a:r>
              <a:rPr lang="en-US" sz="1000" dirty="0">
                <a:solidFill>
                  <a:srgbClr val="1F2A30"/>
                </a:solidFill>
                <a:latin typeface="Calibri" pitchFamily="34" charset="0"/>
                <a:ea typeface="Calibri" pitchFamily="34" charset="-122"/>
                <a:cs typeface="Calibri" pitchFamily="34" charset="-120"/>
              </a:rPr>
              <a:t>Rapports prédictifs (tendances, opportunités)</a:t>
            </a:r>
            <a:endParaRPr lang="en-US" sz="1000" dirty="0"/>
          </a:p>
          <a:p>
            <a:pPr marL="152400" indent="-152400">
              <a:spcAft>
                <a:spcPts val="500"/>
              </a:spcAft>
              <a:buSzPct val="100000"/>
              <a:buChar char="•"/>
            </a:pPr>
            <a:r>
              <a:rPr lang="en-US" sz="1000" dirty="0">
                <a:solidFill>
                  <a:srgbClr val="1F2A30"/>
                </a:solidFill>
                <a:latin typeface="Calibri" pitchFamily="34" charset="0"/>
                <a:ea typeface="Calibri" pitchFamily="34" charset="-122"/>
                <a:cs typeface="Calibri" pitchFamily="34" charset="-120"/>
              </a:rPr>
              <a:t>Segmentation dynamique</a:t>
            </a:r>
            <a:endParaRPr lang="en-US" sz="1000" dirty="0"/>
          </a:p>
        </p:txBody>
      </p:sp>
      <p:sp>
        <p:nvSpPr>
          <p:cNvPr id="41" name="Shape 34"/>
          <p:cNvSpPr/>
          <p:nvPr/>
        </p:nvSpPr>
        <p:spPr>
          <a:xfrm>
            <a:off x="9612539" y="1965960"/>
            <a:ext cx="2076237" cy="3931920"/>
          </a:xfrm>
          <a:prstGeom prst="roundRect">
            <a:avLst>
              <a:gd name="adj" fmla="val 528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42" name="Shape 35"/>
          <p:cNvSpPr/>
          <p:nvPr/>
        </p:nvSpPr>
        <p:spPr>
          <a:xfrm>
            <a:off x="9813707" y="2167128"/>
            <a:ext cx="548640" cy="548640"/>
          </a:xfrm>
          <a:prstGeom prst="ellipse">
            <a:avLst/>
          </a:prstGeom>
          <a:solidFill>
            <a:srgbClr val="06404F"/>
          </a:solidFill>
          <a:ln w="12700">
            <a:solidFill>
              <a:srgbClr val="06404F"/>
            </a:solidFill>
            <a:prstDash val="solid"/>
          </a:ln>
        </p:spPr>
      </p:sp>
      <p:pic>
        <p:nvPicPr>
          <p:cNvPr id="43" name="Image 5" descr="preencoded.png">    </p:cNvPr>
          <p:cNvPicPr>
            <a:picLocks noChangeAspect="1"/>
          </p:cNvPicPr>
          <p:nvPr/>
        </p:nvPicPr>
        <p:blipFill>
          <a:blip r:embed="rId6"/>
          <a:stretch>
            <a:fillRect/>
          </a:stretch>
        </p:blipFill>
        <p:spPr>
          <a:xfrm>
            <a:off x="9956353" y="2309774"/>
            <a:ext cx="263347" cy="263347"/>
          </a:xfrm>
          <a:prstGeom prst="rect">
            <a:avLst/>
          </a:prstGeom>
        </p:spPr>
      </p:pic>
      <p:sp>
        <p:nvSpPr>
          <p:cNvPr id="44" name="Text 36"/>
          <p:cNvSpPr txBox="1"/>
          <p:nvPr/>
        </p:nvSpPr>
        <p:spPr>
          <a:xfrm>
            <a:off x="10957255" y="2148840"/>
            <a:ext cx="548640" cy="548640"/>
          </a:xfrm>
          <a:prstGeom prst="rect">
            <a:avLst/>
          </a:prstGeom>
          <a:noFill/>
          <a:ln/>
        </p:spPr>
        <p:txBody>
          <a:bodyPr wrap="square" lIns="0" tIns="0" rIns="0" bIns="0" rtlCol="0" anchor="ctr"/>
          <a:lstStyle/>
          <a:p>
            <a:pPr algn="r" indent="0" marL="0">
              <a:buNone/>
            </a:pPr>
            <a:r>
              <a:rPr lang="en-US" sz="2200" b="1" dirty="0">
                <a:solidFill>
                  <a:srgbClr val="F28C28"/>
                </a:solidFill>
                <a:latin typeface="Calibri" pitchFamily="34" charset="0"/>
                <a:ea typeface="Calibri" pitchFamily="34" charset="-122"/>
                <a:cs typeface="Calibri" pitchFamily="34" charset="-120"/>
              </a:rPr>
              <a:t>05</a:t>
            </a:r>
            <a:endParaRPr lang="en-US" sz="2200" dirty="0"/>
          </a:p>
        </p:txBody>
      </p:sp>
      <p:sp>
        <p:nvSpPr>
          <p:cNvPr id="45" name="Text 37"/>
          <p:cNvSpPr txBox="1"/>
          <p:nvPr/>
        </p:nvSpPr>
        <p:spPr>
          <a:xfrm>
            <a:off x="9813707" y="2834640"/>
            <a:ext cx="1673901" cy="41148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Collaboration &amp; mobilité</a:t>
            </a:r>
            <a:endParaRPr lang="en-US" sz="1350" dirty="0"/>
          </a:p>
        </p:txBody>
      </p:sp>
      <p:sp>
        <p:nvSpPr>
          <p:cNvPr id="46" name="Text 38"/>
          <p:cNvSpPr txBox="1"/>
          <p:nvPr/>
        </p:nvSpPr>
        <p:spPr>
          <a:xfrm>
            <a:off x="9813707" y="3264408"/>
            <a:ext cx="1673901" cy="548640"/>
          </a:xfrm>
          <a:prstGeom prst="rect">
            <a:avLst/>
          </a:prstGeom>
          <a:noFill/>
          <a:ln/>
        </p:spPr>
        <p:txBody>
          <a:bodyPr wrap="square" lIns="0" tIns="0" rIns="0" bIns="0" rtlCol="0" anchor="t"/>
          <a:lstStyle/>
          <a:p>
            <a:pPr indent="0" marL="0">
              <a:buNone/>
            </a:pPr>
            <a:r>
              <a:rPr lang="en-US" sz="1050" i="1" dirty="0">
                <a:solidFill>
                  <a:srgbClr val="6B7B83"/>
                </a:solidFill>
                <a:latin typeface="Calibri" pitchFamily="34" charset="0"/>
                <a:ea typeface="Calibri" pitchFamily="34" charset="-122"/>
                <a:cs typeface="Calibri" pitchFamily="34" charset="-120"/>
              </a:rPr>
              <a:t>Travailler efficacement, même à distance</a:t>
            </a:r>
            <a:endParaRPr lang="en-US" sz="1050" dirty="0"/>
          </a:p>
        </p:txBody>
      </p:sp>
      <p:sp>
        <p:nvSpPr>
          <p:cNvPr id="47" name="Shape 39"/>
          <p:cNvSpPr/>
          <p:nvPr/>
        </p:nvSpPr>
        <p:spPr>
          <a:xfrm>
            <a:off x="9813707" y="3867912"/>
            <a:ext cx="1673901" cy="0"/>
          </a:xfrm>
          <a:prstGeom prst="line">
            <a:avLst/>
          </a:prstGeom>
          <a:noFill/>
          <a:ln w="9525">
            <a:solidFill>
              <a:srgbClr val="D6E0E3"/>
            </a:solidFill>
            <a:prstDash val="solid"/>
          </a:ln>
        </p:spPr>
      </p:sp>
      <p:sp>
        <p:nvSpPr>
          <p:cNvPr id="48" name="Text 40"/>
          <p:cNvSpPr txBox="1"/>
          <p:nvPr/>
        </p:nvSpPr>
        <p:spPr>
          <a:xfrm>
            <a:off x="9813707" y="3977640"/>
            <a:ext cx="1673901" cy="1828800"/>
          </a:xfrm>
          <a:prstGeom prst="rect">
            <a:avLst/>
          </a:prstGeom>
          <a:noFill/>
          <a:ln/>
        </p:spPr>
        <p:txBody>
          <a:bodyPr wrap="square" lIns="0" tIns="0" rIns="0" bIns="0" rtlCol="0" anchor="t"/>
          <a:lstStyle/>
          <a:p>
            <a:pPr marL="152400" indent="-152400">
              <a:spcAft>
                <a:spcPts val="500"/>
              </a:spcAft>
              <a:buSzPct val="100000"/>
              <a:buChar char="•"/>
            </a:pPr>
            <a:r>
              <a:rPr lang="en-US" sz="1000" dirty="0">
                <a:solidFill>
                  <a:srgbClr val="1F2A30"/>
                </a:solidFill>
                <a:latin typeface="Calibri" pitchFamily="34" charset="0"/>
                <a:ea typeface="Calibri" pitchFamily="34" charset="-122"/>
                <a:cs typeface="Calibri" pitchFamily="34" charset="-120"/>
              </a:rPr>
              <a:t>Partage temps réel et commentaires sur les fiches</a:t>
            </a:r>
            <a:endParaRPr lang="en-US" sz="1000" dirty="0"/>
          </a:p>
          <a:p>
            <a:pPr marL="152400" indent="-152400">
              <a:spcAft>
                <a:spcPts val="500"/>
              </a:spcAft>
              <a:buSzPct val="100000"/>
              <a:buChar char="•"/>
            </a:pPr>
            <a:r>
              <a:rPr lang="en-US" sz="1000" dirty="0">
                <a:solidFill>
                  <a:srgbClr val="1F2A30"/>
                </a:solidFill>
                <a:latin typeface="Calibri" pitchFamily="34" charset="0"/>
                <a:ea typeface="Calibri" pitchFamily="34" charset="-122"/>
                <a:cs typeface="Calibri" pitchFamily="34" charset="-120"/>
              </a:rPr>
              <a:t>Application mobile complète</a:t>
            </a:r>
            <a:endParaRPr lang="en-US" sz="1000" dirty="0"/>
          </a:p>
          <a:p>
            <a:pPr marL="152400" indent="-152400">
              <a:spcAft>
                <a:spcPts val="500"/>
              </a:spcAft>
              <a:buSzPct val="100000"/>
              <a:buChar char="•"/>
            </a:pPr>
            <a:r>
              <a:rPr lang="en-US" sz="1000" dirty="0">
                <a:solidFill>
                  <a:srgbClr val="1F2A30"/>
                </a:solidFill>
                <a:latin typeface="Calibri" pitchFamily="34" charset="0"/>
                <a:ea typeface="Calibri" pitchFamily="34" charset="-122"/>
                <a:cs typeface="Calibri" pitchFamily="34" charset="-120"/>
              </a:rPr>
              <a:t>Chat et visio intégrés au CRM</a:t>
            </a:r>
            <a:endParaRPr lang="en-US" sz="1000" dirty="0"/>
          </a:p>
        </p:txBody>
      </p:sp>
      <p:sp>
        <p:nvSpPr>
          <p:cNvPr id="49" name="Text 41"/>
          <p:cNvSpPr txBox="1"/>
          <p:nvPr/>
        </p:nvSpPr>
        <p:spPr>
          <a:xfrm>
            <a:off x="502920" y="6035040"/>
            <a:ext cx="11185855" cy="274320"/>
          </a:xfrm>
          <a:prstGeom prst="rect">
            <a:avLst/>
          </a:prstGeom>
          <a:noFill/>
          <a:ln/>
        </p:spPr>
        <p:txBody>
          <a:bodyPr wrap="square" lIns="0" tIns="0" rIns="0" bIns="0" rtlCol="0" anchor="t"/>
          <a:lstStyle/>
          <a:p>
            <a:pPr indent="0" marL="0">
              <a:buNone/>
            </a:pPr>
            <a:r>
              <a:rPr lang="en-US" sz="850" i="1" dirty="0">
                <a:solidFill>
                  <a:srgbClr val="6B7B83"/>
                </a:solidFill>
                <a:latin typeface="Calibri" pitchFamily="34" charset="0"/>
                <a:ea typeface="Calibri" pitchFamily="34" charset="-122"/>
                <a:cs typeface="Calibri" pitchFamily="34" charset="-120"/>
              </a:rPr>
              <a:t>Orientations produit : les évolutions et leur calendrier peuvent être ajustés ; elles ne constituent pas un engagement de livraison. Quels axes sont prioritaires pour vous ?</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6404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white.png">    </p:cNvPr>
          <p:cNvPicPr>
            <a:picLocks noChangeAspect="1"/>
          </p:cNvPicPr>
          <p:nvPr/>
        </p:nvPicPr>
        <p:blipFill>
          <a:blip r:embed="rId1"/>
          <a:stretch>
            <a:fillRect/>
          </a:stretch>
        </p:blipFill>
        <p:spPr>
          <a:xfrm>
            <a:off x="502920" y="347472"/>
            <a:ext cx="1463040" cy="526895"/>
          </a:xfrm>
          <a:prstGeom prst="rect">
            <a:avLst/>
          </a:prstGeom>
        </p:spPr>
      </p:pic>
      <p:sp>
        <p:nvSpPr>
          <p:cNvPr id="3" name="Shape 0"/>
          <p:cNvSpPr/>
          <p:nvPr/>
        </p:nvSpPr>
        <p:spPr>
          <a:xfrm>
            <a:off x="8778240" y="1097280"/>
            <a:ext cx="4754880" cy="4754880"/>
          </a:xfrm>
          <a:prstGeom prst="ellipse">
            <a:avLst/>
          </a:prstGeom>
          <a:solidFill>
            <a:srgbClr val="0F6B7A">
              <a:alpha val="45000"/>
            </a:srgbClr>
          </a:solidFill>
          <a:ln w="12700">
            <a:solidFill>
              <a:srgbClr val="0F6B7A"/>
            </a:solidFill>
            <a:prstDash val="solid"/>
          </a:ln>
        </p:spPr>
      </p:sp>
      <p:sp>
        <p:nvSpPr>
          <p:cNvPr id="4" name="Shape 1"/>
          <p:cNvSpPr/>
          <p:nvPr/>
        </p:nvSpPr>
        <p:spPr>
          <a:xfrm>
            <a:off x="8138160" y="4206240"/>
            <a:ext cx="1463040" cy="1463040"/>
          </a:xfrm>
          <a:prstGeom prst="ellipse">
            <a:avLst/>
          </a:prstGeom>
          <a:solidFill>
            <a:srgbClr val="F28C28">
              <a:alpha val="85000"/>
            </a:srgbClr>
          </a:solidFill>
          <a:ln w="12700">
            <a:solidFill>
              <a:srgbClr val="F28C28"/>
            </a:solidFill>
            <a:prstDash val="solid"/>
          </a:ln>
        </p:spPr>
      </p:sp>
      <p:sp>
        <p:nvSpPr>
          <p:cNvPr id="5" name="Text 2"/>
          <p:cNvSpPr txBox="1"/>
          <p:nvPr/>
        </p:nvSpPr>
        <p:spPr>
          <a:xfrm>
            <a:off x="502920" y="1417320"/>
            <a:ext cx="2743200" cy="822960"/>
          </a:xfrm>
          <a:prstGeom prst="rect">
            <a:avLst/>
          </a:prstGeom>
          <a:noFill/>
          <a:ln/>
        </p:spPr>
        <p:txBody>
          <a:bodyPr wrap="square" lIns="0" tIns="0" rIns="0" bIns="0" rtlCol="0" anchor="ctr"/>
          <a:lstStyle/>
          <a:p>
            <a:pPr indent="0" marL="0">
              <a:buNone/>
            </a:pPr>
            <a:r>
              <a:rPr lang="en-US" sz="5600" b="1" dirty="0">
                <a:solidFill>
                  <a:srgbClr val="F28C28"/>
                </a:solidFill>
                <a:latin typeface="Calibri" pitchFamily="34" charset="0"/>
                <a:ea typeface="Calibri" pitchFamily="34" charset="-122"/>
                <a:cs typeface="Calibri" pitchFamily="34" charset="-120"/>
              </a:rPr>
              <a:t>02</a:t>
            </a:r>
            <a:endParaRPr lang="en-US" sz="5600" dirty="0"/>
          </a:p>
        </p:txBody>
      </p:sp>
      <p:sp>
        <p:nvSpPr>
          <p:cNvPr id="6" name="Text 3"/>
          <p:cNvSpPr txBox="1"/>
          <p:nvPr/>
        </p:nvSpPr>
        <p:spPr>
          <a:xfrm>
            <a:off x="502920" y="2240280"/>
            <a:ext cx="8503920" cy="1234440"/>
          </a:xfrm>
          <a:prstGeom prst="rect">
            <a:avLst/>
          </a:prstGeom>
          <a:noFill/>
          <a:ln/>
        </p:spPr>
        <p:txBody>
          <a:bodyPr wrap="square" lIns="0" tIns="0" rIns="0" bIns="0"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Engage — votre plateforme marketing</a:t>
            </a:r>
            <a:endParaRPr lang="en-US" sz="3600" dirty="0"/>
          </a:p>
        </p:txBody>
      </p:sp>
      <p:sp>
        <p:nvSpPr>
          <p:cNvPr id="7" name="Text 4"/>
          <p:cNvSpPr txBox="1"/>
          <p:nvPr/>
        </p:nvSpPr>
        <p:spPr>
          <a:xfrm>
            <a:off x="502920" y="3520440"/>
            <a:ext cx="8503920" cy="411480"/>
          </a:xfrm>
          <a:prstGeom prst="rect">
            <a:avLst/>
          </a:prstGeom>
          <a:noFill/>
          <a:ln/>
        </p:spPr>
        <p:txBody>
          <a:bodyPr wrap="square" lIns="0" tIns="0" rIns="0" bIns="0" rtlCol="0" anchor="ctr"/>
          <a:lstStyle/>
          <a:p>
            <a:pPr indent="0" marL="0">
              <a:buNone/>
            </a:pPr>
            <a:r>
              <a:rPr lang="en-US" sz="1800" dirty="0">
                <a:solidFill>
                  <a:srgbClr val="CFE3E7"/>
                </a:solidFill>
                <a:latin typeface="Calibri" pitchFamily="34" charset="0"/>
                <a:ea typeface="Calibri" pitchFamily="34" charset="-122"/>
                <a:cs typeface="Calibri" pitchFamily="34" charset="-120"/>
              </a:rPr>
              <a:t>Continuité, performance, canaux, produit et conformité</a:t>
            </a:r>
            <a:endParaRPr lang="en-US" sz="1800" dirty="0"/>
          </a:p>
        </p:txBody>
      </p:sp>
      <p:sp>
        <p:nvSpPr>
          <p:cNvPr id="8" name="Text 5"/>
          <p:cNvSpPr txBox="1"/>
          <p:nvPr/>
        </p:nvSpPr>
        <p:spPr>
          <a:xfrm>
            <a:off x="502920" y="4160520"/>
            <a:ext cx="6858000" cy="1737360"/>
          </a:xfrm>
          <a:prstGeom prst="rect">
            <a:avLst/>
          </a:prstGeom>
          <a:noFill/>
          <a:ln/>
        </p:spPr>
        <p:txBody>
          <a:bodyPr wrap="square" lIns="0" tIns="0" rIns="0" bIns="0" rtlCol="0" anchor="t"/>
          <a:lstStyle/>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Selligent by Zeta : ce qui change, ce qui ne change pas</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Performance email vs secteur</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Volumes SMS et option RCS</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Nouveau SSO Engage : trajectoire</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Pixel d’ouverture et recommandation CNIL</a:t>
            </a:r>
            <a:endParaRPr lang="en-US" sz="1300" dirty="0"/>
          </a:p>
          <a:p>
            <a:pPr marL="152400" indent="-152400">
              <a:spcAft>
                <a:spcPts val="300"/>
              </a:spcAft>
              <a:buSzPct val="100000"/>
              <a:buChar char="•"/>
            </a:pPr>
            <a:r>
              <a:rPr lang="en-US" sz="1300" dirty="0">
                <a:solidFill>
                  <a:srgbClr val="E6F0F2"/>
                </a:solidFill>
                <a:latin typeface="Calibri" pitchFamily="34" charset="0"/>
                <a:ea typeface="Calibri" pitchFamily="34" charset="-122"/>
                <a:cs typeface="Calibri" pitchFamily="34" charset="-120"/>
              </a:rPr>
              <a:t>Roadmap Engage 2026–2027</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ENGAGE</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200" b="1" dirty="0">
                <a:solidFill>
                  <a:srgbClr val="06404F"/>
                </a:solidFill>
                <a:latin typeface="Calibri" pitchFamily="34" charset="0"/>
                <a:ea typeface="Calibri" pitchFamily="34" charset="-122"/>
                <a:cs typeface="Calibri" pitchFamily="34" charset="-120"/>
              </a:rPr>
              <a:t>Selligent by Zeta : ce qui change, ce qui ne change pas</a:t>
            </a:r>
            <a:endParaRPr lang="en-US" sz="22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Selligent fait désormais partie de Zeta Global. Pour Mutuelle Viasanté, la continuité prime : mêmes équipes, mêmes conditions, une plateforme qui continue d’investir.</a:t>
            </a:r>
            <a:endParaRPr lang="en-US" sz="1300" dirty="0"/>
          </a:p>
        </p:txBody>
      </p:sp>
      <p:sp>
        <p:nvSpPr>
          <p:cNvPr id="7" name="Text 4"/>
          <p:cNvSpPr txBox="1"/>
          <p:nvPr/>
        </p:nvSpPr>
        <p:spPr>
          <a:xfrm>
            <a:off x="502920" y="6473952"/>
            <a:ext cx="7315200" cy="228600"/>
          </a:xfrm>
          <a:prstGeom prst="rect">
            <a:avLst/>
          </a:prstGeom>
          <a:noFill/>
          <a:ln/>
        </p:spPr>
        <p:txBody>
          <a:bodyPr wrap="square" lIns="0" tIns="0" rIns="0" bIns="0" rtlCol="0" anchor="ctr"/>
          <a:lstStyle/>
          <a:p>
            <a:pPr indent="0" marL="0">
              <a:buNone/>
            </a:pPr>
            <a:r>
              <a:rPr lang="en-US" sz="850" dirty="0">
                <a:solidFill>
                  <a:srgbClr val="6B7B83"/>
                </a:solidFill>
                <a:latin typeface="Calibri" pitchFamily="34" charset="0"/>
                <a:ea typeface="Calibri" pitchFamily="34" charset="-122"/>
                <a:cs typeface="Calibri" pitchFamily="34" charset="-120"/>
              </a:rPr>
              <a:t>COPIL Mutuelle Viasanté · 14 septembre 2026 · Confidentiel</a:t>
            </a:r>
            <a:endParaRPr lang="en-US" sz="850" dirty="0"/>
          </a:p>
        </p:txBody>
      </p:sp>
      <p:sp>
        <p:nvSpPr>
          <p:cNvPr id="8" name="Text 5"/>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850" dirty="0">
                <a:solidFill>
                  <a:srgbClr val="6B7B83"/>
                </a:solidFill>
                <a:latin typeface="Calibri" pitchFamily="34" charset="0"/>
                <a:ea typeface="Calibri" pitchFamily="34" charset="-122"/>
                <a:cs typeface="Calibri" pitchFamily="34" charset="-120"/>
              </a:rPr>
              <a:t>11</a:t>
            </a:r>
            <a:endParaRPr lang="en-US" sz="850" dirty="0"/>
          </a:p>
        </p:txBody>
      </p:sp>
      <p:sp>
        <p:nvSpPr>
          <p:cNvPr id="9" name="Shape 6"/>
          <p:cNvSpPr/>
          <p:nvPr/>
        </p:nvSpPr>
        <p:spPr>
          <a:xfrm>
            <a:off x="502920" y="1965960"/>
            <a:ext cx="2645588" cy="384048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0" name="Shape 7"/>
          <p:cNvSpPr/>
          <p:nvPr/>
        </p:nvSpPr>
        <p:spPr>
          <a:xfrm>
            <a:off x="704088" y="2167128"/>
            <a:ext cx="548640" cy="548640"/>
          </a:xfrm>
          <a:prstGeom prst="ellipse">
            <a:avLst/>
          </a:prstGeom>
          <a:solidFill>
            <a:srgbClr val="06404F"/>
          </a:solidFill>
          <a:ln w="12700">
            <a:solidFill>
              <a:srgbClr val="06404F"/>
            </a:solidFill>
            <a:prstDash val="solid"/>
          </a:ln>
        </p:spPr>
      </p:sp>
      <p:pic>
        <p:nvPicPr>
          <p:cNvPr id="11" name="Image 1" descr="preencoded.png">    </p:cNvPr>
          <p:cNvPicPr>
            <a:picLocks noChangeAspect="1"/>
          </p:cNvPicPr>
          <p:nvPr/>
        </p:nvPicPr>
        <p:blipFill>
          <a:blip r:embed="rId2"/>
          <a:stretch>
            <a:fillRect/>
          </a:stretch>
        </p:blipFill>
        <p:spPr>
          <a:xfrm>
            <a:off x="846734" y="2309774"/>
            <a:ext cx="263347" cy="263347"/>
          </a:xfrm>
          <a:prstGeom prst="rect">
            <a:avLst/>
          </a:prstGeom>
        </p:spPr>
      </p:pic>
      <p:sp>
        <p:nvSpPr>
          <p:cNvPr id="12" name="Text 8"/>
          <p:cNvSpPr txBox="1"/>
          <p:nvPr/>
        </p:nvSpPr>
        <p:spPr>
          <a:xfrm>
            <a:off x="704088" y="2834640"/>
            <a:ext cx="2243252" cy="64008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Un investissement produit continu</a:t>
            </a:r>
            <a:endParaRPr lang="en-US" sz="1350" dirty="0"/>
          </a:p>
        </p:txBody>
      </p:sp>
      <p:sp>
        <p:nvSpPr>
          <p:cNvPr id="13" name="Shape 9"/>
          <p:cNvSpPr/>
          <p:nvPr/>
        </p:nvSpPr>
        <p:spPr>
          <a:xfrm>
            <a:off x="704088" y="3566160"/>
            <a:ext cx="2243252" cy="0"/>
          </a:xfrm>
          <a:prstGeom prst="line">
            <a:avLst/>
          </a:prstGeom>
          <a:noFill/>
          <a:ln w="9525">
            <a:solidFill>
              <a:srgbClr val="D6E0E3"/>
            </a:solidFill>
            <a:prstDash val="solid"/>
          </a:ln>
        </p:spPr>
      </p:sp>
      <p:sp>
        <p:nvSpPr>
          <p:cNvPr id="14" name="Text 10"/>
          <p:cNvSpPr txBox="1"/>
          <p:nvPr/>
        </p:nvSpPr>
        <p:spPr>
          <a:xfrm>
            <a:off x="704088" y="3703320"/>
            <a:ext cx="2243252" cy="196596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Équipes produit et ingénierie en Belgique, renforcées par des équipes dédiées à l’IA et à la donnée.</a:t>
            </a:r>
            <a:endParaRPr lang="en-US" sz="1100" dirty="0"/>
          </a:p>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Roadmap Engage active : conformité, données, orchestration, intelligence.</a:t>
            </a:r>
            <a:endParaRPr lang="en-US" sz="1100" dirty="0"/>
          </a:p>
        </p:txBody>
      </p:sp>
      <p:sp>
        <p:nvSpPr>
          <p:cNvPr id="15" name="Shape 11"/>
          <p:cNvSpPr/>
          <p:nvPr/>
        </p:nvSpPr>
        <p:spPr>
          <a:xfrm>
            <a:off x="3349676" y="1965960"/>
            <a:ext cx="2645588" cy="384048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6" name="Shape 12"/>
          <p:cNvSpPr/>
          <p:nvPr/>
        </p:nvSpPr>
        <p:spPr>
          <a:xfrm>
            <a:off x="3550844" y="2167128"/>
            <a:ext cx="548640" cy="548640"/>
          </a:xfrm>
          <a:prstGeom prst="ellipse">
            <a:avLst/>
          </a:prstGeom>
          <a:solidFill>
            <a:srgbClr val="06404F"/>
          </a:solidFill>
          <a:ln w="12700">
            <a:solidFill>
              <a:srgbClr val="06404F"/>
            </a:solidFill>
            <a:prstDash val="solid"/>
          </a:ln>
        </p:spPr>
      </p:sp>
      <p:pic>
        <p:nvPicPr>
          <p:cNvPr id="17" name="Image 2" descr="preencoded.png">    </p:cNvPr>
          <p:cNvPicPr>
            <a:picLocks noChangeAspect="1"/>
          </p:cNvPicPr>
          <p:nvPr/>
        </p:nvPicPr>
        <p:blipFill>
          <a:blip r:embed="rId3"/>
          <a:stretch>
            <a:fillRect/>
          </a:stretch>
        </p:blipFill>
        <p:spPr>
          <a:xfrm>
            <a:off x="3693490" y="2309774"/>
            <a:ext cx="263347" cy="263347"/>
          </a:xfrm>
          <a:prstGeom prst="rect">
            <a:avLst/>
          </a:prstGeom>
        </p:spPr>
      </p:pic>
      <p:sp>
        <p:nvSpPr>
          <p:cNvPr id="18" name="Text 13"/>
          <p:cNvSpPr txBox="1"/>
          <p:nvPr/>
        </p:nvSpPr>
        <p:spPr>
          <a:xfrm>
            <a:off x="3550844" y="2834640"/>
            <a:ext cx="2243252" cy="64008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Aucune migration imposée</a:t>
            </a:r>
            <a:endParaRPr lang="en-US" sz="1350" dirty="0"/>
          </a:p>
        </p:txBody>
      </p:sp>
      <p:sp>
        <p:nvSpPr>
          <p:cNvPr id="19" name="Shape 14"/>
          <p:cNvSpPr/>
          <p:nvPr/>
        </p:nvSpPr>
        <p:spPr>
          <a:xfrm>
            <a:off x="3550844" y="3566160"/>
            <a:ext cx="2243252" cy="0"/>
          </a:xfrm>
          <a:prstGeom prst="line">
            <a:avLst/>
          </a:prstGeom>
          <a:noFill/>
          <a:ln w="9525">
            <a:solidFill>
              <a:srgbClr val="D6E0E3"/>
            </a:solidFill>
            <a:prstDash val="solid"/>
          </a:ln>
        </p:spPr>
      </p:sp>
      <p:sp>
        <p:nvSpPr>
          <p:cNvPr id="20" name="Text 15"/>
          <p:cNvSpPr txBox="1"/>
          <p:nvPr/>
        </p:nvSpPr>
        <p:spPr>
          <a:xfrm>
            <a:off x="3550844" y="3703320"/>
            <a:ext cx="2243252" cy="196596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Priorité : tirer le meilleur de votre plateforme actuelle.</a:t>
            </a:r>
            <a:endParaRPr lang="en-US" sz="1100" dirty="0"/>
          </a:p>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Les capacités Zeta (IA, données) viennent en complément, uniquement si elles servent vos besoins.</a:t>
            </a:r>
            <a:endParaRPr lang="en-US" sz="1100" dirty="0"/>
          </a:p>
        </p:txBody>
      </p:sp>
      <p:sp>
        <p:nvSpPr>
          <p:cNvPr id="21" name="Shape 16"/>
          <p:cNvSpPr/>
          <p:nvPr/>
        </p:nvSpPr>
        <p:spPr>
          <a:xfrm>
            <a:off x="6196432" y="1965960"/>
            <a:ext cx="2645588" cy="384048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2" name="Shape 17"/>
          <p:cNvSpPr/>
          <p:nvPr/>
        </p:nvSpPr>
        <p:spPr>
          <a:xfrm>
            <a:off x="6397600" y="2167128"/>
            <a:ext cx="548640" cy="548640"/>
          </a:xfrm>
          <a:prstGeom prst="ellipse">
            <a:avLst/>
          </a:prstGeom>
          <a:solidFill>
            <a:srgbClr val="06404F"/>
          </a:solidFill>
          <a:ln w="12700">
            <a:solidFill>
              <a:srgbClr val="06404F"/>
            </a:solidFill>
            <a:prstDash val="solid"/>
          </a:ln>
        </p:spPr>
      </p:sp>
      <p:pic>
        <p:nvPicPr>
          <p:cNvPr id="23" name="Image 3" descr="preencoded.png">    </p:cNvPr>
          <p:cNvPicPr>
            <a:picLocks noChangeAspect="1"/>
          </p:cNvPicPr>
          <p:nvPr/>
        </p:nvPicPr>
        <p:blipFill>
          <a:blip r:embed="rId4"/>
          <a:stretch>
            <a:fillRect/>
          </a:stretch>
        </p:blipFill>
        <p:spPr>
          <a:xfrm>
            <a:off x="6540246" y="2309774"/>
            <a:ext cx="263347" cy="263347"/>
          </a:xfrm>
          <a:prstGeom prst="rect">
            <a:avLst/>
          </a:prstGeom>
        </p:spPr>
      </p:pic>
      <p:sp>
        <p:nvSpPr>
          <p:cNvPr id="24" name="Text 18"/>
          <p:cNvSpPr txBox="1"/>
          <p:nvPr/>
        </p:nvSpPr>
        <p:spPr>
          <a:xfrm>
            <a:off x="6397600" y="2834640"/>
            <a:ext cx="2243252" cy="64008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Vos conditions préservées</a:t>
            </a:r>
            <a:endParaRPr lang="en-US" sz="1350" dirty="0"/>
          </a:p>
        </p:txBody>
      </p:sp>
      <p:sp>
        <p:nvSpPr>
          <p:cNvPr id="25" name="Shape 19"/>
          <p:cNvSpPr/>
          <p:nvPr/>
        </p:nvSpPr>
        <p:spPr>
          <a:xfrm>
            <a:off x="6397600" y="3566160"/>
            <a:ext cx="2243252" cy="0"/>
          </a:xfrm>
          <a:prstGeom prst="line">
            <a:avLst/>
          </a:prstGeom>
          <a:noFill/>
          <a:ln w="9525">
            <a:solidFill>
              <a:srgbClr val="D6E0E3"/>
            </a:solidFill>
            <a:prstDash val="solid"/>
          </a:ln>
        </p:spPr>
      </p:sp>
      <p:sp>
        <p:nvSpPr>
          <p:cNvPr id="26" name="Text 20"/>
          <p:cNvSpPr txBox="1"/>
          <p:nvPr/>
        </p:nvSpPr>
        <p:spPr>
          <a:xfrm>
            <a:off x="6397600" y="3703320"/>
            <a:ext cx="2243252" cy="196596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Aucun changement tarifaire imposé au renouvellement pour les clients Selligent.</a:t>
            </a:r>
            <a:endParaRPr lang="en-US" sz="1100" dirty="0"/>
          </a:p>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Vos modules et vos usages restent inchangés.</a:t>
            </a:r>
            <a:endParaRPr lang="en-US" sz="1100" dirty="0"/>
          </a:p>
        </p:txBody>
      </p:sp>
      <p:sp>
        <p:nvSpPr>
          <p:cNvPr id="27" name="Shape 21"/>
          <p:cNvSpPr/>
          <p:nvPr/>
        </p:nvSpPr>
        <p:spPr>
          <a:xfrm>
            <a:off x="9043187" y="1965960"/>
            <a:ext cx="2645588" cy="3840480"/>
          </a:xfrm>
          <a:prstGeom prst="roundRect">
            <a:avLst>
              <a:gd name="adj" fmla="val 4148"/>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8" name="Shape 22"/>
          <p:cNvSpPr/>
          <p:nvPr/>
        </p:nvSpPr>
        <p:spPr>
          <a:xfrm>
            <a:off x="9244355" y="2167128"/>
            <a:ext cx="548640" cy="548640"/>
          </a:xfrm>
          <a:prstGeom prst="ellipse">
            <a:avLst/>
          </a:prstGeom>
          <a:solidFill>
            <a:srgbClr val="06404F"/>
          </a:solidFill>
          <a:ln w="12700">
            <a:solidFill>
              <a:srgbClr val="06404F"/>
            </a:solidFill>
            <a:prstDash val="solid"/>
          </a:ln>
        </p:spPr>
      </p:sp>
      <p:pic>
        <p:nvPicPr>
          <p:cNvPr id="29" name="Image 4" descr="preencoded.png">    </p:cNvPr>
          <p:cNvPicPr>
            <a:picLocks noChangeAspect="1"/>
          </p:cNvPicPr>
          <p:nvPr/>
        </p:nvPicPr>
        <p:blipFill>
          <a:blip r:embed="rId5"/>
          <a:stretch>
            <a:fillRect/>
          </a:stretch>
        </p:blipFill>
        <p:spPr>
          <a:xfrm>
            <a:off x="9387002" y="2309774"/>
            <a:ext cx="263347" cy="263347"/>
          </a:xfrm>
          <a:prstGeom prst="rect">
            <a:avLst/>
          </a:prstGeom>
        </p:spPr>
      </p:pic>
      <p:sp>
        <p:nvSpPr>
          <p:cNvPr id="30" name="Text 23"/>
          <p:cNvSpPr txBox="1"/>
          <p:nvPr/>
        </p:nvSpPr>
        <p:spPr>
          <a:xfrm>
            <a:off x="9244355" y="2834640"/>
            <a:ext cx="2243252" cy="640080"/>
          </a:xfrm>
          <a:prstGeom prst="rect">
            <a:avLst/>
          </a:prstGeom>
          <a:noFill/>
          <a:ln/>
        </p:spPr>
        <p:txBody>
          <a:bodyPr wrap="square" lIns="0" tIns="0" rIns="0" bIns="0" rtlCol="0" anchor="ctr"/>
          <a:lstStyle/>
          <a:p>
            <a:pPr indent="0" marL="0">
              <a:buNone/>
            </a:pPr>
            <a:r>
              <a:rPr lang="en-US" sz="1350" b="1" dirty="0">
                <a:solidFill>
                  <a:srgbClr val="06404F"/>
                </a:solidFill>
                <a:latin typeface="Calibri" pitchFamily="34" charset="0"/>
                <a:ea typeface="Calibri" pitchFamily="34" charset="-122"/>
                <a:cs typeface="Calibri" pitchFamily="34" charset="-120"/>
              </a:rPr>
              <a:t>Europe, RGPD et proximité</a:t>
            </a:r>
            <a:endParaRPr lang="en-US" sz="1350" dirty="0"/>
          </a:p>
        </p:txBody>
      </p:sp>
      <p:sp>
        <p:nvSpPr>
          <p:cNvPr id="31" name="Shape 24"/>
          <p:cNvSpPr/>
          <p:nvPr/>
        </p:nvSpPr>
        <p:spPr>
          <a:xfrm>
            <a:off x="9244355" y="3566160"/>
            <a:ext cx="2243252" cy="0"/>
          </a:xfrm>
          <a:prstGeom prst="line">
            <a:avLst/>
          </a:prstGeom>
          <a:noFill/>
          <a:ln w="9525">
            <a:solidFill>
              <a:srgbClr val="D6E0E3"/>
            </a:solidFill>
            <a:prstDash val="solid"/>
          </a:ln>
        </p:spPr>
      </p:sp>
      <p:sp>
        <p:nvSpPr>
          <p:cNvPr id="32" name="Text 25"/>
          <p:cNvSpPr txBox="1"/>
          <p:nvPr/>
        </p:nvSpPr>
        <p:spPr>
          <a:xfrm>
            <a:off x="9244355" y="3703320"/>
            <a:ext cx="2243252" cy="1965960"/>
          </a:xfrm>
          <a:prstGeom prst="rect">
            <a:avLst/>
          </a:prstGeom>
          <a:noFill/>
          <a:ln/>
        </p:spPr>
        <p:txBody>
          <a:bodyPr wrap="square" lIns="0" tIns="0" rIns="0" bIns="0" rtlCol="0" anchor="t"/>
          <a:lstStyle/>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Stratégie produit fondée sur le marché européen et sur les retours des clients.</a:t>
            </a:r>
            <a:endParaRPr lang="en-US" sz="1100" dirty="0"/>
          </a:p>
          <a:p>
            <a:pPr marL="152400" indent="-152400">
              <a:spcAft>
                <a:spcPts val="600"/>
              </a:spcAft>
              <a:buSzPct val="100000"/>
              <a:buChar char="•"/>
            </a:pPr>
            <a:r>
              <a:rPr lang="en-US" sz="1100" dirty="0">
                <a:solidFill>
                  <a:srgbClr val="1F2A30"/>
                </a:solidFill>
                <a:latin typeface="Calibri" pitchFamily="34" charset="0"/>
                <a:ea typeface="Calibri" pitchFamily="34" charset="-122"/>
                <a:cs typeface="Calibri" pitchFamily="34" charset="-120"/>
              </a:rPr>
              <a:t>RGPD, confidentialité et réglementation européenne restent prioritaires ; vos interlocuteurs restent les mêmes.</a:t>
            </a:r>
            <a:endParaRPr lang="en-US" sz="1100" dirty="0"/>
          </a:p>
        </p:txBody>
      </p:sp>
      <p:sp>
        <p:nvSpPr>
          <p:cNvPr id="33" name="Text 26"/>
          <p:cNvSpPr txBox="1"/>
          <p:nvPr/>
        </p:nvSpPr>
        <p:spPr>
          <a:xfrm>
            <a:off x="502920" y="5943600"/>
            <a:ext cx="11185855" cy="274320"/>
          </a:xfrm>
          <a:prstGeom prst="rect">
            <a:avLst/>
          </a:prstGeom>
          <a:noFill/>
          <a:ln/>
        </p:spPr>
        <p:txBody>
          <a:bodyPr wrap="square" lIns="0" tIns="0" rIns="0" bIns="0" rtlCol="0" anchor="t"/>
          <a:lstStyle/>
          <a:p>
            <a:pPr indent="0" marL="0">
              <a:buNone/>
            </a:pPr>
            <a:r>
              <a:rPr lang="en-US" sz="850" i="1" dirty="0">
                <a:solidFill>
                  <a:srgbClr val="6B7B83"/>
                </a:solidFill>
                <a:latin typeface="Calibri" pitchFamily="34" charset="0"/>
                <a:ea typeface="Calibri" pitchFamily="34" charset="-122"/>
                <a:cs typeface="Calibri" pitchFamily="34" charset="-120"/>
              </a:rPr>
              <a:t>Orientations communiquées par Selligent by Zeta en juin 2026.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ENGAGE</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200" b="1" dirty="0">
                <a:solidFill>
                  <a:srgbClr val="06404F"/>
                </a:solidFill>
                <a:latin typeface="Calibri" pitchFamily="34" charset="0"/>
                <a:ea typeface="Calibri" pitchFamily="34" charset="-122"/>
                <a:cs typeface="Calibri" pitchFamily="34" charset="-120"/>
              </a:rPr>
              <a:t>Email : délivrabilité exemplaire, le clic comme prochain levier</a:t>
            </a:r>
            <a:endParaRPr lang="en-US" sz="22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1 545 190 emails délivrés du 25 février → 23 août 2026 · panel de référence : 48 plateformes Selligent, secteur Services.</a:t>
            </a:r>
            <a:endParaRPr lang="en-US" sz="1300" dirty="0"/>
          </a:p>
        </p:txBody>
      </p:sp>
      <p:sp>
        <p:nvSpPr>
          <p:cNvPr id="7" name="Text 4"/>
          <p:cNvSpPr txBox="1"/>
          <p:nvPr/>
        </p:nvSpPr>
        <p:spPr>
          <a:xfrm>
            <a:off x="502920" y="6473952"/>
            <a:ext cx="7315200" cy="228600"/>
          </a:xfrm>
          <a:prstGeom prst="rect">
            <a:avLst/>
          </a:prstGeom>
          <a:noFill/>
          <a:ln/>
        </p:spPr>
        <p:txBody>
          <a:bodyPr wrap="square" lIns="0" tIns="0" rIns="0" bIns="0" rtlCol="0" anchor="ctr"/>
          <a:lstStyle/>
          <a:p>
            <a:pPr indent="0" marL="0">
              <a:buNone/>
            </a:pPr>
            <a:r>
              <a:rPr lang="en-US" sz="850" dirty="0">
                <a:solidFill>
                  <a:srgbClr val="6B7B83"/>
                </a:solidFill>
                <a:latin typeface="Calibri" pitchFamily="34" charset="0"/>
                <a:ea typeface="Calibri" pitchFamily="34" charset="-122"/>
                <a:cs typeface="Calibri" pitchFamily="34" charset="-120"/>
              </a:rPr>
              <a:t>COPIL Mutuelle Viasanté · 14 septembre 2026 · Confidentiel</a:t>
            </a:r>
            <a:endParaRPr lang="en-US" sz="850" dirty="0"/>
          </a:p>
        </p:txBody>
      </p:sp>
      <p:sp>
        <p:nvSpPr>
          <p:cNvPr id="8" name="Text 5"/>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850" dirty="0">
                <a:solidFill>
                  <a:srgbClr val="6B7B83"/>
                </a:solidFill>
                <a:latin typeface="Calibri" pitchFamily="34" charset="0"/>
                <a:ea typeface="Calibri" pitchFamily="34" charset="-122"/>
                <a:cs typeface="Calibri" pitchFamily="34" charset="-120"/>
              </a:rPr>
              <a:t>12</a:t>
            </a:r>
            <a:endParaRPr lang="en-US" sz="850" dirty="0"/>
          </a:p>
        </p:txBody>
      </p:sp>
      <p:sp>
        <p:nvSpPr>
          <p:cNvPr id="9" name="Shape 6"/>
          <p:cNvSpPr/>
          <p:nvPr/>
        </p:nvSpPr>
        <p:spPr>
          <a:xfrm>
            <a:off x="502920" y="1874520"/>
            <a:ext cx="2090867"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0" name="Text 7"/>
          <p:cNvSpPr txBox="1"/>
          <p:nvPr/>
        </p:nvSpPr>
        <p:spPr>
          <a:xfrm>
            <a:off x="685800" y="2011680"/>
            <a:ext cx="1725107" cy="274320"/>
          </a:xfrm>
          <a:prstGeom prst="rect">
            <a:avLst/>
          </a:prstGeom>
          <a:noFill/>
          <a:ln/>
        </p:spPr>
        <p:txBody>
          <a:bodyPr wrap="square" lIns="0" tIns="0" rIns="0" bIns="0" rtlCol="0" anchor="ctr"/>
          <a:lstStyle/>
          <a:p>
            <a:pPr indent="0" marL="0">
              <a:buNone/>
            </a:pPr>
            <a:r>
              <a:rPr lang="en-US" sz="1050" b="1" dirty="0">
                <a:solidFill>
                  <a:srgbClr val="6B7B83"/>
                </a:solidFill>
                <a:latin typeface="Calibri" pitchFamily="34" charset="0"/>
                <a:ea typeface="Calibri" pitchFamily="34" charset="-122"/>
                <a:cs typeface="Calibri" pitchFamily="34" charset="-120"/>
              </a:rPr>
              <a:t>Délivrabilité</a:t>
            </a:r>
            <a:endParaRPr lang="en-US" sz="1050" dirty="0"/>
          </a:p>
        </p:txBody>
      </p:sp>
      <p:sp>
        <p:nvSpPr>
          <p:cNvPr id="11" name="Text 8"/>
          <p:cNvSpPr txBox="1"/>
          <p:nvPr/>
        </p:nvSpPr>
        <p:spPr>
          <a:xfrm>
            <a:off x="685800" y="2286000"/>
            <a:ext cx="1725107"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99,37 %</a:t>
            </a:r>
            <a:endParaRPr lang="en-US" sz="2400" dirty="0"/>
          </a:p>
        </p:txBody>
      </p:sp>
      <p:sp>
        <p:nvSpPr>
          <p:cNvPr id="12" name="Shape 9"/>
          <p:cNvSpPr/>
          <p:nvPr/>
        </p:nvSpPr>
        <p:spPr>
          <a:xfrm>
            <a:off x="685800" y="2862072"/>
            <a:ext cx="1725107" cy="274320"/>
          </a:xfrm>
          <a:prstGeom prst="roundRect">
            <a:avLst>
              <a:gd name="adj" fmla="val 50000"/>
            </a:avLst>
          </a:prstGeom>
          <a:solidFill>
            <a:srgbClr val="E3F3EA"/>
          </a:solidFill>
          <a:ln w="12700">
            <a:solidFill>
              <a:srgbClr val="E3F3EA"/>
            </a:solidFill>
            <a:prstDash val="solid"/>
          </a:ln>
        </p:spPr>
      </p:sp>
      <p:sp>
        <p:nvSpPr>
          <p:cNvPr id="13" name="Text 10"/>
          <p:cNvSpPr txBox="1"/>
          <p:nvPr/>
        </p:nvSpPr>
        <p:spPr>
          <a:xfrm>
            <a:off x="685800" y="2862072"/>
            <a:ext cx="1725107" cy="274320"/>
          </a:xfrm>
          <a:prstGeom prst="rect">
            <a:avLst/>
          </a:prstGeom>
          <a:noFill/>
          <a:ln/>
        </p:spPr>
        <p:txBody>
          <a:bodyPr wrap="square" lIns="0" tIns="0" rIns="0" bIns="0" rtlCol="0" anchor="ctr"/>
          <a:lstStyle/>
          <a:p>
            <a:pPr algn="ctr" indent="0" marL="0">
              <a:buNone/>
            </a:pPr>
            <a:r>
              <a:rPr lang="en-US" sz="900" b="1" spc="100" kern="0" dirty="0">
                <a:solidFill>
                  <a:srgbClr val="2E8B57"/>
                </a:solidFill>
                <a:latin typeface="Calibri" pitchFamily="34" charset="0"/>
                <a:ea typeface="Calibri" pitchFamily="34" charset="-122"/>
                <a:cs typeface="Calibri" pitchFamily="34" charset="-120"/>
              </a:rPr>
              <a:t>▲  secteur 98,72 %</a:t>
            </a:r>
            <a:endParaRPr lang="en-US" sz="900" dirty="0"/>
          </a:p>
        </p:txBody>
      </p:sp>
      <p:sp>
        <p:nvSpPr>
          <p:cNvPr id="14" name="Shape 11"/>
          <p:cNvSpPr/>
          <p:nvPr/>
        </p:nvSpPr>
        <p:spPr>
          <a:xfrm>
            <a:off x="2776667" y="1874520"/>
            <a:ext cx="2090867"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5" name="Text 12"/>
          <p:cNvSpPr txBox="1"/>
          <p:nvPr/>
        </p:nvSpPr>
        <p:spPr>
          <a:xfrm>
            <a:off x="2959547" y="2011680"/>
            <a:ext cx="1725107" cy="274320"/>
          </a:xfrm>
          <a:prstGeom prst="rect">
            <a:avLst/>
          </a:prstGeom>
          <a:noFill/>
          <a:ln/>
        </p:spPr>
        <p:txBody>
          <a:bodyPr wrap="square" lIns="0" tIns="0" rIns="0" bIns="0" rtlCol="0" anchor="ctr"/>
          <a:lstStyle/>
          <a:p>
            <a:pPr indent="0" marL="0">
              <a:buNone/>
            </a:pPr>
            <a:r>
              <a:rPr lang="en-US" sz="1050" b="1" dirty="0">
                <a:solidFill>
                  <a:srgbClr val="6B7B83"/>
                </a:solidFill>
                <a:latin typeface="Calibri" pitchFamily="34" charset="0"/>
                <a:ea typeface="Calibri" pitchFamily="34" charset="-122"/>
                <a:cs typeface="Calibri" pitchFamily="34" charset="-120"/>
              </a:rPr>
              <a:t>Taux d’ouverture</a:t>
            </a:r>
            <a:endParaRPr lang="en-US" sz="1050" dirty="0"/>
          </a:p>
        </p:txBody>
      </p:sp>
      <p:sp>
        <p:nvSpPr>
          <p:cNvPr id="16" name="Text 13"/>
          <p:cNvSpPr txBox="1"/>
          <p:nvPr/>
        </p:nvSpPr>
        <p:spPr>
          <a:xfrm>
            <a:off x="2959547" y="2286000"/>
            <a:ext cx="1725107"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46,67 %</a:t>
            </a:r>
            <a:endParaRPr lang="en-US" sz="2400" dirty="0"/>
          </a:p>
        </p:txBody>
      </p:sp>
      <p:sp>
        <p:nvSpPr>
          <p:cNvPr id="17" name="Shape 14"/>
          <p:cNvSpPr/>
          <p:nvPr/>
        </p:nvSpPr>
        <p:spPr>
          <a:xfrm>
            <a:off x="2959547" y="2862072"/>
            <a:ext cx="1725107" cy="274320"/>
          </a:xfrm>
          <a:prstGeom prst="roundRect">
            <a:avLst>
              <a:gd name="adj" fmla="val 50000"/>
            </a:avLst>
          </a:prstGeom>
          <a:solidFill>
            <a:srgbClr val="E3F3EA"/>
          </a:solidFill>
          <a:ln w="12700">
            <a:solidFill>
              <a:srgbClr val="E3F3EA"/>
            </a:solidFill>
            <a:prstDash val="solid"/>
          </a:ln>
        </p:spPr>
      </p:sp>
      <p:sp>
        <p:nvSpPr>
          <p:cNvPr id="18" name="Text 15"/>
          <p:cNvSpPr txBox="1"/>
          <p:nvPr/>
        </p:nvSpPr>
        <p:spPr>
          <a:xfrm>
            <a:off x="2959547" y="2862072"/>
            <a:ext cx="1725107" cy="274320"/>
          </a:xfrm>
          <a:prstGeom prst="rect">
            <a:avLst/>
          </a:prstGeom>
          <a:noFill/>
          <a:ln/>
        </p:spPr>
        <p:txBody>
          <a:bodyPr wrap="square" lIns="0" tIns="0" rIns="0" bIns="0" rtlCol="0" anchor="ctr"/>
          <a:lstStyle/>
          <a:p>
            <a:pPr algn="ctr" indent="0" marL="0">
              <a:buNone/>
            </a:pPr>
            <a:r>
              <a:rPr lang="en-US" sz="900" b="1" spc="100" kern="0" dirty="0">
                <a:solidFill>
                  <a:srgbClr val="2E8B57"/>
                </a:solidFill>
                <a:latin typeface="Calibri" pitchFamily="34" charset="0"/>
                <a:ea typeface="Calibri" pitchFamily="34" charset="-122"/>
                <a:cs typeface="Calibri" pitchFamily="34" charset="-120"/>
              </a:rPr>
              <a:t>▲  secteur 27,25 %</a:t>
            </a:r>
            <a:endParaRPr lang="en-US" sz="900" dirty="0"/>
          </a:p>
        </p:txBody>
      </p:sp>
      <p:sp>
        <p:nvSpPr>
          <p:cNvPr id="19" name="Shape 16"/>
          <p:cNvSpPr/>
          <p:nvPr/>
        </p:nvSpPr>
        <p:spPr>
          <a:xfrm>
            <a:off x="5050414" y="1874520"/>
            <a:ext cx="2090867"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0" name="Text 17"/>
          <p:cNvSpPr txBox="1"/>
          <p:nvPr/>
        </p:nvSpPr>
        <p:spPr>
          <a:xfrm>
            <a:off x="5233294" y="2011680"/>
            <a:ext cx="1725107" cy="274320"/>
          </a:xfrm>
          <a:prstGeom prst="rect">
            <a:avLst/>
          </a:prstGeom>
          <a:noFill/>
          <a:ln/>
        </p:spPr>
        <p:txBody>
          <a:bodyPr wrap="square" lIns="0" tIns="0" rIns="0" bIns="0" rtlCol="0" anchor="ctr"/>
          <a:lstStyle/>
          <a:p>
            <a:pPr indent="0" marL="0">
              <a:buNone/>
            </a:pPr>
            <a:r>
              <a:rPr lang="en-US" sz="1050" b="1" dirty="0">
                <a:solidFill>
                  <a:srgbClr val="6B7B83"/>
                </a:solidFill>
                <a:latin typeface="Calibri" pitchFamily="34" charset="0"/>
                <a:ea typeface="Calibri" pitchFamily="34" charset="-122"/>
                <a:cs typeface="Calibri" pitchFamily="34" charset="-120"/>
              </a:rPr>
              <a:t>Clics / ouvertures</a:t>
            </a:r>
            <a:endParaRPr lang="en-US" sz="1050" dirty="0"/>
          </a:p>
        </p:txBody>
      </p:sp>
      <p:sp>
        <p:nvSpPr>
          <p:cNvPr id="21" name="Text 18"/>
          <p:cNvSpPr txBox="1"/>
          <p:nvPr/>
        </p:nvSpPr>
        <p:spPr>
          <a:xfrm>
            <a:off x="5233294" y="2286000"/>
            <a:ext cx="1725107"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4,08 %</a:t>
            </a:r>
            <a:endParaRPr lang="en-US" sz="2400" dirty="0"/>
          </a:p>
        </p:txBody>
      </p:sp>
      <p:sp>
        <p:nvSpPr>
          <p:cNvPr id="22" name="Shape 19"/>
          <p:cNvSpPr/>
          <p:nvPr/>
        </p:nvSpPr>
        <p:spPr>
          <a:xfrm>
            <a:off x="5233294" y="2862072"/>
            <a:ext cx="1725107" cy="274320"/>
          </a:xfrm>
          <a:prstGeom prst="roundRect">
            <a:avLst>
              <a:gd name="adj" fmla="val 50000"/>
            </a:avLst>
          </a:prstGeom>
          <a:solidFill>
            <a:srgbClr val="FFF3D6"/>
          </a:solidFill>
          <a:ln w="12700">
            <a:solidFill>
              <a:srgbClr val="FFF3D6"/>
            </a:solidFill>
            <a:prstDash val="solid"/>
          </a:ln>
        </p:spPr>
      </p:sp>
      <p:sp>
        <p:nvSpPr>
          <p:cNvPr id="23" name="Text 20"/>
          <p:cNvSpPr txBox="1"/>
          <p:nvPr/>
        </p:nvSpPr>
        <p:spPr>
          <a:xfrm>
            <a:off x="5233294" y="2862072"/>
            <a:ext cx="1725107" cy="274320"/>
          </a:xfrm>
          <a:prstGeom prst="rect">
            <a:avLst/>
          </a:prstGeom>
          <a:noFill/>
          <a:ln/>
        </p:spPr>
        <p:txBody>
          <a:bodyPr wrap="square" lIns="0" tIns="0" rIns="0" bIns="0" rtlCol="0" anchor="ctr"/>
          <a:lstStyle/>
          <a:p>
            <a:pPr algn="ctr" indent="0" marL="0">
              <a:buNone/>
            </a:pPr>
            <a:r>
              <a:rPr lang="en-US" sz="900" b="1" spc="100" kern="0" dirty="0">
                <a:solidFill>
                  <a:srgbClr val="D99A00"/>
                </a:solidFill>
                <a:latin typeface="Calibri" pitchFamily="34" charset="0"/>
                <a:ea typeface="Calibri" pitchFamily="34" charset="-122"/>
                <a:cs typeface="Calibri" pitchFamily="34" charset="-120"/>
              </a:rPr>
              <a:t>▼  secteur 11,20 %</a:t>
            </a:r>
            <a:endParaRPr lang="en-US" sz="900" dirty="0"/>
          </a:p>
        </p:txBody>
      </p:sp>
      <p:sp>
        <p:nvSpPr>
          <p:cNvPr id="24" name="Shape 21"/>
          <p:cNvSpPr/>
          <p:nvPr/>
        </p:nvSpPr>
        <p:spPr>
          <a:xfrm>
            <a:off x="7324161" y="1874520"/>
            <a:ext cx="2090867"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5" name="Text 22"/>
          <p:cNvSpPr txBox="1"/>
          <p:nvPr/>
        </p:nvSpPr>
        <p:spPr>
          <a:xfrm>
            <a:off x="7507041" y="2011680"/>
            <a:ext cx="1725107" cy="274320"/>
          </a:xfrm>
          <a:prstGeom prst="rect">
            <a:avLst/>
          </a:prstGeom>
          <a:noFill/>
          <a:ln/>
        </p:spPr>
        <p:txBody>
          <a:bodyPr wrap="square" lIns="0" tIns="0" rIns="0" bIns="0" rtlCol="0" anchor="ctr"/>
          <a:lstStyle/>
          <a:p>
            <a:pPr indent="0" marL="0">
              <a:buNone/>
            </a:pPr>
            <a:r>
              <a:rPr lang="en-US" sz="1050" b="1" dirty="0">
                <a:solidFill>
                  <a:srgbClr val="6B7B83"/>
                </a:solidFill>
                <a:latin typeface="Calibri" pitchFamily="34" charset="0"/>
                <a:ea typeface="Calibri" pitchFamily="34" charset="-122"/>
                <a:cs typeface="Calibri" pitchFamily="34" charset="-120"/>
              </a:rPr>
              <a:t>Clics / délivrés</a:t>
            </a:r>
            <a:endParaRPr lang="en-US" sz="1050" dirty="0"/>
          </a:p>
        </p:txBody>
      </p:sp>
      <p:sp>
        <p:nvSpPr>
          <p:cNvPr id="26" name="Text 23"/>
          <p:cNvSpPr txBox="1"/>
          <p:nvPr/>
        </p:nvSpPr>
        <p:spPr>
          <a:xfrm>
            <a:off x="7507041" y="2286000"/>
            <a:ext cx="1725107"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1,91 %</a:t>
            </a:r>
            <a:endParaRPr lang="en-US" sz="2400" dirty="0"/>
          </a:p>
        </p:txBody>
      </p:sp>
      <p:sp>
        <p:nvSpPr>
          <p:cNvPr id="27" name="Shape 24"/>
          <p:cNvSpPr/>
          <p:nvPr/>
        </p:nvSpPr>
        <p:spPr>
          <a:xfrm>
            <a:off x="7507041" y="2862072"/>
            <a:ext cx="1725107" cy="274320"/>
          </a:xfrm>
          <a:prstGeom prst="roundRect">
            <a:avLst>
              <a:gd name="adj" fmla="val 50000"/>
            </a:avLst>
          </a:prstGeom>
          <a:solidFill>
            <a:srgbClr val="FFF3D6"/>
          </a:solidFill>
          <a:ln w="12700">
            <a:solidFill>
              <a:srgbClr val="FFF3D6"/>
            </a:solidFill>
            <a:prstDash val="solid"/>
          </a:ln>
        </p:spPr>
      </p:sp>
      <p:sp>
        <p:nvSpPr>
          <p:cNvPr id="28" name="Text 25"/>
          <p:cNvSpPr txBox="1"/>
          <p:nvPr/>
        </p:nvSpPr>
        <p:spPr>
          <a:xfrm>
            <a:off x="7507041" y="2862072"/>
            <a:ext cx="1725107" cy="274320"/>
          </a:xfrm>
          <a:prstGeom prst="rect">
            <a:avLst/>
          </a:prstGeom>
          <a:noFill/>
          <a:ln/>
        </p:spPr>
        <p:txBody>
          <a:bodyPr wrap="square" lIns="0" tIns="0" rIns="0" bIns="0" rtlCol="0" anchor="ctr"/>
          <a:lstStyle/>
          <a:p>
            <a:pPr algn="ctr" indent="0" marL="0">
              <a:buNone/>
            </a:pPr>
            <a:r>
              <a:rPr lang="en-US" sz="900" b="1" spc="100" kern="0" dirty="0">
                <a:solidFill>
                  <a:srgbClr val="D99A00"/>
                </a:solidFill>
                <a:latin typeface="Calibri" pitchFamily="34" charset="0"/>
                <a:ea typeface="Calibri" pitchFamily="34" charset="-122"/>
                <a:cs typeface="Calibri" pitchFamily="34" charset="-120"/>
              </a:rPr>
              <a:t>▼  secteur 3,05 %</a:t>
            </a:r>
            <a:endParaRPr lang="en-US" sz="900" dirty="0"/>
          </a:p>
        </p:txBody>
      </p:sp>
      <p:sp>
        <p:nvSpPr>
          <p:cNvPr id="29" name="Shape 26"/>
          <p:cNvSpPr/>
          <p:nvPr/>
        </p:nvSpPr>
        <p:spPr>
          <a:xfrm>
            <a:off x="9597908" y="1874520"/>
            <a:ext cx="2090867" cy="1371600"/>
          </a:xfrm>
          <a:prstGeom prst="roundRect">
            <a:avLst>
              <a:gd name="adj" fmla="val 8000"/>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30" name="Text 27"/>
          <p:cNvSpPr txBox="1"/>
          <p:nvPr/>
        </p:nvSpPr>
        <p:spPr>
          <a:xfrm>
            <a:off x="9780788" y="2011680"/>
            <a:ext cx="1725107" cy="274320"/>
          </a:xfrm>
          <a:prstGeom prst="rect">
            <a:avLst/>
          </a:prstGeom>
          <a:noFill/>
          <a:ln/>
        </p:spPr>
        <p:txBody>
          <a:bodyPr wrap="square" lIns="0" tIns="0" rIns="0" bIns="0" rtlCol="0" anchor="ctr"/>
          <a:lstStyle/>
          <a:p>
            <a:pPr indent="0" marL="0">
              <a:buNone/>
            </a:pPr>
            <a:r>
              <a:rPr lang="en-US" sz="1050" b="1" dirty="0">
                <a:solidFill>
                  <a:srgbClr val="6B7B83"/>
                </a:solidFill>
                <a:latin typeface="Calibri" pitchFamily="34" charset="0"/>
                <a:ea typeface="Calibri" pitchFamily="34" charset="-122"/>
                <a:cs typeface="Calibri" pitchFamily="34" charset="-120"/>
              </a:rPr>
              <a:t>Désabonnement</a:t>
            </a:r>
            <a:endParaRPr lang="en-US" sz="1050" dirty="0"/>
          </a:p>
        </p:txBody>
      </p:sp>
      <p:sp>
        <p:nvSpPr>
          <p:cNvPr id="31" name="Text 28"/>
          <p:cNvSpPr txBox="1"/>
          <p:nvPr/>
        </p:nvSpPr>
        <p:spPr>
          <a:xfrm>
            <a:off x="9780788" y="2286000"/>
            <a:ext cx="1725107" cy="502920"/>
          </a:xfrm>
          <a:prstGeom prst="rect">
            <a:avLst/>
          </a:prstGeom>
          <a:noFill/>
          <a:ln/>
        </p:spPr>
        <p:txBody>
          <a:bodyPr wrap="square" lIns="0" tIns="0" rIns="0" bIns="0" rtlCol="0" anchor="ctr"/>
          <a:lstStyle/>
          <a:p>
            <a:pPr indent="0" marL="0">
              <a:buNone/>
            </a:pPr>
            <a:r>
              <a:rPr lang="en-US" sz="2400" b="1" dirty="0">
                <a:solidFill>
                  <a:srgbClr val="06404F"/>
                </a:solidFill>
                <a:latin typeface="Calibri" pitchFamily="34" charset="0"/>
                <a:ea typeface="Calibri" pitchFamily="34" charset="-122"/>
                <a:cs typeface="Calibri" pitchFamily="34" charset="-120"/>
              </a:rPr>
              <a:t>0,30 %</a:t>
            </a:r>
            <a:endParaRPr lang="en-US" sz="2400" dirty="0"/>
          </a:p>
        </p:txBody>
      </p:sp>
      <p:sp>
        <p:nvSpPr>
          <p:cNvPr id="32" name="Shape 29"/>
          <p:cNvSpPr/>
          <p:nvPr/>
        </p:nvSpPr>
        <p:spPr>
          <a:xfrm>
            <a:off x="9780788" y="2862072"/>
            <a:ext cx="1725107" cy="274320"/>
          </a:xfrm>
          <a:prstGeom prst="roundRect">
            <a:avLst>
              <a:gd name="adj" fmla="val 50000"/>
            </a:avLst>
          </a:prstGeom>
          <a:solidFill>
            <a:srgbClr val="FFF3D6"/>
          </a:solidFill>
          <a:ln w="12700">
            <a:solidFill>
              <a:srgbClr val="FFF3D6"/>
            </a:solidFill>
            <a:prstDash val="solid"/>
          </a:ln>
        </p:spPr>
      </p:sp>
      <p:sp>
        <p:nvSpPr>
          <p:cNvPr id="33" name="Text 30"/>
          <p:cNvSpPr txBox="1"/>
          <p:nvPr/>
        </p:nvSpPr>
        <p:spPr>
          <a:xfrm>
            <a:off x="9780788" y="2862072"/>
            <a:ext cx="1725107" cy="274320"/>
          </a:xfrm>
          <a:prstGeom prst="rect">
            <a:avLst/>
          </a:prstGeom>
          <a:noFill/>
          <a:ln/>
        </p:spPr>
        <p:txBody>
          <a:bodyPr wrap="square" lIns="0" tIns="0" rIns="0" bIns="0" rtlCol="0" anchor="ctr"/>
          <a:lstStyle/>
          <a:p>
            <a:pPr algn="ctr" indent="0" marL="0">
              <a:buNone/>
            </a:pPr>
            <a:r>
              <a:rPr lang="en-US" sz="900" b="1" spc="100" kern="0" dirty="0">
                <a:solidFill>
                  <a:srgbClr val="D99A00"/>
                </a:solidFill>
                <a:latin typeface="Calibri" pitchFamily="34" charset="0"/>
                <a:ea typeface="Calibri" pitchFamily="34" charset="-122"/>
                <a:cs typeface="Calibri" pitchFamily="34" charset="-120"/>
              </a:rPr>
              <a:t>▼  secteur 0,20 %</a:t>
            </a:r>
            <a:endParaRPr lang="en-US" sz="900" dirty="0"/>
          </a:p>
        </p:txBody>
      </p:sp>
      <p:sp>
        <p:nvSpPr>
          <p:cNvPr id="34" name="Shape 31"/>
          <p:cNvSpPr/>
          <p:nvPr/>
        </p:nvSpPr>
        <p:spPr>
          <a:xfrm>
            <a:off x="502920" y="3429000"/>
            <a:ext cx="6035040" cy="2788920"/>
          </a:xfrm>
          <a:prstGeom prst="roundRect">
            <a:avLst>
              <a:gd name="adj" fmla="val 3934"/>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35" name="Text 32"/>
          <p:cNvSpPr txBox="1"/>
          <p:nvPr/>
        </p:nvSpPr>
        <p:spPr>
          <a:xfrm>
            <a:off x="731520" y="3538728"/>
            <a:ext cx="5577840" cy="274320"/>
          </a:xfrm>
          <a:prstGeom prst="rect">
            <a:avLst/>
          </a:prstGeom>
          <a:noFill/>
          <a:ln/>
        </p:spPr>
        <p:txBody>
          <a:bodyPr wrap="square" lIns="0" tIns="0" rIns="0" bIns="0" rtlCol="0" anchor="t"/>
          <a:lstStyle/>
          <a:p>
            <a:pPr indent="0" marL="0">
              <a:buNone/>
            </a:pPr>
            <a:r>
              <a:rPr lang="en-US" sz="1100" b="1" dirty="0">
                <a:solidFill>
                  <a:srgbClr val="6B7B83"/>
                </a:solidFill>
                <a:latin typeface="Calibri" pitchFamily="34" charset="0"/>
                <a:ea typeface="Calibri" pitchFamily="34" charset="-122"/>
                <a:cs typeface="Calibri" pitchFamily="34" charset="-120"/>
              </a:rPr>
              <a:t>Taux d’engagement : Viasanté vs secteur (%)</a:t>
            </a:r>
            <a:endParaRPr lang="en-US" sz="1100" dirty="0"/>
          </a:p>
        </p:txBody>
      </p:sp>
      <p:graphicFrame>
        <p:nvGraphicFramePr>
          <p:cNvPr id="36" name="Chart 0" descr=""/>
          <p:cNvGraphicFramePr/>
          <p:nvPr/>
        </p:nvGraphicFramePr>
        <p:xfrm>
          <a:off x="685800" y="3776472"/>
          <a:ext cx="5669280" cy="2011680"/>
        </p:xfrm>
        <a:graphic xmlns:a="http://schemas.openxmlformats.org/drawingml/2006/main">
          <a:graphicData uri="http://schemas.openxmlformats.org/drawingml/2006/chart">
            <c:chart xmlns:c="http://schemas.openxmlformats.org/drawingml/2006/chart" r:id="rId2"/>
          </a:graphicData>
        </a:graphic>
      </p:graphicFrame>
      <p:sp>
        <p:nvSpPr>
          <p:cNvPr id="37" name="Text 33"/>
          <p:cNvSpPr txBox="1"/>
          <p:nvPr/>
        </p:nvSpPr>
        <p:spPr>
          <a:xfrm>
            <a:off x="731520" y="5925312"/>
            <a:ext cx="5577840" cy="228600"/>
          </a:xfrm>
          <a:prstGeom prst="rect">
            <a:avLst/>
          </a:prstGeom>
          <a:noFill/>
          <a:ln/>
        </p:spPr>
        <p:txBody>
          <a:bodyPr wrap="square" lIns="0" tIns="0" rIns="0" bIns="0" rtlCol="0" anchor="ctr"/>
          <a:lstStyle/>
          <a:p>
            <a:pPr indent="0" marL="0">
              <a:buNone/>
            </a:pPr>
            <a:r>
              <a:rPr lang="en-US" sz="850" i="1" dirty="0">
                <a:solidFill>
                  <a:srgbClr val="6B7B83"/>
                </a:solidFill>
                <a:latin typeface="Calibri" pitchFamily="34" charset="0"/>
                <a:ea typeface="Calibri" pitchFamily="34" charset="-122"/>
                <a:cs typeface="Calibri" pitchFamily="34" charset="-120"/>
              </a:rPr>
              <a:t>Source : Deliverability Report, données au 23/08/2026 · interactions totales, y compris automatisées (bots) — vue « hors bots » disponible sur demande.</a:t>
            </a:r>
            <a:endParaRPr lang="en-US" sz="850" dirty="0"/>
          </a:p>
        </p:txBody>
      </p:sp>
      <p:sp>
        <p:nvSpPr>
          <p:cNvPr id="38" name="Shape 34"/>
          <p:cNvSpPr/>
          <p:nvPr/>
        </p:nvSpPr>
        <p:spPr>
          <a:xfrm>
            <a:off x="6812280" y="3429000"/>
            <a:ext cx="4876495" cy="1325880"/>
          </a:xfrm>
          <a:prstGeom prst="roundRect">
            <a:avLst>
              <a:gd name="adj" fmla="val 8276"/>
            </a:avLst>
          </a:prstGeom>
          <a:solidFill>
            <a:srgbClr val="F2F8F9"/>
          </a:solidFill>
          <a:ln w="12700">
            <a:solidFill>
              <a:srgbClr val="F2F8F9"/>
            </a:solidFill>
            <a:prstDash val="solid"/>
          </a:ln>
        </p:spPr>
      </p:sp>
      <p:sp>
        <p:nvSpPr>
          <p:cNvPr id="39" name="Shape 35"/>
          <p:cNvSpPr/>
          <p:nvPr/>
        </p:nvSpPr>
        <p:spPr>
          <a:xfrm>
            <a:off x="6995160" y="3611880"/>
            <a:ext cx="384048" cy="384048"/>
          </a:xfrm>
          <a:prstGeom prst="ellipse">
            <a:avLst/>
          </a:prstGeom>
          <a:solidFill>
            <a:srgbClr val="06404F"/>
          </a:solidFill>
          <a:ln w="12700">
            <a:solidFill>
              <a:srgbClr val="06404F"/>
            </a:solidFill>
            <a:prstDash val="solid"/>
          </a:ln>
        </p:spPr>
      </p:sp>
      <p:pic>
        <p:nvPicPr>
          <p:cNvPr id="40" name="Image 1" descr="preencoded.png">    </p:cNvPr>
          <p:cNvPicPr>
            <a:picLocks noChangeAspect="1"/>
          </p:cNvPicPr>
          <p:nvPr/>
        </p:nvPicPr>
        <p:blipFill>
          <a:blip r:embed="rId3"/>
          <a:stretch>
            <a:fillRect/>
          </a:stretch>
        </p:blipFill>
        <p:spPr>
          <a:xfrm>
            <a:off x="7095012" y="3711732"/>
            <a:ext cx="184343" cy="184343"/>
          </a:xfrm>
          <a:prstGeom prst="rect">
            <a:avLst/>
          </a:prstGeom>
        </p:spPr>
      </p:pic>
      <p:sp>
        <p:nvSpPr>
          <p:cNvPr id="41" name="Text 36"/>
          <p:cNvSpPr txBox="1"/>
          <p:nvPr/>
        </p:nvSpPr>
        <p:spPr>
          <a:xfrm>
            <a:off x="7498080" y="3611880"/>
            <a:ext cx="4007815" cy="384048"/>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Ce que disent les chiffres</a:t>
            </a:r>
            <a:endParaRPr lang="en-US" sz="1250" dirty="0"/>
          </a:p>
        </p:txBody>
      </p:sp>
      <p:sp>
        <p:nvSpPr>
          <p:cNvPr id="42" name="Text 37"/>
          <p:cNvSpPr txBox="1"/>
          <p:nvPr/>
        </p:nvSpPr>
        <p:spPr>
          <a:xfrm>
            <a:off x="7040880" y="4069080"/>
            <a:ext cx="4419295" cy="54864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99,4 % délivrés et près d’un email sur deux ouvert : la chaîne technique délivre.</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Le clic est en retrait : 1,9 % contre 3,1 % pour le secteur — contenus et appels à l’action sont le levier 2027.</a:t>
            </a:r>
            <a:endParaRPr lang="en-US" sz="1050" dirty="0"/>
          </a:p>
        </p:txBody>
      </p:sp>
      <p:sp>
        <p:nvSpPr>
          <p:cNvPr id="43" name="Shape 38"/>
          <p:cNvSpPr/>
          <p:nvPr/>
        </p:nvSpPr>
        <p:spPr>
          <a:xfrm>
            <a:off x="6812280" y="4892040"/>
            <a:ext cx="4876495" cy="1325880"/>
          </a:xfrm>
          <a:prstGeom prst="roundRect">
            <a:avLst>
              <a:gd name="adj" fmla="val 8276"/>
            </a:avLst>
          </a:prstGeom>
          <a:solidFill>
            <a:srgbClr val="FDEBD9"/>
          </a:solidFill>
          <a:ln w="12700">
            <a:solidFill>
              <a:srgbClr val="FDEBD9"/>
            </a:solidFill>
            <a:prstDash val="solid"/>
          </a:ln>
        </p:spPr>
      </p:sp>
      <p:sp>
        <p:nvSpPr>
          <p:cNvPr id="44" name="Shape 39"/>
          <p:cNvSpPr/>
          <p:nvPr/>
        </p:nvSpPr>
        <p:spPr>
          <a:xfrm>
            <a:off x="6995160" y="5074920"/>
            <a:ext cx="384048" cy="384048"/>
          </a:xfrm>
          <a:prstGeom prst="ellipse">
            <a:avLst/>
          </a:prstGeom>
          <a:solidFill>
            <a:srgbClr val="F28C28"/>
          </a:solidFill>
          <a:ln w="12700">
            <a:solidFill>
              <a:srgbClr val="F28C28"/>
            </a:solidFill>
            <a:prstDash val="solid"/>
          </a:ln>
        </p:spPr>
      </p:sp>
      <p:pic>
        <p:nvPicPr>
          <p:cNvPr id="45" name="Image 2" descr="preencoded.png">    </p:cNvPr>
          <p:cNvPicPr>
            <a:picLocks noChangeAspect="1"/>
          </p:cNvPicPr>
          <p:nvPr/>
        </p:nvPicPr>
        <p:blipFill>
          <a:blip r:embed="rId4"/>
          <a:stretch>
            <a:fillRect/>
          </a:stretch>
        </p:blipFill>
        <p:spPr>
          <a:xfrm>
            <a:off x="7095012" y="5174772"/>
            <a:ext cx="184343" cy="184343"/>
          </a:xfrm>
          <a:prstGeom prst="rect">
            <a:avLst/>
          </a:prstGeom>
        </p:spPr>
      </p:pic>
      <p:sp>
        <p:nvSpPr>
          <p:cNvPr id="46" name="Text 40"/>
          <p:cNvSpPr txBox="1"/>
          <p:nvPr/>
        </p:nvSpPr>
        <p:spPr>
          <a:xfrm>
            <a:off x="7498080" y="5074920"/>
            <a:ext cx="4007815" cy="384048"/>
          </a:xfrm>
          <a:prstGeom prst="rect">
            <a:avLst/>
          </a:prstGeom>
          <a:noFill/>
          <a:ln/>
        </p:spPr>
        <p:txBody>
          <a:bodyPr wrap="square" lIns="0" tIns="0" rIns="0" bIns="0" rtlCol="0" anchor="ctr"/>
          <a:lstStyle/>
          <a:p>
            <a:pPr indent="0" marL="0">
              <a:buNone/>
            </a:pPr>
            <a:r>
              <a:rPr lang="en-US" sz="1250" b="1" dirty="0">
                <a:solidFill>
                  <a:srgbClr val="F28C28"/>
                </a:solidFill>
                <a:latin typeface="Calibri" pitchFamily="34" charset="0"/>
                <a:ea typeface="Calibri" pitchFamily="34" charset="-122"/>
                <a:cs typeface="Calibri" pitchFamily="34" charset="-120"/>
              </a:rPr>
              <a:t>Proposition</a:t>
            </a:r>
            <a:endParaRPr lang="en-US" sz="1250" dirty="0"/>
          </a:p>
        </p:txBody>
      </p:sp>
      <p:sp>
        <p:nvSpPr>
          <p:cNvPr id="47" name="Text 41"/>
          <p:cNvSpPr txBox="1"/>
          <p:nvPr/>
        </p:nvSpPr>
        <p:spPr>
          <a:xfrm>
            <a:off x="7040880" y="5532120"/>
            <a:ext cx="4419295" cy="54864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Atelier d’optimisation en octobre sur trois campagnes prioritaires : contenus, appels à l’action, ciblage, scénarios.</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Objectif partagé : rapprocher votre taux de clics du niveau du secteur.</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ENGAGE</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SMS et RCS : quelle place pour le mobile en 2027 ?</a:t>
            </a:r>
            <a:endParaRPr lang="en-US" sz="26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Près de 0,5 million de SMS délivrés depuis août 2023 · ≈ 20–26 k par mois jusqu’en mai 2025, ≈ 2–3 k par mois depuis juin 2025.</a:t>
            </a:r>
            <a:endParaRPr lang="en-US" sz="1300" dirty="0"/>
          </a:p>
        </p:txBody>
      </p:sp>
      <p:sp>
        <p:nvSpPr>
          <p:cNvPr id="7" name="Text 4"/>
          <p:cNvSpPr txBox="1"/>
          <p:nvPr/>
        </p:nvSpPr>
        <p:spPr>
          <a:xfrm>
            <a:off x="502920" y="6473952"/>
            <a:ext cx="7315200" cy="228600"/>
          </a:xfrm>
          <a:prstGeom prst="rect">
            <a:avLst/>
          </a:prstGeom>
          <a:noFill/>
          <a:ln/>
        </p:spPr>
        <p:txBody>
          <a:bodyPr wrap="square" lIns="0" tIns="0" rIns="0" bIns="0" rtlCol="0" anchor="ctr"/>
          <a:lstStyle/>
          <a:p>
            <a:pPr indent="0" marL="0">
              <a:buNone/>
            </a:pPr>
            <a:r>
              <a:rPr lang="en-US" sz="850" dirty="0">
                <a:solidFill>
                  <a:srgbClr val="6B7B83"/>
                </a:solidFill>
                <a:latin typeface="Calibri" pitchFamily="34" charset="0"/>
                <a:ea typeface="Calibri" pitchFamily="34" charset="-122"/>
                <a:cs typeface="Calibri" pitchFamily="34" charset="-120"/>
              </a:rPr>
              <a:t>COPIL Mutuelle Viasanté · 14 septembre 2026 · Confidentiel</a:t>
            </a:r>
            <a:endParaRPr lang="en-US" sz="850" dirty="0"/>
          </a:p>
        </p:txBody>
      </p:sp>
      <p:sp>
        <p:nvSpPr>
          <p:cNvPr id="8" name="Text 5"/>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850" dirty="0">
                <a:solidFill>
                  <a:srgbClr val="6B7B83"/>
                </a:solidFill>
                <a:latin typeface="Calibri" pitchFamily="34" charset="0"/>
                <a:ea typeface="Calibri" pitchFamily="34" charset="-122"/>
                <a:cs typeface="Calibri" pitchFamily="34" charset="-120"/>
              </a:rPr>
              <a:t>13</a:t>
            </a:r>
            <a:endParaRPr lang="en-US" sz="850" dirty="0"/>
          </a:p>
        </p:txBody>
      </p:sp>
      <p:sp>
        <p:nvSpPr>
          <p:cNvPr id="9" name="Shape 6"/>
          <p:cNvSpPr/>
          <p:nvPr/>
        </p:nvSpPr>
        <p:spPr>
          <a:xfrm>
            <a:off x="502920" y="1965960"/>
            <a:ext cx="6949440" cy="4251960"/>
          </a:xfrm>
          <a:prstGeom prst="roundRect">
            <a:avLst>
              <a:gd name="adj" fmla="val 2581"/>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0" name="Text 7"/>
          <p:cNvSpPr txBox="1"/>
          <p:nvPr/>
        </p:nvSpPr>
        <p:spPr>
          <a:xfrm>
            <a:off x="731520" y="2103120"/>
            <a:ext cx="6492240" cy="274320"/>
          </a:xfrm>
          <a:prstGeom prst="rect">
            <a:avLst/>
          </a:prstGeom>
          <a:noFill/>
          <a:ln/>
        </p:spPr>
        <p:txBody>
          <a:bodyPr wrap="square" lIns="0" tIns="0" rIns="0" bIns="0" rtlCol="0" anchor="t"/>
          <a:lstStyle/>
          <a:p>
            <a:pPr indent="0" marL="0">
              <a:buNone/>
            </a:pPr>
            <a:r>
              <a:rPr lang="en-US" sz="1100" b="1" dirty="0">
                <a:solidFill>
                  <a:srgbClr val="6B7B83"/>
                </a:solidFill>
                <a:latin typeface="Calibri" pitchFamily="34" charset="0"/>
                <a:ea typeface="Calibri" pitchFamily="34" charset="-122"/>
                <a:cs typeface="Calibri" pitchFamily="34" charset="-120"/>
              </a:rPr>
              <a:t>SMS délivrés par mois (milliers) — août 2023 à août 2026</a:t>
            </a:r>
            <a:endParaRPr lang="en-US" sz="1100" dirty="0"/>
          </a:p>
        </p:txBody>
      </p:sp>
      <p:graphicFrame>
        <p:nvGraphicFramePr>
          <p:cNvPr id="11" name="Chart 0" descr=""/>
          <p:cNvGraphicFramePr/>
          <p:nvPr/>
        </p:nvGraphicFramePr>
        <p:xfrm>
          <a:off x="685800" y="2423160"/>
          <a:ext cx="6583680" cy="3383280"/>
        </p:xfrm>
        <a:graphic xmlns:a="http://schemas.openxmlformats.org/drawingml/2006/main">
          <a:graphicData uri="http://schemas.openxmlformats.org/drawingml/2006/chart">
            <c:chart xmlns:c="http://schemas.openxmlformats.org/drawingml/2006/chart" r:id="rId2"/>
          </a:graphicData>
        </a:graphic>
      </p:graphicFrame>
      <p:sp>
        <p:nvSpPr>
          <p:cNvPr id="12" name="Text 8"/>
          <p:cNvSpPr txBox="1"/>
          <p:nvPr/>
        </p:nvSpPr>
        <p:spPr>
          <a:xfrm>
            <a:off x="731520" y="5870448"/>
            <a:ext cx="6492240" cy="274320"/>
          </a:xfrm>
          <a:prstGeom prst="rect">
            <a:avLst/>
          </a:prstGeom>
          <a:noFill/>
          <a:ln/>
        </p:spPr>
        <p:txBody>
          <a:bodyPr wrap="square" lIns="0" tIns="0" rIns="0" bIns="0" rtlCol="0" anchor="t"/>
          <a:lstStyle/>
          <a:p>
            <a:pPr indent="0" marL="0">
              <a:buNone/>
            </a:pPr>
            <a:r>
              <a:rPr lang="en-US" sz="850" i="1" dirty="0">
                <a:solidFill>
                  <a:srgbClr val="6B7B83"/>
                </a:solidFill>
                <a:latin typeface="Calibri" pitchFamily="34" charset="0"/>
                <a:ea typeface="Calibri" pitchFamily="34" charset="-122"/>
                <a:cs typeface="Calibri" pitchFamily="34" charset="-120"/>
              </a:rPr>
              <a:t>Source : dashboard SMS Deliveries, données au 23/08/2026 — valeurs mensuelles arrondies.</a:t>
            </a:r>
            <a:endParaRPr lang="en-US" sz="850" dirty="0"/>
          </a:p>
        </p:txBody>
      </p:sp>
      <p:sp>
        <p:nvSpPr>
          <p:cNvPr id="13" name="Text 9"/>
          <p:cNvSpPr txBox="1"/>
          <p:nvPr/>
        </p:nvSpPr>
        <p:spPr>
          <a:xfrm>
            <a:off x="7726680" y="1965960"/>
            <a:ext cx="3962095" cy="274320"/>
          </a:xfrm>
          <a:prstGeom prst="rect">
            <a:avLst/>
          </a:prstGeom>
          <a:noFill/>
          <a:ln/>
        </p:spPr>
        <p:txBody>
          <a:bodyPr wrap="square" lIns="0" tIns="0" rIns="0" bIns="0" rtlCol="0" anchor="ctr"/>
          <a:lstStyle/>
          <a:p>
            <a:pPr indent="0" marL="0">
              <a:buNone/>
            </a:pPr>
            <a:r>
              <a:rPr lang="en-US" sz="1300" b="1" dirty="0">
                <a:solidFill>
                  <a:srgbClr val="06404F"/>
                </a:solidFill>
                <a:latin typeface="Calibri" pitchFamily="34" charset="0"/>
                <a:ea typeface="Calibri" pitchFamily="34" charset="-122"/>
                <a:cs typeface="Calibri" pitchFamily="34" charset="-120"/>
              </a:rPr>
              <a:t>Passer au RCS : deux options</a:t>
            </a:r>
            <a:endParaRPr lang="en-US" sz="1300" dirty="0"/>
          </a:p>
        </p:txBody>
      </p:sp>
      <p:sp>
        <p:nvSpPr>
          <p:cNvPr id="14" name="Shape 10"/>
          <p:cNvSpPr/>
          <p:nvPr/>
        </p:nvSpPr>
        <p:spPr>
          <a:xfrm>
            <a:off x="7726680" y="2331720"/>
            <a:ext cx="396209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5" name="Shape 11"/>
          <p:cNvSpPr/>
          <p:nvPr/>
        </p:nvSpPr>
        <p:spPr>
          <a:xfrm>
            <a:off x="7909560" y="2487168"/>
            <a:ext cx="384048" cy="384048"/>
          </a:xfrm>
          <a:prstGeom prst="ellipse">
            <a:avLst/>
          </a:prstGeom>
          <a:solidFill>
            <a:srgbClr val="06404F"/>
          </a:solidFill>
          <a:ln w="12700">
            <a:solidFill>
              <a:srgbClr val="06404F"/>
            </a:solidFill>
            <a:prstDash val="solid"/>
          </a:ln>
        </p:spPr>
      </p:sp>
      <p:pic>
        <p:nvPicPr>
          <p:cNvPr id="16" name="Image 1" descr="preencoded.png">    </p:cNvPr>
          <p:cNvPicPr>
            <a:picLocks noChangeAspect="1"/>
          </p:cNvPicPr>
          <p:nvPr/>
        </p:nvPicPr>
        <p:blipFill>
          <a:blip r:embed="rId3"/>
          <a:stretch>
            <a:fillRect/>
          </a:stretch>
        </p:blipFill>
        <p:spPr>
          <a:xfrm>
            <a:off x="8009412" y="2587020"/>
            <a:ext cx="184343" cy="184343"/>
          </a:xfrm>
          <a:prstGeom prst="rect">
            <a:avLst/>
          </a:prstGeom>
        </p:spPr>
      </p:pic>
      <p:sp>
        <p:nvSpPr>
          <p:cNvPr id="17" name="Text 12"/>
          <p:cNvSpPr txBox="1"/>
          <p:nvPr/>
        </p:nvSpPr>
        <p:spPr>
          <a:xfrm>
            <a:off x="8412480" y="2468880"/>
            <a:ext cx="3093415" cy="411480"/>
          </a:xfrm>
          <a:prstGeom prst="rect">
            <a:avLst/>
          </a:prstGeom>
          <a:noFill/>
          <a:ln/>
        </p:spPr>
        <p:txBody>
          <a:bodyPr wrap="square" lIns="0" tIns="0" rIns="0" bIns="0" rtlCol="0" anchor="ctr"/>
          <a:lstStyle/>
          <a:p>
            <a:pPr indent="0" marL="0">
              <a:buNone/>
            </a:pPr>
            <a:r>
              <a:rPr lang="en-US" sz="1200" b="1" dirty="0">
                <a:solidFill>
                  <a:srgbClr val="06404F"/>
                </a:solidFill>
                <a:latin typeface="Calibri" pitchFamily="34" charset="0"/>
                <a:ea typeface="Calibri" pitchFamily="34" charset="-122"/>
                <a:cs typeface="Calibri" pitchFamily="34" charset="-120"/>
              </a:rPr>
              <a:t>LinkMobility — connecteur natif</a:t>
            </a:r>
            <a:endParaRPr lang="en-US" sz="1200" dirty="0"/>
          </a:p>
        </p:txBody>
      </p:sp>
      <p:sp>
        <p:nvSpPr>
          <p:cNvPr id="18" name="Text 13"/>
          <p:cNvSpPr txBox="1"/>
          <p:nvPr/>
        </p:nvSpPr>
        <p:spPr>
          <a:xfrm>
            <a:off x="7955280" y="2953512"/>
            <a:ext cx="3504895" cy="731520"/>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1F2A30"/>
                </a:solidFill>
                <a:latin typeface="Calibri" pitchFamily="34" charset="0"/>
                <a:ea typeface="Calibri" pitchFamily="34" charset="-122"/>
                <a:cs typeface="Calibri" pitchFamily="34" charset="-120"/>
              </a:rPr>
              <a:t>Connecteur prêt, intégration par API (plus de SFTP)</a:t>
            </a:r>
            <a:endParaRPr lang="en-US" sz="1050" dirty="0"/>
          </a:p>
          <a:p>
            <a:pPr marL="152400" indent="-152400">
              <a:spcAft>
                <a:spcPts val="300"/>
              </a:spcAft>
              <a:buSzPct val="100000"/>
              <a:buChar char="•"/>
            </a:pPr>
            <a:r>
              <a:rPr lang="en-US" sz="1050" dirty="0">
                <a:solidFill>
                  <a:srgbClr val="1F2A30"/>
                </a:solidFill>
                <a:latin typeface="Calibri" pitchFamily="34" charset="0"/>
                <a:ea typeface="Calibri" pitchFamily="34" charset="-122"/>
                <a:cs typeface="Calibri" pitchFamily="34" charset="-120"/>
              </a:rPr>
              <a:t>Sans interface dédiée ni prévisualisation</a:t>
            </a:r>
            <a:endParaRPr lang="en-US" sz="1050" dirty="0"/>
          </a:p>
          <a:p>
            <a:pPr marL="152400" indent="-152400">
              <a:spcAft>
                <a:spcPts val="300"/>
              </a:spcAft>
              <a:buSzPct val="100000"/>
              <a:buChar char="•"/>
            </a:pPr>
            <a:r>
              <a:rPr lang="en-US" sz="1050" dirty="0">
                <a:solidFill>
                  <a:srgbClr val="1F2A30"/>
                </a:solidFill>
                <a:latin typeface="Calibri" pitchFamily="34" charset="0"/>
                <a:ea typeface="Calibri" pitchFamily="34" charset="-122"/>
                <a:cs typeface="Calibri" pitchFamily="34" charset="-120"/>
              </a:rPr>
              <a:t>Mise en œuvre rapide, simple et efficace</a:t>
            </a:r>
            <a:endParaRPr lang="en-US" sz="1050" dirty="0"/>
          </a:p>
        </p:txBody>
      </p:sp>
      <p:sp>
        <p:nvSpPr>
          <p:cNvPr id="19" name="Shape 14"/>
          <p:cNvSpPr/>
          <p:nvPr/>
        </p:nvSpPr>
        <p:spPr>
          <a:xfrm>
            <a:off x="7726680" y="3886200"/>
            <a:ext cx="3962095" cy="1417320"/>
          </a:xfrm>
          <a:prstGeom prst="roundRect">
            <a:avLst>
              <a:gd name="adj" fmla="val 7742"/>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0" name="Shape 15"/>
          <p:cNvSpPr/>
          <p:nvPr/>
        </p:nvSpPr>
        <p:spPr>
          <a:xfrm>
            <a:off x="7909560" y="4041648"/>
            <a:ext cx="384048" cy="384048"/>
          </a:xfrm>
          <a:prstGeom prst="ellipse">
            <a:avLst/>
          </a:prstGeom>
          <a:solidFill>
            <a:srgbClr val="06404F"/>
          </a:solidFill>
          <a:ln w="12700">
            <a:solidFill>
              <a:srgbClr val="06404F"/>
            </a:solidFill>
            <a:prstDash val="solid"/>
          </a:ln>
        </p:spPr>
      </p:sp>
      <p:pic>
        <p:nvPicPr>
          <p:cNvPr id="21" name="Image 2" descr="preencoded.png">    </p:cNvPr>
          <p:cNvPicPr>
            <a:picLocks noChangeAspect="1"/>
          </p:cNvPicPr>
          <p:nvPr/>
        </p:nvPicPr>
        <p:blipFill>
          <a:blip r:embed="rId4"/>
          <a:stretch>
            <a:fillRect/>
          </a:stretch>
        </p:blipFill>
        <p:spPr>
          <a:xfrm>
            <a:off x="8009412" y="4141500"/>
            <a:ext cx="184343" cy="184343"/>
          </a:xfrm>
          <a:prstGeom prst="rect">
            <a:avLst/>
          </a:prstGeom>
        </p:spPr>
      </p:pic>
      <p:sp>
        <p:nvSpPr>
          <p:cNvPr id="22" name="Text 16"/>
          <p:cNvSpPr txBox="1"/>
          <p:nvPr/>
        </p:nvSpPr>
        <p:spPr>
          <a:xfrm>
            <a:off x="8412480" y="4023360"/>
            <a:ext cx="3093415" cy="411480"/>
          </a:xfrm>
          <a:prstGeom prst="rect">
            <a:avLst/>
          </a:prstGeom>
          <a:noFill/>
          <a:ln/>
        </p:spPr>
        <p:txBody>
          <a:bodyPr wrap="square" lIns="0" tIns="0" rIns="0" bIns="0" rtlCol="0" anchor="ctr"/>
          <a:lstStyle/>
          <a:p>
            <a:pPr indent="0" marL="0">
              <a:buNone/>
            </a:pPr>
            <a:r>
              <a:rPr lang="en-US" sz="1200" b="1" dirty="0">
                <a:solidFill>
                  <a:srgbClr val="06404F"/>
                </a:solidFill>
                <a:latin typeface="Calibri" pitchFamily="34" charset="0"/>
                <a:ea typeface="Calibri" pitchFamily="34" charset="-122"/>
                <a:cs typeface="Calibri" pitchFamily="34" charset="-120"/>
              </a:rPr>
              <a:t>Infobip — expérience enrichie</a:t>
            </a:r>
            <a:endParaRPr lang="en-US" sz="1200" dirty="0"/>
          </a:p>
        </p:txBody>
      </p:sp>
      <p:sp>
        <p:nvSpPr>
          <p:cNvPr id="23" name="Text 17"/>
          <p:cNvSpPr txBox="1"/>
          <p:nvPr/>
        </p:nvSpPr>
        <p:spPr>
          <a:xfrm>
            <a:off x="7955280" y="4507992"/>
            <a:ext cx="3504895" cy="731520"/>
          </a:xfrm>
          <a:prstGeom prst="rect">
            <a:avLst/>
          </a:prstGeom>
          <a:noFill/>
          <a:ln/>
        </p:spPr>
        <p:txBody>
          <a:bodyPr wrap="square" lIns="0" tIns="0" rIns="0" bIns="0" rtlCol="0" anchor="t"/>
          <a:lstStyle/>
          <a:p>
            <a:pPr marL="152400" indent="-152400">
              <a:spcAft>
                <a:spcPts val="300"/>
              </a:spcAft>
              <a:buSzPct val="100000"/>
              <a:buChar char="•"/>
            </a:pPr>
            <a:r>
              <a:rPr lang="en-US" sz="1050" dirty="0">
                <a:solidFill>
                  <a:srgbClr val="1F2A30"/>
                </a:solidFill>
                <a:latin typeface="Calibri" pitchFamily="34" charset="0"/>
                <a:ea typeface="Calibri" pitchFamily="34" charset="-122"/>
                <a:cs typeface="Calibri" pitchFamily="34" charset="-120"/>
              </a:rPr>
              <a:t>Interface de conception et prévisualisation</a:t>
            </a:r>
            <a:endParaRPr lang="en-US" sz="1050" dirty="0"/>
          </a:p>
          <a:p>
            <a:pPr marL="152400" indent="-152400">
              <a:spcAft>
                <a:spcPts val="300"/>
              </a:spcAft>
              <a:buSzPct val="100000"/>
              <a:buChar char="•"/>
            </a:pPr>
            <a:r>
              <a:rPr lang="en-US" sz="1050" dirty="0">
                <a:solidFill>
                  <a:srgbClr val="1F2A30"/>
                </a:solidFill>
                <a:latin typeface="Calibri" pitchFamily="34" charset="0"/>
                <a:ea typeface="Calibri" pitchFamily="34" charset="-122"/>
                <a:cs typeface="Calibri" pitchFamily="34" charset="-120"/>
              </a:rPr>
              <a:t>Orchestration plus riche pour le marketing</a:t>
            </a:r>
            <a:endParaRPr lang="en-US" sz="1050" dirty="0"/>
          </a:p>
          <a:p>
            <a:pPr marL="152400" indent="-152400">
              <a:spcAft>
                <a:spcPts val="300"/>
              </a:spcAft>
              <a:buSzPct val="100000"/>
              <a:buChar char="•"/>
            </a:pPr>
            <a:r>
              <a:rPr lang="en-US" sz="1050" dirty="0">
                <a:solidFill>
                  <a:srgbClr val="1F2A30"/>
                </a:solidFill>
                <a:latin typeface="Calibri" pitchFamily="34" charset="0"/>
                <a:ea typeface="Calibri" pitchFamily="34" charset="-122"/>
                <a:cs typeface="Calibri" pitchFamily="34" charset="-120"/>
              </a:rPr>
              <a:t>Adapté à une ambition RCS plus large</a:t>
            </a:r>
            <a:endParaRPr lang="en-US" sz="1050" dirty="0"/>
          </a:p>
        </p:txBody>
      </p:sp>
      <p:sp>
        <p:nvSpPr>
          <p:cNvPr id="24" name="Shape 18"/>
          <p:cNvSpPr/>
          <p:nvPr/>
        </p:nvSpPr>
        <p:spPr>
          <a:xfrm>
            <a:off x="7726680" y="5440680"/>
            <a:ext cx="3962095" cy="777240"/>
          </a:xfrm>
          <a:prstGeom prst="roundRect">
            <a:avLst>
              <a:gd name="adj" fmla="val 14118"/>
            </a:avLst>
          </a:prstGeom>
          <a:solidFill>
            <a:srgbClr val="FDEBD9"/>
          </a:solidFill>
          <a:ln w="12700">
            <a:solidFill>
              <a:srgbClr val="FDEBD9"/>
            </a:solidFill>
            <a:prstDash val="solid"/>
          </a:ln>
        </p:spPr>
      </p:sp>
      <p:sp>
        <p:nvSpPr>
          <p:cNvPr id="25" name="Shape 19"/>
          <p:cNvSpPr/>
          <p:nvPr/>
        </p:nvSpPr>
        <p:spPr>
          <a:xfrm>
            <a:off x="7909560" y="5637276"/>
            <a:ext cx="384048" cy="384048"/>
          </a:xfrm>
          <a:prstGeom prst="ellipse">
            <a:avLst/>
          </a:prstGeom>
          <a:solidFill>
            <a:srgbClr val="F28C28"/>
          </a:solidFill>
          <a:ln w="12700">
            <a:solidFill>
              <a:srgbClr val="F28C28"/>
            </a:solidFill>
            <a:prstDash val="solid"/>
          </a:ln>
        </p:spPr>
      </p:sp>
      <p:pic>
        <p:nvPicPr>
          <p:cNvPr id="26" name="Image 3" descr="preencoded.png">    </p:cNvPr>
          <p:cNvPicPr>
            <a:picLocks noChangeAspect="1"/>
          </p:cNvPicPr>
          <p:nvPr/>
        </p:nvPicPr>
        <p:blipFill>
          <a:blip r:embed="rId5"/>
          <a:stretch>
            <a:fillRect/>
          </a:stretch>
        </p:blipFill>
        <p:spPr>
          <a:xfrm>
            <a:off x="8009412" y="5737128"/>
            <a:ext cx="184343" cy="184343"/>
          </a:xfrm>
          <a:prstGeom prst="rect">
            <a:avLst/>
          </a:prstGeom>
        </p:spPr>
      </p:pic>
      <p:sp>
        <p:nvSpPr>
          <p:cNvPr id="27" name="Text 20"/>
          <p:cNvSpPr txBox="1"/>
          <p:nvPr/>
        </p:nvSpPr>
        <p:spPr>
          <a:xfrm>
            <a:off x="8412480" y="5440680"/>
            <a:ext cx="1234440" cy="777240"/>
          </a:xfrm>
          <a:prstGeom prst="rect">
            <a:avLst/>
          </a:prstGeom>
          <a:noFill/>
          <a:ln/>
        </p:spPr>
        <p:txBody>
          <a:bodyPr wrap="square" lIns="0" tIns="0" rIns="0" bIns="0" rtlCol="0" anchor="ctr"/>
          <a:lstStyle/>
          <a:p>
            <a:pPr indent="0" marL="0">
              <a:buNone/>
            </a:pPr>
            <a:r>
              <a:rPr lang="en-US" sz="1250" b="1" dirty="0">
                <a:solidFill>
                  <a:srgbClr val="F28C28"/>
                </a:solidFill>
                <a:latin typeface="Calibri" pitchFamily="34" charset="0"/>
                <a:ea typeface="Calibri" pitchFamily="34" charset="-122"/>
                <a:cs typeface="Calibri" pitchFamily="34" charset="-120"/>
              </a:rPr>
              <a:t>À décider ensemble</a:t>
            </a:r>
            <a:endParaRPr lang="en-US" sz="1250" dirty="0"/>
          </a:p>
        </p:txBody>
      </p:sp>
      <p:sp>
        <p:nvSpPr>
          <p:cNvPr id="28" name="Text 21"/>
          <p:cNvSpPr txBox="1"/>
          <p:nvPr/>
        </p:nvSpPr>
        <p:spPr>
          <a:xfrm>
            <a:off x="9738360" y="5440680"/>
            <a:ext cx="1721815" cy="777240"/>
          </a:xfrm>
          <a:prstGeom prst="rect">
            <a:avLst/>
          </a:prstGeom>
          <a:noFill/>
          <a:ln/>
        </p:spPr>
        <p:txBody>
          <a:bodyPr wrap="square" lIns="0" tIns="0" rIns="0" bIns="0" rtlCol="0" anchor="ctr"/>
          <a:lstStyle/>
          <a:p>
            <a:pPr indent="0" marL="0">
              <a:buNone/>
            </a:pPr>
            <a:r>
              <a:rPr lang="en-US" sz="1050" dirty="0">
                <a:solidFill>
                  <a:srgbClr val="1F2A30"/>
                </a:solidFill>
                <a:latin typeface="Calibri" pitchFamily="34" charset="0"/>
                <a:ea typeface="Calibri" pitchFamily="34" charset="-122"/>
                <a:cs typeface="Calibri" pitchFamily="34" charset="-120"/>
              </a:rPr>
              <a:t>Quel niveau d’expérience RCS vos équipes attendent-elles : industrialisation rapide ou orchestration riche ?</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ENGAGE</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200" b="1" dirty="0">
                <a:solidFill>
                  <a:srgbClr val="06404F"/>
                </a:solidFill>
                <a:latin typeface="Calibri" pitchFamily="34" charset="0"/>
                <a:ea typeface="Calibri" pitchFamily="34" charset="-122"/>
                <a:cs typeface="Calibri" pitchFamily="34" charset="-120"/>
              </a:rPr>
              <a:t>Nouveau SSO Engage : fenêtre cible au 1er trimestre 2027</a:t>
            </a:r>
            <a:endParaRPr lang="en-US" sz="22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Une trajectoire produit progressive pour le nouveau système d’authentification ; votre accès actuel reste en place jusqu’à la bascule.</a:t>
            </a:r>
            <a:endParaRPr lang="en-US" sz="1300" dirty="0"/>
          </a:p>
        </p:txBody>
      </p:sp>
      <p:sp>
        <p:nvSpPr>
          <p:cNvPr id="7" name="Text 4"/>
          <p:cNvSpPr txBox="1"/>
          <p:nvPr/>
        </p:nvSpPr>
        <p:spPr>
          <a:xfrm>
            <a:off x="502920" y="6473952"/>
            <a:ext cx="7315200" cy="228600"/>
          </a:xfrm>
          <a:prstGeom prst="rect">
            <a:avLst/>
          </a:prstGeom>
          <a:noFill/>
          <a:ln/>
        </p:spPr>
        <p:txBody>
          <a:bodyPr wrap="square" lIns="0" tIns="0" rIns="0" bIns="0" rtlCol="0" anchor="ctr"/>
          <a:lstStyle/>
          <a:p>
            <a:pPr indent="0" marL="0">
              <a:buNone/>
            </a:pPr>
            <a:r>
              <a:rPr lang="en-US" sz="850" dirty="0">
                <a:solidFill>
                  <a:srgbClr val="6B7B83"/>
                </a:solidFill>
                <a:latin typeface="Calibri" pitchFamily="34" charset="0"/>
                <a:ea typeface="Calibri" pitchFamily="34" charset="-122"/>
                <a:cs typeface="Calibri" pitchFamily="34" charset="-120"/>
              </a:rPr>
              <a:t>COPIL Mutuelle Viasanté · 14 septembre 2026 · Confidentiel</a:t>
            </a:r>
            <a:endParaRPr lang="en-US" sz="850" dirty="0"/>
          </a:p>
        </p:txBody>
      </p:sp>
      <p:sp>
        <p:nvSpPr>
          <p:cNvPr id="8" name="Text 5"/>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850" dirty="0">
                <a:solidFill>
                  <a:srgbClr val="6B7B83"/>
                </a:solidFill>
                <a:latin typeface="Calibri" pitchFamily="34" charset="0"/>
                <a:ea typeface="Calibri" pitchFamily="34" charset="-122"/>
                <a:cs typeface="Calibri" pitchFamily="34" charset="-120"/>
              </a:rPr>
              <a:t>14</a:t>
            </a:r>
            <a:endParaRPr lang="en-US" sz="850" dirty="0"/>
          </a:p>
        </p:txBody>
      </p:sp>
      <p:sp>
        <p:nvSpPr>
          <p:cNvPr id="9" name="Shape 6"/>
          <p:cNvSpPr/>
          <p:nvPr/>
        </p:nvSpPr>
        <p:spPr>
          <a:xfrm>
            <a:off x="502920" y="2011680"/>
            <a:ext cx="3655466" cy="548640"/>
          </a:xfrm>
          <a:prstGeom prst="homePlate">
            <a:avLst/>
          </a:prstGeom>
          <a:solidFill>
            <a:srgbClr val="3D8E9C"/>
          </a:solidFill>
          <a:ln w="12700">
            <a:solidFill>
              <a:srgbClr val="3D8E9C"/>
            </a:solidFill>
            <a:prstDash val="solid"/>
          </a:ln>
        </p:spPr>
      </p:sp>
      <p:sp>
        <p:nvSpPr>
          <p:cNvPr id="10" name="Text 7"/>
          <p:cNvSpPr txBox="1"/>
          <p:nvPr/>
        </p:nvSpPr>
        <p:spPr>
          <a:xfrm>
            <a:off x="640080" y="2011680"/>
            <a:ext cx="3106826"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Aujourd’hui</a:t>
            </a:r>
            <a:endParaRPr lang="en-US" sz="1300" dirty="0"/>
          </a:p>
        </p:txBody>
      </p:sp>
      <p:sp>
        <p:nvSpPr>
          <p:cNvPr id="11" name="Shape 8"/>
          <p:cNvSpPr/>
          <p:nvPr/>
        </p:nvSpPr>
        <p:spPr>
          <a:xfrm>
            <a:off x="502920" y="2743200"/>
            <a:ext cx="3655466" cy="1508760"/>
          </a:xfrm>
          <a:prstGeom prst="roundRect">
            <a:avLst>
              <a:gd name="adj" fmla="val 727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2" name="Shape 9"/>
          <p:cNvSpPr/>
          <p:nvPr/>
        </p:nvSpPr>
        <p:spPr>
          <a:xfrm>
            <a:off x="704088" y="2926080"/>
            <a:ext cx="457200" cy="457200"/>
          </a:xfrm>
          <a:prstGeom prst="ellipse">
            <a:avLst/>
          </a:prstGeom>
          <a:solidFill>
            <a:srgbClr val="E4F0F2"/>
          </a:solidFill>
          <a:ln w="12700">
            <a:solidFill>
              <a:srgbClr val="E4F0F2"/>
            </a:solidFill>
            <a:prstDash val="solid"/>
          </a:ln>
        </p:spPr>
      </p:sp>
      <p:pic>
        <p:nvPicPr>
          <p:cNvPr id="13" name="Image 1" descr="preencoded.png">    </p:cNvPr>
          <p:cNvPicPr>
            <a:picLocks noChangeAspect="1"/>
          </p:cNvPicPr>
          <p:nvPr/>
        </p:nvPicPr>
        <p:blipFill>
          <a:blip r:embed="rId2"/>
          <a:stretch>
            <a:fillRect/>
          </a:stretch>
        </p:blipFill>
        <p:spPr>
          <a:xfrm>
            <a:off x="822960" y="3044952"/>
            <a:ext cx="219456" cy="219456"/>
          </a:xfrm>
          <a:prstGeom prst="rect">
            <a:avLst/>
          </a:prstGeom>
        </p:spPr>
      </p:pic>
      <p:sp>
        <p:nvSpPr>
          <p:cNvPr id="14" name="Text 10"/>
          <p:cNvSpPr txBox="1"/>
          <p:nvPr/>
        </p:nvSpPr>
        <p:spPr>
          <a:xfrm>
            <a:off x="1280160" y="2926080"/>
            <a:ext cx="2695346" cy="45720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Authentification actuelle</a:t>
            </a:r>
            <a:endParaRPr lang="en-US" sz="1250" dirty="0"/>
          </a:p>
        </p:txBody>
      </p:sp>
      <p:sp>
        <p:nvSpPr>
          <p:cNvPr id="15" name="Text 11"/>
          <p:cNvSpPr txBox="1"/>
          <p:nvPr/>
        </p:nvSpPr>
        <p:spPr>
          <a:xfrm>
            <a:off x="704088" y="3474720"/>
            <a:ext cx="3253130" cy="731520"/>
          </a:xfrm>
          <a:prstGeom prst="rect">
            <a:avLst/>
          </a:prstGeom>
          <a:noFill/>
          <a:ln/>
        </p:spPr>
        <p:txBody>
          <a:bodyPr wrap="square" lIns="0" tIns="0" rIns="0" bIns="0" rtlCol="0" anchor="t"/>
          <a:lstStyle/>
          <a:p>
            <a:pPr indent="0" marL="0">
              <a:buNone/>
            </a:pPr>
            <a:r>
              <a:rPr lang="en-US" sz="1100" dirty="0">
                <a:solidFill>
                  <a:srgbClr val="1F2A30"/>
                </a:solidFill>
                <a:latin typeface="Calibri" pitchFamily="34" charset="0"/>
                <a:ea typeface="Calibri" pitchFamily="34" charset="-122"/>
                <a:cs typeface="Calibri" pitchFamily="34" charset="-120"/>
              </a:rPr>
              <a:t>Fonctionnement inchangé et support assuré jusqu’à la bascule.</a:t>
            </a:r>
            <a:endParaRPr lang="en-US" sz="1100" dirty="0"/>
          </a:p>
        </p:txBody>
      </p:sp>
      <p:sp>
        <p:nvSpPr>
          <p:cNvPr id="16" name="Shape 12"/>
          <p:cNvSpPr/>
          <p:nvPr/>
        </p:nvSpPr>
        <p:spPr>
          <a:xfrm>
            <a:off x="4268114" y="2011680"/>
            <a:ext cx="3655466" cy="548640"/>
          </a:xfrm>
          <a:prstGeom prst="chevron">
            <a:avLst/>
          </a:prstGeom>
          <a:solidFill>
            <a:srgbClr val="06404F"/>
          </a:solidFill>
          <a:ln w="12700">
            <a:solidFill>
              <a:srgbClr val="06404F"/>
            </a:solidFill>
            <a:prstDash val="solid"/>
          </a:ln>
        </p:spPr>
      </p:sp>
      <p:sp>
        <p:nvSpPr>
          <p:cNvPr id="17" name="Text 13"/>
          <p:cNvSpPr txBox="1"/>
          <p:nvPr/>
        </p:nvSpPr>
        <p:spPr>
          <a:xfrm>
            <a:off x="4588154" y="2011680"/>
            <a:ext cx="3106826"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Fenêtre cible : 1er trimestre 2027</a:t>
            </a:r>
            <a:endParaRPr lang="en-US" sz="1300" dirty="0"/>
          </a:p>
        </p:txBody>
      </p:sp>
      <p:sp>
        <p:nvSpPr>
          <p:cNvPr id="18" name="Shape 14"/>
          <p:cNvSpPr/>
          <p:nvPr/>
        </p:nvSpPr>
        <p:spPr>
          <a:xfrm>
            <a:off x="4268114" y="2743200"/>
            <a:ext cx="3655466" cy="1508760"/>
          </a:xfrm>
          <a:prstGeom prst="roundRect">
            <a:avLst>
              <a:gd name="adj" fmla="val 727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9" name="Shape 15"/>
          <p:cNvSpPr/>
          <p:nvPr/>
        </p:nvSpPr>
        <p:spPr>
          <a:xfrm>
            <a:off x="4469282" y="2926080"/>
            <a:ext cx="457200" cy="457200"/>
          </a:xfrm>
          <a:prstGeom prst="ellipse">
            <a:avLst/>
          </a:prstGeom>
          <a:solidFill>
            <a:srgbClr val="E4F0F2"/>
          </a:solidFill>
          <a:ln w="12700">
            <a:solidFill>
              <a:srgbClr val="E4F0F2"/>
            </a:solidFill>
            <a:prstDash val="solid"/>
          </a:ln>
        </p:spPr>
      </p:sp>
      <p:pic>
        <p:nvPicPr>
          <p:cNvPr id="20" name="Image 2" descr="preencoded.png">    </p:cNvPr>
          <p:cNvPicPr>
            <a:picLocks noChangeAspect="1"/>
          </p:cNvPicPr>
          <p:nvPr/>
        </p:nvPicPr>
        <p:blipFill>
          <a:blip r:embed="rId3"/>
          <a:stretch>
            <a:fillRect/>
          </a:stretch>
        </p:blipFill>
        <p:spPr>
          <a:xfrm>
            <a:off x="4588154" y="3044952"/>
            <a:ext cx="219456" cy="219456"/>
          </a:xfrm>
          <a:prstGeom prst="rect">
            <a:avLst/>
          </a:prstGeom>
        </p:spPr>
      </p:pic>
      <p:sp>
        <p:nvSpPr>
          <p:cNvPr id="21" name="Text 16"/>
          <p:cNvSpPr txBox="1"/>
          <p:nvPr/>
        </p:nvSpPr>
        <p:spPr>
          <a:xfrm>
            <a:off x="5045354" y="2926080"/>
            <a:ext cx="2695346" cy="45720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Nouveau SSO Engage</a:t>
            </a:r>
            <a:endParaRPr lang="en-US" sz="1250" dirty="0"/>
          </a:p>
        </p:txBody>
      </p:sp>
      <p:sp>
        <p:nvSpPr>
          <p:cNvPr id="22" name="Text 17"/>
          <p:cNvSpPr txBox="1"/>
          <p:nvPr/>
        </p:nvSpPr>
        <p:spPr>
          <a:xfrm>
            <a:off x="4469282" y="3474720"/>
            <a:ext cx="3253130" cy="731520"/>
          </a:xfrm>
          <a:prstGeom prst="rect">
            <a:avLst/>
          </a:prstGeom>
          <a:noFill/>
          <a:ln/>
        </p:spPr>
        <p:txBody>
          <a:bodyPr wrap="square" lIns="0" tIns="0" rIns="0" bIns="0" rtlCol="0" anchor="t"/>
          <a:lstStyle/>
          <a:p>
            <a:pPr indent="0" marL="0">
              <a:buNone/>
            </a:pPr>
            <a:r>
              <a:rPr lang="en-US" sz="1100" dirty="0">
                <a:solidFill>
                  <a:srgbClr val="1F2A30"/>
                </a:solidFill>
                <a:latin typeface="Calibri" pitchFamily="34" charset="0"/>
                <a:ea typeface="Calibri" pitchFamily="34" charset="-122"/>
                <a:cs typeface="Calibri" pitchFamily="34" charset="-120"/>
              </a:rPr>
              <a:t>Mise à disposition du nouveau système d’authentification — trajectoire produit, pas avant cette fenêtre.</a:t>
            </a:r>
            <a:endParaRPr lang="en-US" sz="1100" dirty="0"/>
          </a:p>
        </p:txBody>
      </p:sp>
      <p:sp>
        <p:nvSpPr>
          <p:cNvPr id="23" name="Shape 18"/>
          <p:cNvSpPr/>
          <p:nvPr/>
        </p:nvSpPr>
        <p:spPr>
          <a:xfrm>
            <a:off x="8033309" y="2011680"/>
            <a:ext cx="3655466" cy="548640"/>
          </a:xfrm>
          <a:prstGeom prst="chevron">
            <a:avLst/>
          </a:prstGeom>
          <a:solidFill>
            <a:srgbClr val="F28C28"/>
          </a:solidFill>
          <a:ln w="12700">
            <a:solidFill>
              <a:srgbClr val="F28C28"/>
            </a:solidFill>
            <a:prstDash val="solid"/>
          </a:ln>
        </p:spPr>
      </p:sp>
      <p:sp>
        <p:nvSpPr>
          <p:cNvPr id="24" name="Text 19"/>
          <p:cNvSpPr txBox="1"/>
          <p:nvPr/>
        </p:nvSpPr>
        <p:spPr>
          <a:xfrm>
            <a:off x="8353349" y="2011680"/>
            <a:ext cx="3106826" cy="54864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Ensuite</a:t>
            </a:r>
            <a:endParaRPr lang="en-US" sz="1300" dirty="0"/>
          </a:p>
        </p:txBody>
      </p:sp>
      <p:sp>
        <p:nvSpPr>
          <p:cNvPr id="25" name="Shape 20"/>
          <p:cNvSpPr/>
          <p:nvPr/>
        </p:nvSpPr>
        <p:spPr>
          <a:xfrm>
            <a:off x="8033309" y="2743200"/>
            <a:ext cx="3655466" cy="1508760"/>
          </a:xfrm>
          <a:prstGeom prst="roundRect">
            <a:avLst>
              <a:gd name="adj" fmla="val 727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6" name="Shape 21"/>
          <p:cNvSpPr/>
          <p:nvPr/>
        </p:nvSpPr>
        <p:spPr>
          <a:xfrm>
            <a:off x="8234477" y="2926080"/>
            <a:ext cx="457200" cy="457200"/>
          </a:xfrm>
          <a:prstGeom prst="ellipse">
            <a:avLst/>
          </a:prstGeom>
          <a:solidFill>
            <a:srgbClr val="E4F0F2"/>
          </a:solidFill>
          <a:ln w="12700">
            <a:solidFill>
              <a:srgbClr val="E4F0F2"/>
            </a:solidFill>
            <a:prstDash val="solid"/>
          </a:ln>
        </p:spPr>
      </p:sp>
      <p:pic>
        <p:nvPicPr>
          <p:cNvPr id="27" name="Image 3" descr="preencoded.png">    </p:cNvPr>
          <p:cNvPicPr>
            <a:picLocks noChangeAspect="1"/>
          </p:cNvPicPr>
          <p:nvPr/>
        </p:nvPicPr>
        <p:blipFill>
          <a:blip r:embed="rId4"/>
          <a:stretch>
            <a:fillRect/>
          </a:stretch>
        </p:blipFill>
        <p:spPr>
          <a:xfrm>
            <a:off x="8353349" y="3044952"/>
            <a:ext cx="219456" cy="219456"/>
          </a:xfrm>
          <a:prstGeom prst="rect">
            <a:avLst/>
          </a:prstGeom>
        </p:spPr>
      </p:pic>
      <p:sp>
        <p:nvSpPr>
          <p:cNvPr id="28" name="Text 22"/>
          <p:cNvSpPr txBox="1"/>
          <p:nvPr/>
        </p:nvSpPr>
        <p:spPr>
          <a:xfrm>
            <a:off x="8810549" y="2926080"/>
            <a:ext cx="2695346" cy="45720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Bascule accompagnée</a:t>
            </a:r>
            <a:endParaRPr lang="en-US" sz="1250" dirty="0"/>
          </a:p>
        </p:txBody>
      </p:sp>
      <p:sp>
        <p:nvSpPr>
          <p:cNvPr id="29" name="Text 23"/>
          <p:cNvSpPr txBox="1"/>
          <p:nvPr/>
        </p:nvSpPr>
        <p:spPr>
          <a:xfrm>
            <a:off x="8234477" y="3474720"/>
            <a:ext cx="3253130" cy="731520"/>
          </a:xfrm>
          <a:prstGeom prst="rect">
            <a:avLst/>
          </a:prstGeom>
          <a:noFill/>
          <a:ln/>
        </p:spPr>
        <p:txBody>
          <a:bodyPr wrap="square" lIns="0" tIns="0" rIns="0" bIns="0" rtlCol="0" anchor="t"/>
          <a:lstStyle/>
          <a:p>
            <a:pPr indent="0" marL="0">
              <a:buNone/>
            </a:pPr>
            <a:r>
              <a:rPr lang="en-US" sz="1100" dirty="0">
                <a:solidFill>
                  <a:srgbClr val="1F2A30"/>
                </a:solidFill>
                <a:latin typeface="Calibri" pitchFamily="34" charset="0"/>
                <a:ea typeface="Calibri" pitchFamily="34" charset="-122"/>
                <a:cs typeface="Calibri" pitchFamily="34" charset="-120"/>
              </a:rPr>
              <a:t>Préparation avec vos équipes, puis adoption progressive des utilisateurs.</a:t>
            </a:r>
            <a:endParaRPr lang="en-US" sz="1100" dirty="0"/>
          </a:p>
        </p:txBody>
      </p:sp>
      <p:sp>
        <p:nvSpPr>
          <p:cNvPr id="30" name="Shape 24"/>
          <p:cNvSpPr/>
          <p:nvPr/>
        </p:nvSpPr>
        <p:spPr>
          <a:xfrm>
            <a:off x="502920" y="4526280"/>
            <a:ext cx="5455768" cy="1600200"/>
          </a:xfrm>
          <a:prstGeom prst="roundRect">
            <a:avLst>
              <a:gd name="adj" fmla="val 6857"/>
            </a:avLst>
          </a:prstGeom>
          <a:solidFill>
            <a:srgbClr val="E3F3EA"/>
          </a:solidFill>
          <a:ln w="12700">
            <a:solidFill>
              <a:srgbClr val="E3F3EA"/>
            </a:solidFill>
            <a:prstDash val="solid"/>
          </a:ln>
        </p:spPr>
      </p:sp>
      <p:sp>
        <p:nvSpPr>
          <p:cNvPr id="31" name="Shape 25"/>
          <p:cNvSpPr/>
          <p:nvPr/>
        </p:nvSpPr>
        <p:spPr>
          <a:xfrm>
            <a:off x="685800" y="4709160"/>
            <a:ext cx="384048" cy="384048"/>
          </a:xfrm>
          <a:prstGeom prst="ellipse">
            <a:avLst/>
          </a:prstGeom>
          <a:solidFill>
            <a:srgbClr val="2E8B57"/>
          </a:solidFill>
          <a:ln w="12700">
            <a:solidFill>
              <a:srgbClr val="2E8B57"/>
            </a:solidFill>
            <a:prstDash val="solid"/>
          </a:ln>
        </p:spPr>
      </p:sp>
      <p:pic>
        <p:nvPicPr>
          <p:cNvPr id="32" name="Image 4" descr="preencoded.png">    </p:cNvPr>
          <p:cNvPicPr>
            <a:picLocks noChangeAspect="1"/>
          </p:cNvPicPr>
          <p:nvPr/>
        </p:nvPicPr>
        <p:blipFill>
          <a:blip r:embed="rId5"/>
          <a:stretch>
            <a:fillRect/>
          </a:stretch>
        </p:blipFill>
        <p:spPr>
          <a:xfrm>
            <a:off x="785652" y="4809012"/>
            <a:ext cx="184343" cy="184343"/>
          </a:xfrm>
          <a:prstGeom prst="rect">
            <a:avLst/>
          </a:prstGeom>
        </p:spPr>
      </p:pic>
      <p:sp>
        <p:nvSpPr>
          <p:cNvPr id="33" name="Text 26"/>
          <p:cNvSpPr txBox="1"/>
          <p:nvPr/>
        </p:nvSpPr>
        <p:spPr>
          <a:xfrm>
            <a:off x="1188720" y="4709160"/>
            <a:ext cx="4587088" cy="384048"/>
          </a:xfrm>
          <a:prstGeom prst="rect">
            <a:avLst/>
          </a:prstGeom>
          <a:noFill/>
          <a:ln/>
        </p:spPr>
        <p:txBody>
          <a:bodyPr wrap="square" lIns="0" tIns="0" rIns="0" bIns="0" rtlCol="0" anchor="ctr"/>
          <a:lstStyle/>
          <a:p>
            <a:pPr indent="0" marL="0">
              <a:buNone/>
            </a:pPr>
            <a:r>
              <a:rPr lang="en-US" sz="1250" b="1" dirty="0">
                <a:solidFill>
                  <a:srgbClr val="2E8B57"/>
                </a:solidFill>
                <a:latin typeface="Calibri" pitchFamily="34" charset="0"/>
                <a:ea typeface="Calibri" pitchFamily="34" charset="-122"/>
                <a:cs typeface="Calibri" pitchFamily="34" charset="-120"/>
              </a:rPr>
              <a:t>Ce qui change pour vous</a:t>
            </a:r>
            <a:endParaRPr lang="en-US" sz="1250" dirty="0"/>
          </a:p>
        </p:txBody>
      </p:sp>
      <p:sp>
        <p:nvSpPr>
          <p:cNvPr id="34" name="Text 27"/>
          <p:cNvSpPr txBox="1"/>
          <p:nvPr/>
        </p:nvSpPr>
        <p:spPr>
          <a:xfrm>
            <a:off x="731520" y="5166360"/>
            <a:ext cx="4998568" cy="82296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Une connexion unifiée et sécurisée à Engage.</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Un accompagnement Selligent pour la bascule des utilisateurs.</a:t>
            </a:r>
            <a:endParaRPr lang="en-US" sz="1050" dirty="0"/>
          </a:p>
        </p:txBody>
      </p:sp>
      <p:sp>
        <p:nvSpPr>
          <p:cNvPr id="35" name="Shape 28"/>
          <p:cNvSpPr/>
          <p:nvPr/>
        </p:nvSpPr>
        <p:spPr>
          <a:xfrm>
            <a:off x="6233008" y="4526280"/>
            <a:ext cx="5455768" cy="1600200"/>
          </a:xfrm>
          <a:prstGeom prst="roundRect">
            <a:avLst>
              <a:gd name="adj" fmla="val 6857"/>
            </a:avLst>
          </a:prstGeom>
          <a:solidFill>
            <a:srgbClr val="F2F8F9"/>
          </a:solidFill>
          <a:ln w="12700">
            <a:solidFill>
              <a:srgbClr val="F2F8F9"/>
            </a:solidFill>
            <a:prstDash val="solid"/>
          </a:ln>
        </p:spPr>
      </p:sp>
      <p:sp>
        <p:nvSpPr>
          <p:cNvPr id="36" name="Shape 29"/>
          <p:cNvSpPr/>
          <p:nvPr/>
        </p:nvSpPr>
        <p:spPr>
          <a:xfrm>
            <a:off x="6415888" y="4709160"/>
            <a:ext cx="384048" cy="384048"/>
          </a:xfrm>
          <a:prstGeom prst="ellipse">
            <a:avLst/>
          </a:prstGeom>
          <a:solidFill>
            <a:srgbClr val="06404F"/>
          </a:solidFill>
          <a:ln w="12700">
            <a:solidFill>
              <a:srgbClr val="06404F"/>
            </a:solidFill>
            <a:prstDash val="solid"/>
          </a:ln>
        </p:spPr>
      </p:sp>
      <p:pic>
        <p:nvPicPr>
          <p:cNvPr id="37" name="Image 5" descr="preencoded.png">    </p:cNvPr>
          <p:cNvPicPr>
            <a:picLocks noChangeAspect="1"/>
          </p:cNvPicPr>
          <p:nvPr/>
        </p:nvPicPr>
        <p:blipFill>
          <a:blip r:embed="rId6"/>
          <a:stretch>
            <a:fillRect/>
          </a:stretch>
        </p:blipFill>
        <p:spPr>
          <a:xfrm>
            <a:off x="6515740" y="4809012"/>
            <a:ext cx="184343" cy="184343"/>
          </a:xfrm>
          <a:prstGeom prst="rect">
            <a:avLst/>
          </a:prstGeom>
        </p:spPr>
      </p:pic>
      <p:sp>
        <p:nvSpPr>
          <p:cNvPr id="38" name="Text 30"/>
          <p:cNvSpPr txBox="1"/>
          <p:nvPr/>
        </p:nvSpPr>
        <p:spPr>
          <a:xfrm>
            <a:off x="6918808" y="4709160"/>
            <a:ext cx="4587088" cy="384048"/>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Ce qui ne change pas</a:t>
            </a:r>
            <a:endParaRPr lang="en-US" sz="1250" dirty="0"/>
          </a:p>
        </p:txBody>
      </p:sp>
      <p:sp>
        <p:nvSpPr>
          <p:cNvPr id="39" name="Text 31"/>
          <p:cNvSpPr txBox="1"/>
          <p:nvPr/>
        </p:nvSpPr>
        <p:spPr>
          <a:xfrm>
            <a:off x="6461608" y="5166360"/>
            <a:ext cx="4998568" cy="82296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Aucune bascule avant la fenêtre cible du 1er trimestre 2027.</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Sujet distinct de la sécurisation technique des accès CDM réalisée le 31 août.</a:t>
            </a:r>
            <a:endParaRPr lang="en-US" sz="1050" dirty="0"/>
          </a:p>
        </p:txBody>
      </p:sp>
      <p:sp>
        <p:nvSpPr>
          <p:cNvPr id="40" name="Text 32"/>
          <p:cNvSpPr txBox="1"/>
          <p:nvPr/>
        </p:nvSpPr>
        <p:spPr>
          <a:xfrm>
            <a:off x="502920" y="6309360"/>
            <a:ext cx="11185855" cy="228600"/>
          </a:xfrm>
          <a:prstGeom prst="rect">
            <a:avLst/>
          </a:prstGeom>
          <a:noFill/>
          <a:ln/>
        </p:spPr>
        <p:txBody>
          <a:bodyPr wrap="square" lIns="0" tIns="0" rIns="0" bIns="0" rtlCol="0" anchor="t"/>
          <a:lstStyle/>
          <a:p>
            <a:pPr indent="0" marL="0">
              <a:buNone/>
            </a:pPr>
            <a:r>
              <a:rPr lang="en-US" sz="850" i="1" dirty="0">
                <a:solidFill>
                  <a:srgbClr val="6B7B83"/>
                </a:solidFill>
                <a:latin typeface="Calibri" pitchFamily="34" charset="0"/>
                <a:ea typeface="Calibri" pitchFamily="34" charset="-122"/>
                <a:cs typeface="Calibri" pitchFamily="34" charset="-120"/>
              </a:rPr>
              <a:t>Trajectoire produit indicative, susceptible d’évoluer ; ne constitue pas un engagement de disponibilité.</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CONFORMITÉ</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200" b="1" dirty="0">
                <a:solidFill>
                  <a:srgbClr val="06404F"/>
                </a:solidFill>
                <a:latin typeface="Calibri" pitchFamily="34" charset="0"/>
                <a:ea typeface="Calibri" pitchFamily="34" charset="-122"/>
                <a:cs typeface="Calibri" pitchFamily="34" charset="-120"/>
              </a:rPr>
              <a:t>Pixel d’ouverture : un suivi conforme à la recommandation CNIL</a:t>
            </a:r>
            <a:endParaRPr lang="en-US" sz="22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Recommandation finale du 14 avril 2026, période transitoire close le 14 juillet · Engage sait déjà tracer les ouvertures sous consentement.</a:t>
            </a:r>
            <a:endParaRPr lang="en-US" sz="1300" dirty="0"/>
          </a:p>
        </p:txBody>
      </p:sp>
      <p:sp>
        <p:nvSpPr>
          <p:cNvPr id="7" name="Text 4"/>
          <p:cNvSpPr txBox="1"/>
          <p:nvPr/>
        </p:nvSpPr>
        <p:spPr>
          <a:xfrm>
            <a:off x="502920" y="6473952"/>
            <a:ext cx="7315200" cy="228600"/>
          </a:xfrm>
          <a:prstGeom prst="rect">
            <a:avLst/>
          </a:prstGeom>
          <a:noFill/>
          <a:ln/>
        </p:spPr>
        <p:txBody>
          <a:bodyPr wrap="square" lIns="0" tIns="0" rIns="0" bIns="0" rtlCol="0" anchor="ctr"/>
          <a:lstStyle/>
          <a:p>
            <a:pPr indent="0" marL="0">
              <a:buNone/>
            </a:pPr>
            <a:r>
              <a:rPr lang="en-US" sz="850" dirty="0">
                <a:solidFill>
                  <a:srgbClr val="6B7B83"/>
                </a:solidFill>
                <a:latin typeface="Calibri" pitchFamily="34" charset="0"/>
                <a:ea typeface="Calibri" pitchFamily="34" charset="-122"/>
                <a:cs typeface="Calibri" pitchFamily="34" charset="-120"/>
              </a:rPr>
              <a:t>COPIL Mutuelle Viasanté · 14 septembre 2026 · Confidentiel</a:t>
            </a:r>
            <a:endParaRPr lang="en-US" sz="850" dirty="0"/>
          </a:p>
        </p:txBody>
      </p:sp>
      <p:sp>
        <p:nvSpPr>
          <p:cNvPr id="8" name="Text 5"/>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850" dirty="0">
                <a:solidFill>
                  <a:srgbClr val="6B7B83"/>
                </a:solidFill>
                <a:latin typeface="Calibri" pitchFamily="34" charset="0"/>
                <a:ea typeface="Calibri" pitchFamily="34" charset="-122"/>
                <a:cs typeface="Calibri" pitchFamily="34" charset="-120"/>
              </a:rPr>
              <a:t>15</a:t>
            </a:r>
            <a:endParaRPr lang="en-US" sz="850" dirty="0"/>
          </a:p>
        </p:txBody>
      </p:sp>
      <p:sp>
        <p:nvSpPr>
          <p:cNvPr id="9" name="Shape 6"/>
          <p:cNvSpPr/>
          <p:nvPr/>
        </p:nvSpPr>
        <p:spPr>
          <a:xfrm>
            <a:off x="502920" y="1965960"/>
            <a:ext cx="2645588"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0" name="Shape 7"/>
          <p:cNvSpPr/>
          <p:nvPr/>
        </p:nvSpPr>
        <p:spPr>
          <a:xfrm>
            <a:off x="704088" y="2167128"/>
            <a:ext cx="548640" cy="548640"/>
          </a:xfrm>
          <a:prstGeom prst="ellipse">
            <a:avLst/>
          </a:prstGeom>
          <a:solidFill>
            <a:srgbClr val="06404F"/>
          </a:solidFill>
          <a:ln w="12700">
            <a:solidFill>
              <a:srgbClr val="06404F"/>
            </a:solidFill>
            <a:prstDash val="solid"/>
          </a:ln>
        </p:spPr>
      </p:sp>
      <p:pic>
        <p:nvPicPr>
          <p:cNvPr id="11" name="Image 1" descr="preencoded.png">    </p:cNvPr>
          <p:cNvPicPr>
            <a:picLocks noChangeAspect="1"/>
          </p:cNvPicPr>
          <p:nvPr/>
        </p:nvPicPr>
        <p:blipFill>
          <a:blip r:embed="rId2"/>
          <a:stretch>
            <a:fillRect/>
          </a:stretch>
        </p:blipFill>
        <p:spPr>
          <a:xfrm>
            <a:off x="846734" y="2309774"/>
            <a:ext cx="263347" cy="263347"/>
          </a:xfrm>
          <a:prstGeom prst="rect">
            <a:avLst/>
          </a:prstGeom>
        </p:spPr>
      </p:pic>
      <p:sp>
        <p:nvSpPr>
          <p:cNvPr id="12" name="Text 8"/>
          <p:cNvSpPr txBox="1"/>
          <p:nvPr/>
        </p:nvSpPr>
        <p:spPr>
          <a:xfrm>
            <a:off x="2416988" y="2148840"/>
            <a:ext cx="548640" cy="548640"/>
          </a:xfrm>
          <a:prstGeom prst="rect">
            <a:avLst/>
          </a:prstGeom>
          <a:noFill/>
          <a:ln/>
        </p:spPr>
        <p:txBody>
          <a:bodyPr wrap="square" lIns="0" tIns="0" rIns="0" bIns="0" rtlCol="0" anchor="ctr"/>
          <a:lstStyle/>
          <a:p>
            <a:pPr algn="r" indent="0" marL="0">
              <a:buNone/>
            </a:pPr>
            <a:r>
              <a:rPr lang="en-US" sz="2400" b="1" dirty="0">
                <a:solidFill>
                  <a:srgbClr val="F28C28"/>
                </a:solidFill>
                <a:latin typeface="Calibri" pitchFamily="34" charset="0"/>
                <a:ea typeface="Calibri" pitchFamily="34" charset="-122"/>
                <a:cs typeface="Calibri" pitchFamily="34" charset="-120"/>
              </a:rPr>
              <a:t>1</a:t>
            </a:r>
            <a:endParaRPr lang="en-US" sz="2400" dirty="0"/>
          </a:p>
        </p:txBody>
      </p:sp>
      <p:sp>
        <p:nvSpPr>
          <p:cNvPr id="13" name="Text 9"/>
          <p:cNvSpPr txBox="1"/>
          <p:nvPr/>
        </p:nvSpPr>
        <p:spPr>
          <a:xfrm>
            <a:off x="704088" y="2834640"/>
            <a:ext cx="2243252" cy="365760"/>
          </a:xfrm>
          <a:prstGeom prst="rect">
            <a:avLst/>
          </a:prstGeom>
          <a:noFill/>
          <a:ln/>
        </p:spPr>
        <p:txBody>
          <a:bodyPr wrap="square" lIns="0" tIns="0" rIns="0" bIns="0" rtlCol="0" anchor="ctr"/>
          <a:lstStyle/>
          <a:p>
            <a:pPr indent="0" marL="0">
              <a:buNone/>
            </a:pPr>
            <a:r>
              <a:rPr lang="en-US" sz="1300" b="1" dirty="0">
                <a:solidFill>
                  <a:srgbClr val="06404F"/>
                </a:solidFill>
                <a:latin typeface="Calibri" pitchFamily="34" charset="0"/>
                <a:ea typeface="Calibri" pitchFamily="34" charset="-122"/>
                <a:cs typeface="Calibri" pitchFamily="34" charset="-120"/>
              </a:rPr>
              <a:t>Cartographier</a:t>
            </a:r>
            <a:endParaRPr lang="en-US" sz="1300" dirty="0"/>
          </a:p>
        </p:txBody>
      </p:sp>
      <p:sp>
        <p:nvSpPr>
          <p:cNvPr id="14" name="Text 10"/>
          <p:cNvSpPr txBox="1"/>
          <p:nvPr/>
        </p:nvSpPr>
        <p:spPr>
          <a:xfrm>
            <a:off x="704088" y="3246120"/>
            <a:ext cx="2243252" cy="822960"/>
          </a:xfrm>
          <a:prstGeom prst="rect">
            <a:avLst/>
          </a:prstGeom>
          <a:noFill/>
          <a:ln/>
        </p:spPr>
        <p:txBody>
          <a:bodyPr wrap="square" lIns="0" tIns="0" rIns="0" bIns="0" rtlCol="0" anchor="t"/>
          <a:lstStyle/>
          <a:p>
            <a:pPr indent="0" marL="0">
              <a:buNone/>
            </a:pPr>
            <a:r>
              <a:rPr lang="en-US" sz="1050" dirty="0">
                <a:solidFill>
                  <a:srgbClr val="1F2A30"/>
                </a:solidFill>
                <a:latin typeface="Calibri" pitchFamily="34" charset="0"/>
                <a:ea typeface="Calibri" pitchFamily="34" charset="-122"/>
                <a:cs typeface="Calibri" pitchFamily="34" charset="-120"/>
              </a:rPr>
              <a:t>Recenser les cas d’usage : marketing, newsletters, transactionnel, mesure de délivrabilité.</a:t>
            </a:r>
            <a:endParaRPr lang="en-US" sz="1050" dirty="0"/>
          </a:p>
        </p:txBody>
      </p:sp>
      <p:sp>
        <p:nvSpPr>
          <p:cNvPr id="15" name="Shape 11"/>
          <p:cNvSpPr/>
          <p:nvPr/>
        </p:nvSpPr>
        <p:spPr>
          <a:xfrm>
            <a:off x="3349676" y="1965960"/>
            <a:ext cx="2645588"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6" name="Shape 12"/>
          <p:cNvSpPr/>
          <p:nvPr/>
        </p:nvSpPr>
        <p:spPr>
          <a:xfrm>
            <a:off x="3550844" y="2167128"/>
            <a:ext cx="548640" cy="548640"/>
          </a:xfrm>
          <a:prstGeom prst="ellipse">
            <a:avLst/>
          </a:prstGeom>
          <a:solidFill>
            <a:srgbClr val="06404F"/>
          </a:solidFill>
          <a:ln w="12700">
            <a:solidFill>
              <a:srgbClr val="06404F"/>
            </a:solidFill>
            <a:prstDash val="solid"/>
          </a:ln>
        </p:spPr>
      </p:sp>
      <p:pic>
        <p:nvPicPr>
          <p:cNvPr id="17" name="Image 2" descr="preencoded.png">    </p:cNvPr>
          <p:cNvPicPr>
            <a:picLocks noChangeAspect="1"/>
          </p:cNvPicPr>
          <p:nvPr/>
        </p:nvPicPr>
        <p:blipFill>
          <a:blip r:embed="rId3"/>
          <a:stretch>
            <a:fillRect/>
          </a:stretch>
        </p:blipFill>
        <p:spPr>
          <a:xfrm>
            <a:off x="3693490" y="2309774"/>
            <a:ext cx="263347" cy="263347"/>
          </a:xfrm>
          <a:prstGeom prst="rect">
            <a:avLst/>
          </a:prstGeom>
        </p:spPr>
      </p:pic>
      <p:sp>
        <p:nvSpPr>
          <p:cNvPr id="18" name="Text 13"/>
          <p:cNvSpPr txBox="1"/>
          <p:nvPr/>
        </p:nvSpPr>
        <p:spPr>
          <a:xfrm>
            <a:off x="5263744" y="2148840"/>
            <a:ext cx="548640" cy="548640"/>
          </a:xfrm>
          <a:prstGeom prst="rect">
            <a:avLst/>
          </a:prstGeom>
          <a:noFill/>
          <a:ln/>
        </p:spPr>
        <p:txBody>
          <a:bodyPr wrap="square" lIns="0" tIns="0" rIns="0" bIns="0" rtlCol="0" anchor="ctr"/>
          <a:lstStyle/>
          <a:p>
            <a:pPr algn="r" indent="0" marL="0">
              <a:buNone/>
            </a:pPr>
            <a:r>
              <a:rPr lang="en-US" sz="2400" b="1" dirty="0">
                <a:solidFill>
                  <a:srgbClr val="F28C28"/>
                </a:solidFill>
                <a:latin typeface="Calibri" pitchFamily="34" charset="0"/>
                <a:ea typeface="Calibri" pitchFamily="34" charset="-122"/>
                <a:cs typeface="Calibri" pitchFamily="34" charset="-120"/>
              </a:rPr>
              <a:t>2</a:t>
            </a:r>
            <a:endParaRPr lang="en-US" sz="2400" dirty="0"/>
          </a:p>
        </p:txBody>
      </p:sp>
      <p:sp>
        <p:nvSpPr>
          <p:cNvPr id="19" name="Text 14"/>
          <p:cNvSpPr txBox="1"/>
          <p:nvPr/>
        </p:nvSpPr>
        <p:spPr>
          <a:xfrm>
            <a:off x="3550844" y="2834640"/>
            <a:ext cx="2243252" cy="365760"/>
          </a:xfrm>
          <a:prstGeom prst="rect">
            <a:avLst/>
          </a:prstGeom>
          <a:noFill/>
          <a:ln/>
        </p:spPr>
        <p:txBody>
          <a:bodyPr wrap="square" lIns="0" tIns="0" rIns="0" bIns="0" rtlCol="0" anchor="ctr"/>
          <a:lstStyle/>
          <a:p>
            <a:pPr indent="0" marL="0">
              <a:buNone/>
            </a:pPr>
            <a:r>
              <a:rPr lang="en-US" sz="1300" b="1" dirty="0">
                <a:solidFill>
                  <a:srgbClr val="06404F"/>
                </a:solidFill>
                <a:latin typeface="Calibri" pitchFamily="34" charset="0"/>
                <a:ea typeface="Calibri" pitchFamily="34" charset="-122"/>
                <a:cs typeface="Calibri" pitchFamily="34" charset="-120"/>
              </a:rPr>
              <a:t>Qualifier la base légale</a:t>
            </a:r>
            <a:endParaRPr lang="en-US" sz="1300" dirty="0"/>
          </a:p>
        </p:txBody>
      </p:sp>
      <p:sp>
        <p:nvSpPr>
          <p:cNvPr id="20" name="Text 15"/>
          <p:cNvSpPr txBox="1"/>
          <p:nvPr/>
        </p:nvSpPr>
        <p:spPr>
          <a:xfrm>
            <a:off x="3550844" y="3246120"/>
            <a:ext cx="2243252" cy="822960"/>
          </a:xfrm>
          <a:prstGeom prst="rect">
            <a:avLst/>
          </a:prstGeom>
          <a:noFill/>
          <a:ln/>
        </p:spPr>
        <p:txBody>
          <a:bodyPr wrap="square" lIns="0" tIns="0" rIns="0" bIns="0" rtlCol="0" anchor="t"/>
          <a:lstStyle/>
          <a:p>
            <a:pPr indent="0" marL="0">
              <a:buNone/>
            </a:pPr>
            <a:r>
              <a:rPr lang="en-US" sz="1050" dirty="0">
                <a:solidFill>
                  <a:srgbClr val="1F2A30"/>
                </a:solidFill>
                <a:latin typeface="Calibri" pitchFamily="34" charset="0"/>
                <a:ea typeface="Calibri" pitchFamily="34" charset="-122"/>
                <a:cs typeface="Calibri" pitchFamily="34" charset="-120"/>
              </a:rPr>
              <a:t>Consentement préalable par défaut ; exemption limitée à la mesure de délivrabilité d’un service demandé.</a:t>
            </a:r>
            <a:endParaRPr lang="en-US" sz="1050" dirty="0"/>
          </a:p>
        </p:txBody>
      </p:sp>
      <p:sp>
        <p:nvSpPr>
          <p:cNvPr id="21" name="Shape 16"/>
          <p:cNvSpPr/>
          <p:nvPr/>
        </p:nvSpPr>
        <p:spPr>
          <a:xfrm>
            <a:off x="6196432" y="1965960"/>
            <a:ext cx="2645588"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2" name="Shape 17"/>
          <p:cNvSpPr/>
          <p:nvPr/>
        </p:nvSpPr>
        <p:spPr>
          <a:xfrm>
            <a:off x="6397600" y="2167128"/>
            <a:ext cx="548640" cy="548640"/>
          </a:xfrm>
          <a:prstGeom prst="ellipse">
            <a:avLst/>
          </a:prstGeom>
          <a:solidFill>
            <a:srgbClr val="06404F"/>
          </a:solidFill>
          <a:ln w="12700">
            <a:solidFill>
              <a:srgbClr val="06404F"/>
            </a:solidFill>
            <a:prstDash val="solid"/>
          </a:ln>
        </p:spPr>
      </p:sp>
      <p:pic>
        <p:nvPicPr>
          <p:cNvPr id="23" name="Image 3" descr="preencoded.png">    </p:cNvPr>
          <p:cNvPicPr>
            <a:picLocks noChangeAspect="1"/>
          </p:cNvPicPr>
          <p:nvPr/>
        </p:nvPicPr>
        <p:blipFill>
          <a:blip r:embed="rId4"/>
          <a:stretch>
            <a:fillRect/>
          </a:stretch>
        </p:blipFill>
        <p:spPr>
          <a:xfrm>
            <a:off x="6540246" y="2309774"/>
            <a:ext cx="263347" cy="263347"/>
          </a:xfrm>
          <a:prstGeom prst="rect">
            <a:avLst/>
          </a:prstGeom>
        </p:spPr>
      </p:pic>
      <p:sp>
        <p:nvSpPr>
          <p:cNvPr id="24" name="Text 18"/>
          <p:cNvSpPr txBox="1"/>
          <p:nvPr/>
        </p:nvSpPr>
        <p:spPr>
          <a:xfrm>
            <a:off x="8110499" y="2148840"/>
            <a:ext cx="548640" cy="548640"/>
          </a:xfrm>
          <a:prstGeom prst="rect">
            <a:avLst/>
          </a:prstGeom>
          <a:noFill/>
          <a:ln/>
        </p:spPr>
        <p:txBody>
          <a:bodyPr wrap="square" lIns="0" tIns="0" rIns="0" bIns="0" rtlCol="0" anchor="ctr"/>
          <a:lstStyle/>
          <a:p>
            <a:pPr algn="r" indent="0" marL="0">
              <a:buNone/>
            </a:pPr>
            <a:r>
              <a:rPr lang="en-US" sz="2400" b="1" dirty="0">
                <a:solidFill>
                  <a:srgbClr val="F28C28"/>
                </a:solidFill>
                <a:latin typeface="Calibri" pitchFamily="34" charset="0"/>
                <a:ea typeface="Calibri" pitchFamily="34" charset="-122"/>
                <a:cs typeface="Calibri" pitchFamily="34" charset="-120"/>
              </a:rPr>
              <a:t>3</a:t>
            </a:r>
            <a:endParaRPr lang="en-US" sz="2400" dirty="0"/>
          </a:p>
        </p:txBody>
      </p:sp>
      <p:sp>
        <p:nvSpPr>
          <p:cNvPr id="25" name="Text 19"/>
          <p:cNvSpPr txBox="1"/>
          <p:nvPr/>
        </p:nvSpPr>
        <p:spPr>
          <a:xfrm>
            <a:off x="6397600" y="2834640"/>
            <a:ext cx="2243252" cy="365760"/>
          </a:xfrm>
          <a:prstGeom prst="rect">
            <a:avLst/>
          </a:prstGeom>
          <a:noFill/>
          <a:ln/>
        </p:spPr>
        <p:txBody>
          <a:bodyPr wrap="square" lIns="0" tIns="0" rIns="0" bIns="0" rtlCol="0" anchor="ctr"/>
          <a:lstStyle/>
          <a:p>
            <a:pPr indent="0" marL="0">
              <a:buNone/>
            </a:pPr>
            <a:r>
              <a:rPr lang="en-US" sz="1300" b="1" dirty="0">
                <a:solidFill>
                  <a:srgbClr val="06404F"/>
                </a:solidFill>
                <a:latin typeface="Calibri" pitchFamily="34" charset="0"/>
                <a:ea typeface="Calibri" pitchFamily="34" charset="-122"/>
                <a:cs typeface="Calibri" pitchFamily="34" charset="-120"/>
              </a:rPr>
              <a:t>Informer et prouver</a:t>
            </a:r>
            <a:endParaRPr lang="en-US" sz="1300" dirty="0"/>
          </a:p>
        </p:txBody>
      </p:sp>
      <p:sp>
        <p:nvSpPr>
          <p:cNvPr id="26" name="Text 20"/>
          <p:cNvSpPr txBox="1"/>
          <p:nvPr/>
        </p:nvSpPr>
        <p:spPr>
          <a:xfrm>
            <a:off x="6397600" y="3246120"/>
            <a:ext cx="2243252" cy="822960"/>
          </a:xfrm>
          <a:prstGeom prst="rect">
            <a:avLst/>
          </a:prstGeom>
          <a:noFill/>
          <a:ln/>
        </p:spPr>
        <p:txBody>
          <a:bodyPr wrap="square" lIns="0" tIns="0" rIns="0" bIns="0" rtlCol="0" anchor="t"/>
          <a:lstStyle/>
          <a:p>
            <a:pPr indent="0" marL="0">
              <a:buNone/>
            </a:pPr>
            <a:r>
              <a:rPr lang="en-US" sz="1050" dirty="0">
                <a:solidFill>
                  <a:srgbClr val="1F2A30"/>
                </a:solidFill>
                <a:latin typeface="Calibri" pitchFamily="34" charset="0"/>
                <a:ea typeface="Calibri" pitchFamily="34" charset="-122"/>
                <a:cs typeface="Calibri" pitchFamily="34" charset="-120"/>
              </a:rPr>
              <a:t>Information claire, preuve du consentement, gestion du retrait, journal d’audit.</a:t>
            </a:r>
            <a:endParaRPr lang="en-US" sz="1050" dirty="0"/>
          </a:p>
        </p:txBody>
      </p:sp>
      <p:sp>
        <p:nvSpPr>
          <p:cNvPr id="27" name="Shape 21"/>
          <p:cNvSpPr/>
          <p:nvPr/>
        </p:nvSpPr>
        <p:spPr>
          <a:xfrm>
            <a:off x="9043187" y="1965960"/>
            <a:ext cx="2645588" cy="2057400"/>
          </a:xfrm>
          <a:prstGeom prst="roundRect">
            <a:avLst>
              <a:gd name="adj" fmla="val 5333"/>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28" name="Shape 22"/>
          <p:cNvSpPr/>
          <p:nvPr/>
        </p:nvSpPr>
        <p:spPr>
          <a:xfrm>
            <a:off x="9244355" y="2167128"/>
            <a:ext cx="548640" cy="548640"/>
          </a:xfrm>
          <a:prstGeom prst="ellipse">
            <a:avLst/>
          </a:prstGeom>
          <a:solidFill>
            <a:srgbClr val="06404F"/>
          </a:solidFill>
          <a:ln w="12700">
            <a:solidFill>
              <a:srgbClr val="06404F"/>
            </a:solidFill>
            <a:prstDash val="solid"/>
          </a:ln>
        </p:spPr>
      </p:sp>
      <p:pic>
        <p:nvPicPr>
          <p:cNvPr id="29" name="Image 4" descr="preencoded.png">    </p:cNvPr>
          <p:cNvPicPr>
            <a:picLocks noChangeAspect="1"/>
          </p:cNvPicPr>
          <p:nvPr/>
        </p:nvPicPr>
        <p:blipFill>
          <a:blip r:embed="rId5"/>
          <a:stretch>
            <a:fillRect/>
          </a:stretch>
        </p:blipFill>
        <p:spPr>
          <a:xfrm>
            <a:off x="9387002" y="2309774"/>
            <a:ext cx="263347" cy="263347"/>
          </a:xfrm>
          <a:prstGeom prst="rect">
            <a:avLst/>
          </a:prstGeom>
        </p:spPr>
      </p:pic>
      <p:sp>
        <p:nvSpPr>
          <p:cNvPr id="30" name="Text 23"/>
          <p:cNvSpPr txBox="1"/>
          <p:nvPr/>
        </p:nvSpPr>
        <p:spPr>
          <a:xfrm>
            <a:off x="10957255" y="2148840"/>
            <a:ext cx="548640" cy="548640"/>
          </a:xfrm>
          <a:prstGeom prst="rect">
            <a:avLst/>
          </a:prstGeom>
          <a:noFill/>
          <a:ln/>
        </p:spPr>
        <p:txBody>
          <a:bodyPr wrap="square" lIns="0" tIns="0" rIns="0" bIns="0" rtlCol="0" anchor="ctr"/>
          <a:lstStyle/>
          <a:p>
            <a:pPr algn="r" indent="0" marL="0">
              <a:buNone/>
            </a:pPr>
            <a:r>
              <a:rPr lang="en-US" sz="2400" b="1" dirty="0">
                <a:solidFill>
                  <a:srgbClr val="F28C28"/>
                </a:solidFill>
                <a:latin typeface="Calibri" pitchFamily="34" charset="0"/>
                <a:ea typeface="Calibri" pitchFamily="34" charset="-122"/>
                <a:cs typeface="Calibri" pitchFamily="34" charset="-120"/>
              </a:rPr>
              <a:t>4</a:t>
            </a:r>
            <a:endParaRPr lang="en-US" sz="2400" dirty="0"/>
          </a:p>
        </p:txBody>
      </p:sp>
      <p:sp>
        <p:nvSpPr>
          <p:cNvPr id="31" name="Text 24"/>
          <p:cNvSpPr txBox="1"/>
          <p:nvPr/>
        </p:nvSpPr>
        <p:spPr>
          <a:xfrm>
            <a:off x="9244355" y="2834640"/>
            <a:ext cx="2243252" cy="365760"/>
          </a:xfrm>
          <a:prstGeom prst="rect">
            <a:avLst/>
          </a:prstGeom>
          <a:noFill/>
          <a:ln/>
        </p:spPr>
        <p:txBody>
          <a:bodyPr wrap="square" lIns="0" tIns="0" rIns="0" bIns="0" rtlCol="0" anchor="ctr"/>
          <a:lstStyle/>
          <a:p>
            <a:pPr indent="0" marL="0">
              <a:buNone/>
            </a:pPr>
            <a:r>
              <a:rPr lang="en-US" sz="1300" b="1" dirty="0">
                <a:solidFill>
                  <a:srgbClr val="06404F"/>
                </a:solidFill>
                <a:latin typeface="Calibri" pitchFamily="34" charset="0"/>
                <a:ea typeface="Calibri" pitchFamily="34" charset="-122"/>
                <a:cs typeface="Calibri" pitchFamily="34" charset="-120"/>
              </a:rPr>
              <a:t>Valider avec votre DPO</a:t>
            </a:r>
            <a:endParaRPr lang="en-US" sz="1300" dirty="0"/>
          </a:p>
        </p:txBody>
      </p:sp>
      <p:sp>
        <p:nvSpPr>
          <p:cNvPr id="32" name="Text 25"/>
          <p:cNvSpPr txBox="1"/>
          <p:nvPr/>
        </p:nvSpPr>
        <p:spPr>
          <a:xfrm>
            <a:off x="9244355" y="3246120"/>
            <a:ext cx="2243252" cy="822960"/>
          </a:xfrm>
          <a:prstGeom prst="rect">
            <a:avLst/>
          </a:prstGeom>
          <a:noFill/>
          <a:ln/>
        </p:spPr>
        <p:txBody>
          <a:bodyPr wrap="square" lIns="0" tIns="0" rIns="0" bIns="0" rtlCol="0" anchor="t"/>
          <a:lstStyle/>
          <a:p>
            <a:pPr indent="0" marL="0">
              <a:buNone/>
            </a:pPr>
            <a:r>
              <a:rPr lang="en-US" sz="1050" dirty="0">
                <a:solidFill>
                  <a:srgbClr val="1F2A30"/>
                </a:solidFill>
                <a:latin typeface="Calibri" pitchFamily="34" charset="0"/>
                <a:ea typeface="Calibri" pitchFamily="34" charset="-122"/>
                <a:cs typeface="Calibri" pitchFamily="34" charset="-120"/>
              </a:rPr>
              <a:t>Go / no-go par typologie d’email, puis activation des seules catégories autorisées.</a:t>
            </a:r>
            <a:endParaRPr lang="en-US" sz="1050" dirty="0"/>
          </a:p>
        </p:txBody>
      </p:sp>
      <p:sp>
        <p:nvSpPr>
          <p:cNvPr id="33" name="Shape 26"/>
          <p:cNvSpPr/>
          <p:nvPr/>
        </p:nvSpPr>
        <p:spPr>
          <a:xfrm>
            <a:off x="502920" y="4251960"/>
            <a:ext cx="3576218" cy="1965960"/>
          </a:xfrm>
          <a:prstGeom prst="roundRect">
            <a:avLst>
              <a:gd name="adj" fmla="val 5581"/>
            </a:avLst>
          </a:prstGeom>
          <a:solidFill>
            <a:srgbClr val="F2F8F9"/>
          </a:solidFill>
          <a:ln w="12700">
            <a:solidFill>
              <a:srgbClr val="F2F8F9"/>
            </a:solidFill>
            <a:prstDash val="solid"/>
          </a:ln>
        </p:spPr>
      </p:sp>
      <p:sp>
        <p:nvSpPr>
          <p:cNvPr id="34" name="Shape 27"/>
          <p:cNvSpPr/>
          <p:nvPr/>
        </p:nvSpPr>
        <p:spPr>
          <a:xfrm>
            <a:off x="685800" y="4434840"/>
            <a:ext cx="384048" cy="384048"/>
          </a:xfrm>
          <a:prstGeom prst="ellipse">
            <a:avLst/>
          </a:prstGeom>
          <a:solidFill>
            <a:srgbClr val="06404F"/>
          </a:solidFill>
          <a:ln w="12700">
            <a:solidFill>
              <a:srgbClr val="06404F"/>
            </a:solidFill>
            <a:prstDash val="solid"/>
          </a:ln>
        </p:spPr>
      </p:sp>
      <p:pic>
        <p:nvPicPr>
          <p:cNvPr id="35" name="Image 5" descr="preencoded.png">    </p:cNvPr>
          <p:cNvPicPr>
            <a:picLocks noChangeAspect="1"/>
          </p:cNvPicPr>
          <p:nvPr/>
        </p:nvPicPr>
        <p:blipFill>
          <a:blip r:embed="rId6"/>
          <a:stretch>
            <a:fillRect/>
          </a:stretch>
        </p:blipFill>
        <p:spPr>
          <a:xfrm>
            <a:off x="785652" y="4534692"/>
            <a:ext cx="184343" cy="184343"/>
          </a:xfrm>
          <a:prstGeom prst="rect">
            <a:avLst/>
          </a:prstGeom>
        </p:spPr>
      </p:pic>
      <p:sp>
        <p:nvSpPr>
          <p:cNvPr id="36" name="Text 28"/>
          <p:cNvSpPr txBox="1"/>
          <p:nvPr/>
        </p:nvSpPr>
        <p:spPr>
          <a:xfrm>
            <a:off x="1188720" y="4434840"/>
            <a:ext cx="2707538" cy="384048"/>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Ce que Engage apporte</a:t>
            </a:r>
            <a:endParaRPr lang="en-US" sz="1250" dirty="0"/>
          </a:p>
        </p:txBody>
      </p:sp>
      <p:sp>
        <p:nvSpPr>
          <p:cNvPr id="37" name="Text 29"/>
          <p:cNvSpPr txBox="1"/>
          <p:nvPr/>
        </p:nvSpPr>
        <p:spPr>
          <a:xfrm>
            <a:off x="731520" y="4892040"/>
            <a:ext cx="3119018" cy="118872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Collecte du consentement (composant de données ou procédure stockée).</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Suivi d’ouverture conditionné au consentement, avec journal d’audit.</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Activation sur simple demande, une fois le consentement collecté.</a:t>
            </a:r>
            <a:endParaRPr lang="en-US" sz="1050" dirty="0"/>
          </a:p>
        </p:txBody>
      </p:sp>
      <p:sp>
        <p:nvSpPr>
          <p:cNvPr id="38" name="Shape 30"/>
          <p:cNvSpPr/>
          <p:nvPr/>
        </p:nvSpPr>
        <p:spPr>
          <a:xfrm>
            <a:off x="4307738" y="4251960"/>
            <a:ext cx="3576218" cy="1965960"/>
          </a:xfrm>
          <a:prstGeom prst="roundRect">
            <a:avLst>
              <a:gd name="adj" fmla="val 5581"/>
            </a:avLst>
          </a:prstGeom>
          <a:solidFill>
            <a:srgbClr val="F2F8F9"/>
          </a:solidFill>
          <a:ln w="12700">
            <a:solidFill>
              <a:srgbClr val="F2F8F9"/>
            </a:solidFill>
            <a:prstDash val="solid"/>
          </a:ln>
        </p:spPr>
      </p:sp>
      <p:sp>
        <p:nvSpPr>
          <p:cNvPr id="39" name="Shape 31"/>
          <p:cNvSpPr/>
          <p:nvPr/>
        </p:nvSpPr>
        <p:spPr>
          <a:xfrm>
            <a:off x="4490618" y="4434840"/>
            <a:ext cx="384048" cy="384048"/>
          </a:xfrm>
          <a:prstGeom prst="ellipse">
            <a:avLst/>
          </a:prstGeom>
          <a:solidFill>
            <a:srgbClr val="0F6B7A"/>
          </a:solidFill>
          <a:ln w="12700">
            <a:solidFill>
              <a:srgbClr val="0F6B7A"/>
            </a:solidFill>
            <a:prstDash val="solid"/>
          </a:ln>
        </p:spPr>
      </p:sp>
      <p:pic>
        <p:nvPicPr>
          <p:cNvPr id="40" name="Image 6" descr="preencoded.png">    </p:cNvPr>
          <p:cNvPicPr>
            <a:picLocks noChangeAspect="1"/>
          </p:cNvPicPr>
          <p:nvPr/>
        </p:nvPicPr>
        <p:blipFill>
          <a:blip r:embed="rId7"/>
          <a:stretch>
            <a:fillRect/>
          </a:stretch>
        </p:blipFill>
        <p:spPr>
          <a:xfrm>
            <a:off x="4590471" y="4534692"/>
            <a:ext cx="184343" cy="184343"/>
          </a:xfrm>
          <a:prstGeom prst="rect">
            <a:avLst/>
          </a:prstGeom>
        </p:spPr>
      </p:pic>
      <p:sp>
        <p:nvSpPr>
          <p:cNvPr id="41" name="Text 32"/>
          <p:cNvSpPr txBox="1"/>
          <p:nvPr/>
        </p:nvSpPr>
        <p:spPr>
          <a:xfrm>
            <a:off x="4993538" y="4434840"/>
            <a:ext cx="2707538" cy="384048"/>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Où en êtes-vous ?</a:t>
            </a:r>
            <a:endParaRPr lang="en-US" sz="1250" dirty="0"/>
          </a:p>
        </p:txBody>
      </p:sp>
      <p:sp>
        <p:nvSpPr>
          <p:cNvPr id="42" name="Text 33"/>
          <p:cNvSpPr txBox="1"/>
          <p:nvPr/>
        </p:nvSpPr>
        <p:spPr>
          <a:xfrm>
            <a:off x="4536338" y="4892040"/>
            <a:ext cx="3119018" cy="118872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Consentement collecté pour les nouveaux contacts ?</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Contacts existants informés, avec possibilité de refus ?</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Suivi sous consentement activé dans Engage ?</a:t>
            </a:r>
            <a:endParaRPr lang="en-US" sz="1050" dirty="0"/>
          </a:p>
        </p:txBody>
      </p:sp>
      <p:sp>
        <p:nvSpPr>
          <p:cNvPr id="43" name="Shape 34"/>
          <p:cNvSpPr/>
          <p:nvPr/>
        </p:nvSpPr>
        <p:spPr>
          <a:xfrm>
            <a:off x="8112557" y="4251960"/>
            <a:ext cx="3576218" cy="1965960"/>
          </a:xfrm>
          <a:prstGeom prst="roundRect">
            <a:avLst>
              <a:gd name="adj" fmla="val 5581"/>
            </a:avLst>
          </a:prstGeom>
          <a:solidFill>
            <a:srgbClr val="FDEBD9"/>
          </a:solidFill>
          <a:ln w="12700">
            <a:solidFill>
              <a:srgbClr val="FDEBD9"/>
            </a:solidFill>
            <a:prstDash val="solid"/>
          </a:ln>
        </p:spPr>
      </p:sp>
      <p:sp>
        <p:nvSpPr>
          <p:cNvPr id="44" name="Shape 35"/>
          <p:cNvSpPr/>
          <p:nvPr/>
        </p:nvSpPr>
        <p:spPr>
          <a:xfrm>
            <a:off x="8295437" y="4434840"/>
            <a:ext cx="384048" cy="384048"/>
          </a:xfrm>
          <a:prstGeom prst="ellipse">
            <a:avLst/>
          </a:prstGeom>
          <a:solidFill>
            <a:srgbClr val="F28C28"/>
          </a:solidFill>
          <a:ln w="12700">
            <a:solidFill>
              <a:srgbClr val="F28C28"/>
            </a:solidFill>
            <a:prstDash val="solid"/>
          </a:ln>
        </p:spPr>
      </p:sp>
      <p:pic>
        <p:nvPicPr>
          <p:cNvPr id="45" name="Image 7" descr="preencoded.png">    </p:cNvPr>
          <p:cNvPicPr>
            <a:picLocks noChangeAspect="1"/>
          </p:cNvPicPr>
          <p:nvPr/>
        </p:nvPicPr>
        <p:blipFill>
          <a:blip r:embed="rId8"/>
          <a:stretch>
            <a:fillRect/>
          </a:stretch>
        </p:blipFill>
        <p:spPr>
          <a:xfrm>
            <a:off x="8395289" y="4534692"/>
            <a:ext cx="184343" cy="184343"/>
          </a:xfrm>
          <a:prstGeom prst="rect">
            <a:avLst/>
          </a:prstGeom>
        </p:spPr>
      </p:pic>
      <p:sp>
        <p:nvSpPr>
          <p:cNvPr id="46" name="Text 36"/>
          <p:cNvSpPr txBox="1"/>
          <p:nvPr/>
        </p:nvSpPr>
        <p:spPr>
          <a:xfrm>
            <a:off x="8798357" y="4434840"/>
            <a:ext cx="2707538" cy="384048"/>
          </a:xfrm>
          <a:prstGeom prst="rect">
            <a:avLst/>
          </a:prstGeom>
          <a:noFill/>
          <a:ln/>
        </p:spPr>
        <p:txBody>
          <a:bodyPr wrap="square" lIns="0" tIns="0" rIns="0" bIns="0" rtlCol="0" anchor="ctr"/>
          <a:lstStyle/>
          <a:p>
            <a:pPr indent="0" marL="0">
              <a:buNone/>
            </a:pPr>
            <a:r>
              <a:rPr lang="en-US" sz="1250" b="1" dirty="0">
                <a:solidFill>
                  <a:srgbClr val="F28C28"/>
                </a:solidFill>
                <a:latin typeface="Calibri" pitchFamily="34" charset="0"/>
                <a:ea typeface="Calibri" pitchFamily="34" charset="-122"/>
                <a:cs typeface="Calibri" pitchFamily="34" charset="-120"/>
              </a:rPr>
              <a:t>Prochaine étape proposée</a:t>
            </a:r>
            <a:endParaRPr lang="en-US" sz="1250" dirty="0"/>
          </a:p>
        </p:txBody>
      </p:sp>
      <p:sp>
        <p:nvSpPr>
          <p:cNvPr id="47" name="Text 37"/>
          <p:cNvSpPr txBox="1"/>
          <p:nvPr/>
        </p:nvSpPr>
        <p:spPr>
          <a:xfrm>
            <a:off x="8341157" y="4892040"/>
            <a:ext cx="3119018" cy="1188720"/>
          </a:xfrm>
          <a:prstGeom prst="rect">
            <a:avLst/>
          </a:prstGeom>
          <a:noFill/>
          <a:ln/>
        </p:spPr>
        <p:txBody>
          <a:bodyPr wrap="square" lIns="0" tIns="0" rIns="0" bIns="0" rtlCol="0" anchor="t"/>
          <a:lstStyle/>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Atelier DPO Viasanté × Selligent en octobre : cartographie des cas d’usage, décision par typologie.</a:t>
            </a:r>
            <a:endParaRPr lang="en-US" sz="1050" dirty="0"/>
          </a:p>
          <a:p>
            <a:pPr marL="152400" indent="-152400">
              <a:spcAft>
                <a:spcPts val="400"/>
              </a:spcAft>
              <a:buSzPct val="100000"/>
              <a:buChar char="•"/>
            </a:pPr>
            <a:r>
              <a:rPr lang="en-US" sz="1050" dirty="0">
                <a:solidFill>
                  <a:srgbClr val="1F2A30"/>
                </a:solidFill>
                <a:latin typeface="Calibri" pitchFamily="34" charset="0"/>
                <a:ea typeface="Calibri" pitchFamily="34" charset="-122"/>
                <a:cs typeface="Calibri" pitchFamily="34" charset="-120"/>
              </a:rPr>
              <a:t>Activation progressive dans Engage à l’issue de la validation.</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ENGAGE</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200" b="1" dirty="0">
                <a:solidFill>
                  <a:srgbClr val="06404F"/>
                </a:solidFill>
                <a:latin typeface="Calibri" pitchFamily="34" charset="0"/>
                <a:ea typeface="Calibri" pitchFamily="34" charset="-122"/>
                <a:cs typeface="Calibri" pitchFamily="34" charset="-120"/>
              </a:rPr>
              <a:t>Roadmap Engage 2026–2027 : des fondations à l’intelligence</a:t>
            </a:r>
            <a:endParaRPr lang="en-US" sz="22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Selligent by Zeta — ce qui est disponible, ce qui arrive, ce qui suivra. Roadmap directionnelle, sans engagement de livraison.</a:t>
            </a:r>
            <a:endParaRPr lang="en-US" sz="1300" dirty="0"/>
          </a:p>
        </p:txBody>
      </p:sp>
      <p:sp>
        <p:nvSpPr>
          <p:cNvPr id="7" name="Text 4"/>
          <p:cNvSpPr txBox="1"/>
          <p:nvPr/>
        </p:nvSpPr>
        <p:spPr>
          <a:xfrm>
            <a:off x="502920" y="6473952"/>
            <a:ext cx="7315200" cy="228600"/>
          </a:xfrm>
          <a:prstGeom prst="rect">
            <a:avLst/>
          </a:prstGeom>
          <a:noFill/>
          <a:ln/>
        </p:spPr>
        <p:txBody>
          <a:bodyPr wrap="square" lIns="0" tIns="0" rIns="0" bIns="0" rtlCol="0" anchor="ctr"/>
          <a:lstStyle/>
          <a:p>
            <a:pPr indent="0" marL="0">
              <a:buNone/>
            </a:pPr>
            <a:r>
              <a:rPr lang="en-US" sz="850" dirty="0">
                <a:solidFill>
                  <a:srgbClr val="6B7B83"/>
                </a:solidFill>
                <a:latin typeface="Calibri" pitchFamily="34" charset="0"/>
                <a:ea typeface="Calibri" pitchFamily="34" charset="-122"/>
                <a:cs typeface="Calibri" pitchFamily="34" charset="-120"/>
              </a:rPr>
              <a:t>COPIL Mutuelle Viasanté · 14 septembre 2026 · Confidentiel</a:t>
            </a:r>
            <a:endParaRPr lang="en-US" sz="850" dirty="0"/>
          </a:p>
        </p:txBody>
      </p:sp>
      <p:sp>
        <p:nvSpPr>
          <p:cNvPr id="8" name="Text 5"/>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850" dirty="0">
                <a:solidFill>
                  <a:srgbClr val="6B7B83"/>
                </a:solidFill>
                <a:latin typeface="Calibri" pitchFamily="34" charset="0"/>
                <a:ea typeface="Calibri" pitchFamily="34" charset="-122"/>
                <a:cs typeface="Calibri" pitchFamily="34" charset="-120"/>
              </a:rPr>
              <a:t>16</a:t>
            </a:r>
            <a:endParaRPr lang="en-US" sz="850" dirty="0"/>
          </a:p>
        </p:txBody>
      </p:sp>
      <p:sp>
        <p:nvSpPr>
          <p:cNvPr id="9" name="Shape 6"/>
          <p:cNvSpPr/>
          <p:nvPr/>
        </p:nvSpPr>
        <p:spPr>
          <a:xfrm>
            <a:off x="502920" y="1965960"/>
            <a:ext cx="3545738" cy="3977640"/>
          </a:xfrm>
          <a:prstGeom prst="roundRect">
            <a:avLst>
              <a:gd name="adj" fmla="val 309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0" name="Shape 7"/>
          <p:cNvSpPr/>
          <p:nvPr/>
        </p:nvSpPr>
        <p:spPr>
          <a:xfrm>
            <a:off x="731520" y="2167128"/>
            <a:ext cx="1371600" cy="292608"/>
          </a:xfrm>
          <a:prstGeom prst="roundRect">
            <a:avLst>
              <a:gd name="adj" fmla="val 50000"/>
            </a:avLst>
          </a:prstGeom>
          <a:solidFill>
            <a:srgbClr val="2E8B57"/>
          </a:solidFill>
          <a:ln w="12700">
            <a:solidFill>
              <a:srgbClr val="2E8B57"/>
            </a:solidFill>
            <a:prstDash val="solid"/>
          </a:ln>
        </p:spPr>
      </p:sp>
      <p:sp>
        <p:nvSpPr>
          <p:cNvPr id="11" name="Text 8"/>
          <p:cNvSpPr txBox="1"/>
          <p:nvPr/>
        </p:nvSpPr>
        <p:spPr>
          <a:xfrm>
            <a:off x="731520" y="2167128"/>
            <a:ext cx="13716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DISPONIBLE</a:t>
            </a:r>
            <a:endParaRPr lang="en-US" sz="950" dirty="0"/>
          </a:p>
        </p:txBody>
      </p:sp>
      <p:sp>
        <p:nvSpPr>
          <p:cNvPr id="12" name="Text 9"/>
          <p:cNvSpPr txBox="1"/>
          <p:nvPr/>
        </p:nvSpPr>
        <p:spPr>
          <a:xfrm>
            <a:off x="731520" y="2624328"/>
            <a:ext cx="3088538" cy="3200400"/>
          </a:xfrm>
          <a:prstGeom prst="rect">
            <a:avLst/>
          </a:prstGeom>
          <a:noFill/>
          <a:ln/>
        </p:spPr>
        <p:txBody>
          <a:bodyPr wrap="square" lIns="0" tIns="0" rIns="0" bIns="0" rtlCol="0" anchor="t"/>
          <a:lstStyle/>
          <a:p>
            <a:pPr indent="0" marL="0">
              <a:buNone/>
            </a:pPr>
            <a:r>
              <a:rPr lang="en-US" sz="1100" b="1" dirty="0">
                <a:solidFill>
                  <a:srgbClr val="06404F"/>
                </a:solidFill>
                <a:latin typeface="Calibri" pitchFamily="34" charset="0"/>
                <a:ea typeface="Calibri" pitchFamily="34" charset="-122"/>
                <a:cs typeface="Calibri" pitchFamily="34" charset="-120"/>
              </a:rPr>
              <a:t>Filtrage des interactions automatisées (bots)</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des indicateurs fondés sur les vrais comportements</a:t>
            </a:r>
            <a:endParaRPr lang="en-US" sz="1100" dirty="0"/>
          </a:p>
          <a:p>
            <a:pPr indent="0" marL="0">
              <a:buNone/>
            </a:pPr>
            <a:r>
              <a:rPr lang="en-US" sz="1100" b="1" dirty="0">
                <a:solidFill>
                  <a:srgbClr val="06404F"/>
                </a:solidFill>
                <a:latin typeface="Calibri" pitchFamily="34" charset="0"/>
                <a:ea typeface="Calibri" pitchFamily="34" charset="-122"/>
                <a:cs typeface="Calibri" pitchFamily="34" charset="-120"/>
              </a:rPr>
              <a:t>Suivi d’ouverture fondé sur le consentement</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conforme à la recommandation CNIL</a:t>
            </a:r>
            <a:endParaRPr lang="en-US" sz="1100" dirty="0"/>
          </a:p>
          <a:p>
            <a:pPr indent="0" marL="0">
              <a:buNone/>
            </a:pPr>
            <a:r>
              <a:rPr lang="en-US" sz="1100" b="1" dirty="0">
                <a:solidFill>
                  <a:srgbClr val="06404F"/>
                </a:solidFill>
                <a:latin typeface="Calibri" pitchFamily="34" charset="0"/>
                <a:ea typeface="Calibri" pitchFamily="34" charset="-122"/>
                <a:cs typeface="Calibri" pitchFamily="34" charset="-120"/>
              </a:rPr>
              <a:t>Désabonnement omnicanal</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gestion centralisée des préférences</a:t>
            </a:r>
            <a:endParaRPr lang="en-US" sz="1100" dirty="0"/>
          </a:p>
          <a:p>
            <a:pPr indent="0" marL="0">
              <a:buNone/>
            </a:pPr>
            <a:r>
              <a:rPr lang="en-US" sz="1100" b="1" dirty="0">
                <a:solidFill>
                  <a:srgbClr val="06404F"/>
                </a:solidFill>
                <a:latin typeface="Calibri" pitchFamily="34" charset="0"/>
                <a:ea typeface="Calibri" pitchFamily="34" charset="-122"/>
                <a:cs typeface="Calibri" pitchFamily="34" charset="-120"/>
              </a:rPr>
              <a:t>Blocs de contenu, prévisualisation et groupes de test</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accélérer et sécuriser chaque envoi</a:t>
            </a:r>
            <a:endParaRPr lang="en-US" sz="1100" dirty="0"/>
          </a:p>
          <a:p>
            <a:pPr indent="0" marL="0">
              <a:buNone/>
            </a:pPr>
            <a:r>
              <a:rPr lang="en-US" sz="1100" b="1" dirty="0">
                <a:solidFill>
                  <a:srgbClr val="06404F"/>
                </a:solidFill>
                <a:latin typeface="Calibri" pitchFamily="34" charset="0"/>
                <a:ea typeface="Calibri" pitchFamily="34" charset="-122"/>
                <a:cs typeface="Calibri" pitchFamily="34" charset="-120"/>
              </a:rPr>
              <a:t>Canal RCS</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messages mobiles riches et interactifs</a:t>
            </a:r>
            <a:endParaRPr lang="en-US" sz="1100" dirty="0"/>
          </a:p>
          <a:p>
            <a:pPr indent="0" marL="0">
              <a:buNone/>
            </a:pPr>
            <a:r>
              <a:rPr lang="en-US" sz="1100" b="1" dirty="0">
                <a:solidFill>
                  <a:srgbClr val="06404F"/>
                </a:solidFill>
                <a:latin typeface="Calibri" pitchFamily="34" charset="0"/>
                <a:ea typeface="Calibri" pitchFamily="34" charset="-122"/>
                <a:cs typeface="Calibri" pitchFamily="34" charset="-120"/>
              </a:rPr>
              <a:t>Signaux temps réel</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transmettre les interactions à vos systèmes</a:t>
            </a:r>
            <a:endParaRPr lang="en-US" sz="1100" dirty="0"/>
          </a:p>
          <a:p>
            <a:pPr indent="0" marL="0">
              <a:buNone/>
            </a:pPr>
            <a:r>
              <a:rPr lang="en-US" sz="1100" b="1" dirty="0">
                <a:solidFill>
                  <a:srgbClr val="06404F"/>
                </a:solidFill>
                <a:latin typeface="Calibri" pitchFamily="34" charset="0"/>
                <a:ea typeface="Calibri" pitchFamily="34" charset="-122"/>
                <a:cs typeface="Calibri" pitchFamily="34" charset="-120"/>
              </a:rPr>
              <a:t>Bibliothèque de connecteurs</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Snowflake, Shopify, Salesforce, Dynamics…</a:t>
            </a:r>
            <a:endParaRPr lang="en-US" sz="1100" dirty="0"/>
          </a:p>
        </p:txBody>
      </p:sp>
      <p:sp>
        <p:nvSpPr>
          <p:cNvPr id="13" name="Shape 10"/>
          <p:cNvSpPr/>
          <p:nvPr/>
        </p:nvSpPr>
        <p:spPr>
          <a:xfrm>
            <a:off x="4322978" y="1965960"/>
            <a:ext cx="3545738" cy="3977640"/>
          </a:xfrm>
          <a:prstGeom prst="roundRect">
            <a:avLst>
              <a:gd name="adj" fmla="val 309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4" name="Shape 11"/>
          <p:cNvSpPr/>
          <p:nvPr/>
        </p:nvSpPr>
        <p:spPr>
          <a:xfrm>
            <a:off x="4551578" y="2167128"/>
            <a:ext cx="1371600" cy="292608"/>
          </a:xfrm>
          <a:prstGeom prst="roundRect">
            <a:avLst>
              <a:gd name="adj" fmla="val 50000"/>
            </a:avLst>
          </a:prstGeom>
          <a:solidFill>
            <a:srgbClr val="0F6B7A"/>
          </a:solidFill>
          <a:ln w="12700">
            <a:solidFill>
              <a:srgbClr val="0F6B7A"/>
            </a:solidFill>
            <a:prstDash val="solid"/>
          </a:ln>
        </p:spPr>
      </p:sp>
      <p:sp>
        <p:nvSpPr>
          <p:cNvPr id="15" name="Text 12"/>
          <p:cNvSpPr txBox="1"/>
          <p:nvPr/>
        </p:nvSpPr>
        <p:spPr>
          <a:xfrm>
            <a:off x="4551578" y="2167128"/>
            <a:ext cx="13716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À VENIR</a:t>
            </a:r>
            <a:endParaRPr lang="en-US" sz="950" dirty="0"/>
          </a:p>
        </p:txBody>
      </p:sp>
      <p:sp>
        <p:nvSpPr>
          <p:cNvPr id="16" name="Text 13"/>
          <p:cNvSpPr txBox="1"/>
          <p:nvPr/>
        </p:nvSpPr>
        <p:spPr>
          <a:xfrm>
            <a:off x="4551578" y="2624328"/>
            <a:ext cx="3088538" cy="3200400"/>
          </a:xfrm>
          <a:prstGeom prst="rect">
            <a:avLst/>
          </a:prstGeom>
          <a:noFill/>
          <a:ln/>
        </p:spPr>
        <p:txBody>
          <a:bodyPr wrap="square" lIns="0" tIns="0" rIns="0" bIns="0" rtlCol="0" anchor="t"/>
          <a:lstStyle/>
          <a:p>
            <a:pPr indent="0" marL="0">
              <a:buNone/>
            </a:pPr>
            <a:r>
              <a:rPr lang="en-US" sz="1100" b="1" dirty="0">
                <a:solidFill>
                  <a:srgbClr val="06404F"/>
                </a:solidFill>
                <a:latin typeface="Calibri" pitchFamily="34" charset="0"/>
                <a:ea typeface="Calibri" pitchFamily="34" charset="-122"/>
                <a:cs typeface="Calibri" pitchFamily="34" charset="-120"/>
              </a:rPr>
              <a:t>Workflow privacy automatisé</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traitement des demandes RGPD</a:t>
            </a:r>
            <a:endParaRPr lang="en-US" sz="1100" dirty="0"/>
          </a:p>
          <a:p>
            <a:pPr indent="0" marL="0">
              <a:buNone/>
            </a:pPr>
            <a:r>
              <a:rPr lang="en-US" sz="1100" b="1" dirty="0">
                <a:solidFill>
                  <a:srgbClr val="06404F"/>
                </a:solidFill>
                <a:latin typeface="Calibri" pitchFamily="34" charset="0"/>
                <a:ea typeface="Calibri" pitchFamily="34" charset="-122"/>
                <a:cs typeface="Calibri" pitchFamily="34" charset="-120"/>
              </a:rPr>
              <a:t>QuickStart Library</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modèles de segments, contenus et parcours</a:t>
            </a:r>
            <a:endParaRPr lang="en-US" sz="1100" dirty="0"/>
          </a:p>
          <a:p>
            <a:pPr indent="0" marL="0">
              <a:buNone/>
            </a:pPr>
            <a:r>
              <a:rPr lang="en-US" sz="1100" b="1" dirty="0">
                <a:solidFill>
                  <a:srgbClr val="06404F"/>
                </a:solidFill>
                <a:latin typeface="Calibri" pitchFamily="34" charset="0"/>
                <a:ea typeface="Calibri" pitchFamily="34" charset="-122"/>
                <a:cs typeface="Calibri" pitchFamily="34" charset="-120"/>
              </a:rPr>
              <a:t>Ask Your Data</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interroger vos données en langage naturel</a:t>
            </a:r>
            <a:endParaRPr lang="en-US" sz="1100" dirty="0"/>
          </a:p>
          <a:p>
            <a:pPr indent="0" marL="0">
              <a:buNone/>
            </a:pPr>
            <a:r>
              <a:rPr lang="en-US" sz="1100" b="1" dirty="0">
                <a:solidFill>
                  <a:srgbClr val="06404F"/>
                </a:solidFill>
                <a:latin typeface="Calibri" pitchFamily="34" charset="0"/>
                <a:ea typeface="Calibri" pitchFamily="34" charset="-122"/>
                <a:cs typeface="Calibri" pitchFamily="34" charset="-120"/>
              </a:rPr>
              <a:t>Analytique temps réel</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comportements, campagnes, revenus</a:t>
            </a:r>
            <a:endParaRPr lang="en-US" sz="1100" dirty="0"/>
          </a:p>
          <a:p>
            <a:pPr indent="0" marL="0">
              <a:buNone/>
            </a:pPr>
            <a:r>
              <a:rPr lang="en-US" sz="1100" b="1" dirty="0">
                <a:solidFill>
                  <a:srgbClr val="06404F"/>
                </a:solidFill>
                <a:latin typeface="Calibri" pitchFamily="34" charset="0"/>
                <a:ea typeface="Calibri" pitchFamily="34" charset="-122"/>
                <a:cs typeface="Calibri" pitchFamily="34" charset="-120"/>
              </a:rPr>
              <a:t>WhatsApp et Interactive Moments</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options complémentaires, sur devis</a:t>
            </a:r>
            <a:endParaRPr lang="en-US" sz="1100" dirty="0"/>
          </a:p>
        </p:txBody>
      </p:sp>
      <p:sp>
        <p:nvSpPr>
          <p:cNvPr id="17" name="Shape 14"/>
          <p:cNvSpPr/>
          <p:nvPr/>
        </p:nvSpPr>
        <p:spPr>
          <a:xfrm>
            <a:off x="8143037" y="1965960"/>
            <a:ext cx="3545738" cy="3977640"/>
          </a:xfrm>
          <a:prstGeom prst="roundRect">
            <a:avLst>
              <a:gd name="adj" fmla="val 3095"/>
            </a:avLst>
          </a:prstGeom>
          <a:solidFill>
            <a:srgbClr val="FFFFFF"/>
          </a:solidFill>
          <a:ln w="12700">
            <a:solidFill>
              <a:srgbClr val="FFFFFF"/>
            </a:solidFill>
            <a:prstDash val="solid"/>
          </a:ln>
          <a:effectLst>
            <a:outerShdw sx="100000" sy="100000" kx="0" ky="0" algn="bl" rotWithShape="0" blurRad="76200" dist="25400" dir="5400000">
              <a:srgbClr val="000000">
                <a:alpha val="10000"/>
              </a:srgbClr>
            </a:outerShdw>
          </a:effectLst>
        </p:spPr>
      </p:sp>
      <p:sp>
        <p:nvSpPr>
          <p:cNvPr id="18" name="Shape 15"/>
          <p:cNvSpPr/>
          <p:nvPr/>
        </p:nvSpPr>
        <p:spPr>
          <a:xfrm>
            <a:off x="8371637" y="2167128"/>
            <a:ext cx="1371600" cy="292608"/>
          </a:xfrm>
          <a:prstGeom prst="roundRect">
            <a:avLst>
              <a:gd name="adj" fmla="val 50000"/>
            </a:avLst>
          </a:prstGeom>
          <a:solidFill>
            <a:srgbClr val="3D8E9C"/>
          </a:solidFill>
          <a:ln w="12700">
            <a:solidFill>
              <a:srgbClr val="3D8E9C"/>
            </a:solidFill>
            <a:prstDash val="solid"/>
          </a:ln>
        </p:spPr>
      </p:sp>
      <p:sp>
        <p:nvSpPr>
          <p:cNvPr id="19" name="Text 16"/>
          <p:cNvSpPr txBox="1"/>
          <p:nvPr/>
        </p:nvSpPr>
        <p:spPr>
          <a:xfrm>
            <a:off x="8371637" y="2167128"/>
            <a:ext cx="13716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PLUS TARD</a:t>
            </a:r>
            <a:endParaRPr lang="en-US" sz="950" dirty="0"/>
          </a:p>
        </p:txBody>
      </p:sp>
      <p:sp>
        <p:nvSpPr>
          <p:cNvPr id="20" name="Text 17"/>
          <p:cNvSpPr txBox="1"/>
          <p:nvPr/>
        </p:nvSpPr>
        <p:spPr>
          <a:xfrm>
            <a:off x="8371637" y="2624328"/>
            <a:ext cx="3088538" cy="3200400"/>
          </a:xfrm>
          <a:prstGeom prst="rect">
            <a:avLst/>
          </a:prstGeom>
          <a:noFill/>
          <a:ln/>
        </p:spPr>
        <p:txBody>
          <a:bodyPr wrap="square" lIns="0" tIns="0" rIns="0" bIns="0" rtlCol="0" anchor="t"/>
          <a:lstStyle/>
          <a:p>
            <a:pPr indent="0" marL="0">
              <a:buNone/>
            </a:pPr>
            <a:r>
              <a:rPr lang="en-US" sz="1100" b="1" dirty="0">
                <a:solidFill>
                  <a:srgbClr val="06404F"/>
                </a:solidFill>
                <a:latin typeface="Calibri" pitchFamily="34" charset="0"/>
                <a:ea typeface="Calibri" pitchFamily="34" charset="-122"/>
                <a:cs typeface="Calibri" pitchFamily="34" charset="-120"/>
              </a:rPr>
              <a:t>Vue client enrichie</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vue unique temps réel et segmentation relationnelle</a:t>
            </a:r>
            <a:endParaRPr lang="en-US" sz="1100" dirty="0"/>
          </a:p>
          <a:p>
            <a:pPr indent="0" marL="0">
              <a:buNone/>
            </a:pPr>
            <a:r>
              <a:rPr lang="en-US" sz="1100" b="1" dirty="0">
                <a:solidFill>
                  <a:srgbClr val="06404F"/>
                </a:solidFill>
                <a:latin typeface="Calibri" pitchFamily="34" charset="0"/>
                <a:ea typeface="Calibri" pitchFamily="34" charset="-122"/>
                <a:cs typeface="Calibri" pitchFamily="34" charset="-120"/>
              </a:rPr>
              <a:t>Blocs de contenu simplifiés</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blocs réutilisables sans compétence technique</a:t>
            </a:r>
            <a:endParaRPr lang="en-US" sz="1100" dirty="0"/>
          </a:p>
          <a:p>
            <a:pPr indent="0" marL="0">
              <a:buNone/>
            </a:pPr>
            <a:r>
              <a:rPr lang="en-US" sz="1100" b="1" dirty="0">
                <a:solidFill>
                  <a:srgbClr val="06404F"/>
                </a:solidFill>
                <a:latin typeface="Calibri" pitchFamily="34" charset="0"/>
                <a:ea typeface="Calibri" pitchFamily="34" charset="-122"/>
                <a:cs typeface="Calibri" pitchFamily="34" charset="-120"/>
              </a:rPr>
              <a:t>Audience Composition</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comprendre les étapes du cycle de vie</a:t>
            </a:r>
            <a:endParaRPr lang="en-US" sz="1100" dirty="0"/>
          </a:p>
          <a:p>
            <a:pPr indent="0" marL="0">
              <a:buNone/>
            </a:pPr>
            <a:r>
              <a:rPr lang="en-US" sz="1100" b="1" dirty="0">
                <a:solidFill>
                  <a:srgbClr val="06404F"/>
                </a:solidFill>
                <a:latin typeface="Calibri" pitchFamily="34" charset="0"/>
                <a:ea typeface="Calibri" pitchFamily="34" charset="-122"/>
                <a:cs typeface="Calibri" pitchFamily="34" charset="-120"/>
              </a:rPr>
              <a:t>Performance Advisor</a:t>
            </a:r>
            <a:endParaRPr lang="en-US" sz="1100" dirty="0"/>
          </a:p>
          <a:p>
            <a:pPr indent="0" marL="0">
              <a:spcAft>
                <a:spcPts val="900"/>
              </a:spcAft>
              <a:buNone/>
            </a:pPr>
            <a:r>
              <a:rPr lang="en-US" sz="1100" dirty="0">
                <a:solidFill>
                  <a:srgbClr val="6B7B83"/>
                </a:solidFill>
                <a:latin typeface="Calibri" pitchFamily="34" charset="0"/>
                <a:ea typeface="Calibri" pitchFamily="34" charset="-122"/>
                <a:cs typeface="Calibri" pitchFamily="34" charset="-120"/>
              </a:rPr>
              <a:t>recommandations pour optimiser l’impact</a:t>
            </a:r>
            <a:endParaRPr lang="en-US" sz="1100" dirty="0"/>
          </a:p>
        </p:txBody>
      </p:sp>
      <p:sp>
        <p:nvSpPr>
          <p:cNvPr id="21" name="Text 18"/>
          <p:cNvSpPr txBox="1"/>
          <p:nvPr/>
        </p:nvSpPr>
        <p:spPr>
          <a:xfrm>
            <a:off x="502920" y="6035040"/>
            <a:ext cx="11185855" cy="274320"/>
          </a:xfrm>
          <a:prstGeom prst="rect">
            <a:avLst/>
          </a:prstGeom>
          <a:noFill/>
          <a:ln/>
        </p:spPr>
        <p:txBody>
          <a:bodyPr wrap="square" lIns="0" tIns="0" rIns="0" bIns="0" rtlCol="0" anchor="t"/>
          <a:lstStyle/>
          <a:p>
            <a:pPr indent="0" marL="0">
              <a:buNone/>
            </a:pPr>
            <a:r>
              <a:rPr lang="en-US" sz="850" i="1" dirty="0">
                <a:solidFill>
                  <a:srgbClr val="6B7B83"/>
                </a:solidFill>
                <a:latin typeface="Calibri" pitchFamily="34" charset="0"/>
                <a:ea typeface="Calibri" pitchFamily="34" charset="-122"/>
                <a:cs typeface="Calibri" pitchFamily="34" charset="-120"/>
              </a:rPr>
              <a:t>Cette roadmap contient des éléments prospectifs susceptibles d’évoluer ; elle ne constitue ni une garantie ni un engagement de livraison de fonctionnalités. Le SSO Engage suit sa propre trajectoire (fenêtre cible T1 2027).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SYNTHÈSE</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Vos arbitrages : cinq questions pour orienter la suite</a:t>
            </a:r>
            <a:endParaRPr lang="en-US" sz="26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Vos réponses en séance alimentent directement le plan d’actions de la page suivante.</a:t>
            </a:r>
            <a:endParaRPr lang="en-US" sz="1300" dirty="0"/>
          </a:p>
        </p:txBody>
      </p:sp>
      <p:sp>
        <p:nvSpPr>
          <p:cNvPr id="7" name="Text 4"/>
          <p:cNvSpPr txBox="1"/>
          <p:nvPr/>
        </p:nvSpPr>
        <p:spPr>
          <a:xfrm>
            <a:off x="502920" y="6473952"/>
            <a:ext cx="7315200" cy="228600"/>
          </a:xfrm>
          <a:prstGeom prst="rect">
            <a:avLst/>
          </a:prstGeom>
          <a:noFill/>
          <a:ln/>
        </p:spPr>
        <p:txBody>
          <a:bodyPr wrap="square" lIns="0" tIns="0" rIns="0" bIns="0" rtlCol="0" anchor="ctr"/>
          <a:lstStyle/>
          <a:p>
            <a:pPr indent="0" marL="0">
              <a:buNone/>
            </a:pPr>
            <a:r>
              <a:rPr lang="en-US" sz="850" dirty="0">
                <a:solidFill>
                  <a:srgbClr val="6B7B83"/>
                </a:solidFill>
                <a:latin typeface="Calibri" pitchFamily="34" charset="0"/>
                <a:ea typeface="Calibri" pitchFamily="34" charset="-122"/>
                <a:cs typeface="Calibri" pitchFamily="34" charset="-120"/>
              </a:rPr>
              <a:t>COPIL Mutuelle Viasanté · 14 septembre 2026 · Confidentiel</a:t>
            </a:r>
            <a:endParaRPr lang="en-US" sz="850" dirty="0"/>
          </a:p>
        </p:txBody>
      </p:sp>
      <p:sp>
        <p:nvSpPr>
          <p:cNvPr id="8" name="Text 5"/>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850" dirty="0">
                <a:solidFill>
                  <a:srgbClr val="6B7B83"/>
                </a:solidFill>
                <a:latin typeface="Calibri" pitchFamily="34" charset="0"/>
                <a:ea typeface="Calibri" pitchFamily="34" charset="-122"/>
                <a:cs typeface="Calibri" pitchFamily="34" charset="-120"/>
              </a:rPr>
              <a:t>17</a:t>
            </a:r>
            <a:endParaRPr lang="en-US" sz="850" dirty="0"/>
          </a:p>
        </p:txBody>
      </p:sp>
      <p:sp>
        <p:nvSpPr>
          <p:cNvPr id="9" name="Shape 6"/>
          <p:cNvSpPr/>
          <p:nvPr/>
        </p:nvSpPr>
        <p:spPr>
          <a:xfrm>
            <a:off x="502920" y="1965960"/>
            <a:ext cx="11185855" cy="731520"/>
          </a:xfrm>
          <a:prstGeom prst="roundRect">
            <a:avLst>
              <a:gd name="adj" fmla="val 15000"/>
            </a:avLst>
          </a:prstGeom>
          <a:solidFill>
            <a:srgbClr val="F2F8F9"/>
          </a:solidFill>
          <a:ln w="12700">
            <a:solidFill>
              <a:srgbClr val="F2F8F9"/>
            </a:solidFill>
            <a:prstDash val="solid"/>
          </a:ln>
        </p:spPr>
      </p:sp>
      <p:sp>
        <p:nvSpPr>
          <p:cNvPr id="10" name="Shape 7"/>
          <p:cNvSpPr/>
          <p:nvPr/>
        </p:nvSpPr>
        <p:spPr>
          <a:xfrm>
            <a:off x="704088" y="2121408"/>
            <a:ext cx="420624" cy="420624"/>
          </a:xfrm>
          <a:prstGeom prst="ellipse">
            <a:avLst/>
          </a:prstGeom>
          <a:solidFill>
            <a:srgbClr val="F28C28"/>
          </a:solidFill>
          <a:ln w="12700">
            <a:solidFill>
              <a:srgbClr val="F28C28"/>
            </a:solidFill>
            <a:prstDash val="solid"/>
          </a:ln>
        </p:spPr>
      </p:sp>
      <p:sp>
        <p:nvSpPr>
          <p:cNvPr id="11" name="Text 8"/>
          <p:cNvSpPr txBox="1"/>
          <p:nvPr/>
        </p:nvSpPr>
        <p:spPr>
          <a:xfrm>
            <a:off x="704088" y="2121408"/>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12" name="Shape 9"/>
          <p:cNvSpPr/>
          <p:nvPr/>
        </p:nvSpPr>
        <p:spPr>
          <a:xfrm>
            <a:off x="1280160" y="2121408"/>
            <a:ext cx="420624" cy="420624"/>
          </a:xfrm>
          <a:prstGeom prst="ellipse">
            <a:avLst/>
          </a:prstGeom>
          <a:solidFill>
            <a:srgbClr val="E4F0F2"/>
          </a:solidFill>
          <a:ln w="12700">
            <a:solidFill>
              <a:srgbClr val="E4F0F2"/>
            </a:solidFill>
            <a:prstDash val="solid"/>
          </a:ln>
        </p:spPr>
      </p:sp>
      <p:pic>
        <p:nvPicPr>
          <p:cNvPr id="13" name="Image 1" descr="preencoded.png">    </p:cNvPr>
          <p:cNvPicPr>
            <a:picLocks noChangeAspect="1"/>
          </p:cNvPicPr>
          <p:nvPr/>
        </p:nvPicPr>
        <p:blipFill>
          <a:blip r:embed="rId2"/>
          <a:stretch>
            <a:fillRect/>
          </a:stretch>
        </p:blipFill>
        <p:spPr>
          <a:xfrm>
            <a:off x="1389522" y="2230770"/>
            <a:ext cx="201900" cy="201900"/>
          </a:xfrm>
          <a:prstGeom prst="rect">
            <a:avLst/>
          </a:prstGeom>
        </p:spPr>
      </p:pic>
      <p:sp>
        <p:nvSpPr>
          <p:cNvPr id="14" name="Text 10"/>
          <p:cNvSpPr txBox="1"/>
          <p:nvPr/>
        </p:nvSpPr>
        <p:spPr>
          <a:xfrm>
            <a:off x="1856232" y="1965960"/>
            <a:ext cx="1737360" cy="73152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Base de données</a:t>
            </a:r>
            <a:endParaRPr lang="en-US" sz="1250" dirty="0"/>
          </a:p>
        </p:txBody>
      </p:sp>
      <p:sp>
        <p:nvSpPr>
          <p:cNvPr id="15" name="Text 11"/>
          <p:cNvSpPr txBox="1"/>
          <p:nvPr/>
        </p:nvSpPr>
        <p:spPr>
          <a:xfrm>
            <a:off x="3657600" y="1965960"/>
            <a:ext cx="7802575" cy="731520"/>
          </a:xfrm>
          <a:prstGeom prst="rect">
            <a:avLst/>
          </a:prstGeom>
          <a:noFill/>
          <a:ln/>
        </p:spPr>
        <p:txBody>
          <a:bodyPr wrap="square" lIns="0" tIns="0" rIns="0" bIns="0" rtlCol="0" anchor="ctr"/>
          <a:lstStyle/>
          <a:p>
            <a:pPr indent="0" marL="0">
              <a:buNone/>
            </a:pPr>
            <a:r>
              <a:rPr lang="en-US" sz="1250" dirty="0">
                <a:solidFill>
                  <a:srgbClr val="1F2A30"/>
                </a:solidFill>
                <a:latin typeface="Calibri" pitchFamily="34" charset="0"/>
                <a:ea typeface="Calibri" pitchFamily="34" charset="-122"/>
                <a:cs typeface="Calibri" pitchFamily="34" charset="-120"/>
              </a:rPr>
              <a:t>Lançons-nous l’audit de nettoyage en octobre avant d’envisager une extension de capacité ?</a:t>
            </a:r>
            <a:endParaRPr lang="en-US" sz="1250" dirty="0"/>
          </a:p>
        </p:txBody>
      </p:sp>
      <p:sp>
        <p:nvSpPr>
          <p:cNvPr id="16" name="Shape 12"/>
          <p:cNvSpPr/>
          <p:nvPr/>
        </p:nvSpPr>
        <p:spPr>
          <a:xfrm>
            <a:off x="502920" y="2807208"/>
            <a:ext cx="11185855" cy="731520"/>
          </a:xfrm>
          <a:prstGeom prst="roundRect">
            <a:avLst>
              <a:gd name="adj" fmla="val 15000"/>
            </a:avLst>
          </a:prstGeom>
          <a:solidFill>
            <a:srgbClr val="FFFFFF"/>
          </a:solidFill>
          <a:ln w="9525">
            <a:solidFill>
              <a:srgbClr val="D6E0E3"/>
            </a:solidFill>
            <a:prstDash val="solid"/>
          </a:ln>
        </p:spPr>
      </p:sp>
      <p:sp>
        <p:nvSpPr>
          <p:cNvPr id="17" name="Shape 13"/>
          <p:cNvSpPr/>
          <p:nvPr/>
        </p:nvSpPr>
        <p:spPr>
          <a:xfrm>
            <a:off x="704088" y="2962656"/>
            <a:ext cx="420624" cy="420624"/>
          </a:xfrm>
          <a:prstGeom prst="ellipse">
            <a:avLst/>
          </a:prstGeom>
          <a:solidFill>
            <a:srgbClr val="F28C28"/>
          </a:solidFill>
          <a:ln w="12700">
            <a:solidFill>
              <a:srgbClr val="F28C28"/>
            </a:solidFill>
            <a:prstDash val="solid"/>
          </a:ln>
        </p:spPr>
      </p:sp>
      <p:sp>
        <p:nvSpPr>
          <p:cNvPr id="18" name="Text 14"/>
          <p:cNvSpPr txBox="1"/>
          <p:nvPr/>
        </p:nvSpPr>
        <p:spPr>
          <a:xfrm>
            <a:off x="704088" y="2962656"/>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9" name="Shape 15"/>
          <p:cNvSpPr/>
          <p:nvPr/>
        </p:nvSpPr>
        <p:spPr>
          <a:xfrm>
            <a:off x="1280160" y="2962656"/>
            <a:ext cx="420624" cy="420624"/>
          </a:xfrm>
          <a:prstGeom prst="ellipse">
            <a:avLst/>
          </a:prstGeom>
          <a:solidFill>
            <a:srgbClr val="E4F0F2"/>
          </a:solidFill>
          <a:ln w="12700">
            <a:solidFill>
              <a:srgbClr val="E4F0F2"/>
            </a:solidFill>
            <a:prstDash val="solid"/>
          </a:ln>
        </p:spPr>
      </p:sp>
      <p:pic>
        <p:nvPicPr>
          <p:cNvPr id="20" name="Image 2" descr="preencoded.png">    </p:cNvPr>
          <p:cNvPicPr>
            <a:picLocks noChangeAspect="1"/>
          </p:cNvPicPr>
          <p:nvPr/>
        </p:nvPicPr>
        <p:blipFill>
          <a:blip r:embed="rId3"/>
          <a:stretch>
            <a:fillRect/>
          </a:stretch>
        </p:blipFill>
        <p:spPr>
          <a:xfrm>
            <a:off x="1389522" y="3072018"/>
            <a:ext cx="201900" cy="201900"/>
          </a:xfrm>
          <a:prstGeom prst="rect">
            <a:avLst/>
          </a:prstGeom>
        </p:spPr>
      </p:pic>
      <p:sp>
        <p:nvSpPr>
          <p:cNvPr id="21" name="Text 16"/>
          <p:cNvSpPr txBox="1"/>
          <p:nvPr/>
        </p:nvSpPr>
        <p:spPr>
          <a:xfrm>
            <a:off x="1856232" y="2807208"/>
            <a:ext cx="1737360" cy="73152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Audience</a:t>
            </a:r>
            <a:endParaRPr lang="en-US" sz="1250" dirty="0"/>
          </a:p>
        </p:txBody>
      </p:sp>
      <p:sp>
        <p:nvSpPr>
          <p:cNvPr id="22" name="Text 17"/>
          <p:cNvSpPr txBox="1"/>
          <p:nvPr/>
        </p:nvSpPr>
        <p:spPr>
          <a:xfrm>
            <a:off x="3657600" y="2807208"/>
            <a:ext cx="7802575" cy="731520"/>
          </a:xfrm>
          <a:prstGeom prst="rect">
            <a:avLst/>
          </a:prstGeom>
          <a:noFill/>
          <a:ln/>
        </p:spPr>
        <p:txBody>
          <a:bodyPr wrap="square" lIns="0" tIns="0" rIns="0" bIns="0" rtlCol="0" anchor="ctr"/>
          <a:lstStyle/>
          <a:p>
            <a:pPr indent="0" marL="0">
              <a:buNone/>
            </a:pPr>
            <a:r>
              <a:rPr lang="en-US" sz="1250" dirty="0">
                <a:solidFill>
                  <a:srgbClr val="1F2A30"/>
                </a:solidFill>
                <a:latin typeface="Calibri" pitchFamily="34" charset="0"/>
                <a:ea typeface="Calibri" pitchFamily="34" charset="-122"/>
                <a:cs typeface="Calibri" pitchFamily="34" charset="-120"/>
              </a:rPr>
              <a:t>La croissance de votre base de contacts (+17,5 % sur 14 mois) est-elle conforme à votre plan 2027 ?</a:t>
            </a:r>
            <a:endParaRPr lang="en-US" sz="1250" dirty="0"/>
          </a:p>
        </p:txBody>
      </p:sp>
      <p:sp>
        <p:nvSpPr>
          <p:cNvPr id="23" name="Shape 18"/>
          <p:cNvSpPr/>
          <p:nvPr/>
        </p:nvSpPr>
        <p:spPr>
          <a:xfrm>
            <a:off x="502920" y="3648456"/>
            <a:ext cx="11185855" cy="731520"/>
          </a:xfrm>
          <a:prstGeom prst="roundRect">
            <a:avLst>
              <a:gd name="adj" fmla="val 15000"/>
            </a:avLst>
          </a:prstGeom>
          <a:solidFill>
            <a:srgbClr val="F2F8F9"/>
          </a:solidFill>
          <a:ln w="12700">
            <a:solidFill>
              <a:srgbClr val="F2F8F9"/>
            </a:solidFill>
            <a:prstDash val="solid"/>
          </a:ln>
        </p:spPr>
      </p:sp>
      <p:sp>
        <p:nvSpPr>
          <p:cNvPr id="24" name="Shape 19"/>
          <p:cNvSpPr/>
          <p:nvPr/>
        </p:nvSpPr>
        <p:spPr>
          <a:xfrm>
            <a:off x="704088" y="3803904"/>
            <a:ext cx="420624" cy="420624"/>
          </a:xfrm>
          <a:prstGeom prst="ellipse">
            <a:avLst/>
          </a:prstGeom>
          <a:solidFill>
            <a:srgbClr val="F28C28"/>
          </a:solidFill>
          <a:ln w="12700">
            <a:solidFill>
              <a:srgbClr val="F28C28"/>
            </a:solidFill>
            <a:prstDash val="solid"/>
          </a:ln>
        </p:spPr>
      </p:sp>
      <p:sp>
        <p:nvSpPr>
          <p:cNvPr id="25" name="Text 20"/>
          <p:cNvSpPr txBox="1"/>
          <p:nvPr/>
        </p:nvSpPr>
        <p:spPr>
          <a:xfrm>
            <a:off x="704088" y="3803904"/>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26" name="Shape 21"/>
          <p:cNvSpPr/>
          <p:nvPr/>
        </p:nvSpPr>
        <p:spPr>
          <a:xfrm>
            <a:off x="1280160" y="3803904"/>
            <a:ext cx="420624" cy="420624"/>
          </a:xfrm>
          <a:prstGeom prst="ellipse">
            <a:avLst/>
          </a:prstGeom>
          <a:solidFill>
            <a:srgbClr val="E4F0F2"/>
          </a:solidFill>
          <a:ln w="12700">
            <a:solidFill>
              <a:srgbClr val="E4F0F2"/>
            </a:solidFill>
            <a:prstDash val="solid"/>
          </a:ln>
        </p:spPr>
      </p:sp>
      <p:pic>
        <p:nvPicPr>
          <p:cNvPr id="27" name="Image 3" descr="preencoded.png">    </p:cNvPr>
          <p:cNvPicPr>
            <a:picLocks noChangeAspect="1"/>
          </p:cNvPicPr>
          <p:nvPr/>
        </p:nvPicPr>
        <p:blipFill>
          <a:blip r:embed="rId4"/>
          <a:stretch>
            <a:fillRect/>
          </a:stretch>
        </p:blipFill>
        <p:spPr>
          <a:xfrm>
            <a:off x="1389522" y="3913266"/>
            <a:ext cx="201900" cy="201900"/>
          </a:xfrm>
          <a:prstGeom prst="rect">
            <a:avLst/>
          </a:prstGeom>
        </p:spPr>
      </p:pic>
      <p:sp>
        <p:nvSpPr>
          <p:cNvPr id="28" name="Text 22"/>
          <p:cNvSpPr txBox="1"/>
          <p:nvPr/>
        </p:nvSpPr>
        <p:spPr>
          <a:xfrm>
            <a:off x="1856232" y="3648456"/>
            <a:ext cx="1737360" cy="73152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Email</a:t>
            </a:r>
            <a:endParaRPr lang="en-US" sz="1250" dirty="0"/>
          </a:p>
        </p:txBody>
      </p:sp>
      <p:sp>
        <p:nvSpPr>
          <p:cNvPr id="29" name="Text 23"/>
          <p:cNvSpPr txBox="1"/>
          <p:nvPr/>
        </p:nvSpPr>
        <p:spPr>
          <a:xfrm>
            <a:off x="3657600" y="3648456"/>
            <a:ext cx="7802575" cy="731520"/>
          </a:xfrm>
          <a:prstGeom prst="rect">
            <a:avLst/>
          </a:prstGeom>
          <a:noFill/>
          <a:ln/>
        </p:spPr>
        <p:txBody>
          <a:bodyPr wrap="square" lIns="0" tIns="0" rIns="0" bIns="0" rtlCol="0" anchor="ctr"/>
          <a:lstStyle/>
          <a:p>
            <a:pPr indent="0" marL="0">
              <a:buNone/>
            </a:pPr>
            <a:r>
              <a:rPr lang="en-US" sz="1250" dirty="0">
                <a:solidFill>
                  <a:srgbClr val="1F2A30"/>
                </a:solidFill>
                <a:latin typeface="Calibri" pitchFamily="34" charset="0"/>
                <a:ea typeface="Calibri" pitchFamily="34" charset="-122"/>
                <a:cs typeface="Calibri" pitchFamily="34" charset="-120"/>
              </a:rPr>
              <a:t>Quelles sont les trois campagnes prioritaires à traiter dans l’atelier d’optimisation des clics ?</a:t>
            </a:r>
            <a:endParaRPr lang="en-US" sz="1250" dirty="0"/>
          </a:p>
        </p:txBody>
      </p:sp>
      <p:sp>
        <p:nvSpPr>
          <p:cNvPr id="30" name="Shape 24"/>
          <p:cNvSpPr/>
          <p:nvPr/>
        </p:nvSpPr>
        <p:spPr>
          <a:xfrm>
            <a:off x="502920" y="4489704"/>
            <a:ext cx="11185855" cy="731520"/>
          </a:xfrm>
          <a:prstGeom prst="roundRect">
            <a:avLst>
              <a:gd name="adj" fmla="val 15000"/>
            </a:avLst>
          </a:prstGeom>
          <a:solidFill>
            <a:srgbClr val="FFFFFF"/>
          </a:solidFill>
          <a:ln w="9525">
            <a:solidFill>
              <a:srgbClr val="D6E0E3"/>
            </a:solidFill>
            <a:prstDash val="solid"/>
          </a:ln>
        </p:spPr>
      </p:sp>
      <p:sp>
        <p:nvSpPr>
          <p:cNvPr id="31" name="Shape 25"/>
          <p:cNvSpPr/>
          <p:nvPr/>
        </p:nvSpPr>
        <p:spPr>
          <a:xfrm>
            <a:off x="704088" y="4645152"/>
            <a:ext cx="420624" cy="420624"/>
          </a:xfrm>
          <a:prstGeom prst="ellipse">
            <a:avLst/>
          </a:prstGeom>
          <a:solidFill>
            <a:srgbClr val="F28C28"/>
          </a:solidFill>
          <a:ln w="12700">
            <a:solidFill>
              <a:srgbClr val="F28C28"/>
            </a:solidFill>
            <a:prstDash val="solid"/>
          </a:ln>
        </p:spPr>
      </p:sp>
      <p:sp>
        <p:nvSpPr>
          <p:cNvPr id="32" name="Text 26"/>
          <p:cNvSpPr txBox="1"/>
          <p:nvPr/>
        </p:nvSpPr>
        <p:spPr>
          <a:xfrm>
            <a:off x="704088" y="4645152"/>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33" name="Shape 27"/>
          <p:cNvSpPr/>
          <p:nvPr/>
        </p:nvSpPr>
        <p:spPr>
          <a:xfrm>
            <a:off x="1280160" y="4645152"/>
            <a:ext cx="420624" cy="420624"/>
          </a:xfrm>
          <a:prstGeom prst="ellipse">
            <a:avLst/>
          </a:prstGeom>
          <a:solidFill>
            <a:srgbClr val="E4F0F2"/>
          </a:solidFill>
          <a:ln w="12700">
            <a:solidFill>
              <a:srgbClr val="E4F0F2"/>
            </a:solidFill>
            <a:prstDash val="solid"/>
          </a:ln>
        </p:spPr>
      </p:sp>
      <p:pic>
        <p:nvPicPr>
          <p:cNvPr id="34" name="Image 4" descr="preencoded.png">    </p:cNvPr>
          <p:cNvPicPr>
            <a:picLocks noChangeAspect="1"/>
          </p:cNvPicPr>
          <p:nvPr/>
        </p:nvPicPr>
        <p:blipFill>
          <a:blip r:embed="rId5"/>
          <a:stretch>
            <a:fillRect/>
          </a:stretch>
        </p:blipFill>
        <p:spPr>
          <a:xfrm>
            <a:off x="1389522" y="4754514"/>
            <a:ext cx="201900" cy="201900"/>
          </a:xfrm>
          <a:prstGeom prst="rect">
            <a:avLst/>
          </a:prstGeom>
        </p:spPr>
      </p:pic>
      <p:sp>
        <p:nvSpPr>
          <p:cNvPr id="35" name="Text 28"/>
          <p:cNvSpPr txBox="1"/>
          <p:nvPr/>
        </p:nvSpPr>
        <p:spPr>
          <a:xfrm>
            <a:off x="1856232" y="4489704"/>
            <a:ext cx="1737360" cy="73152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Mobile</a:t>
            </a:r>
            <a:endParaRPr lang="en-US" sz="1250" dirty="0"/>
          </a:p>
        </p:txBody>
      </p:sp>
      <p:sp>
        <p:nvSpPr>
          <p:cNvPr id="36" name="Text 29"/>
          <p:cNvSpPr txBox="1"/>
          <p:nvPr/>
        </p:nvSpPr>
        <p:spPr>
          <a:xfrm>
            <a:off x="3657600" y="4489704"/>
            <a:ext cx="7802575" cy="731520"/>
          </a:xfrm>
          <a:prstGeom prst="rect">
            <a:avLst/>
          </a:prstGeom>
          <a:noFill/>
          <a:ln/>
        </p:spPr>
        <p:txBody>
          <a:bodyPr wrap="square" lIns="0" tIns="0" rIns="0" bIns="0" rtlCol="0" anchor="ctr"/>
          <a:lstStyle/>
          <a:p>
            <a:pPr indent="0" marL="0">
              <a:buNone/>
            </a:pPr>
            <a:r>
              <a:rPr lang="en-US" sz="1250" dirty="0">
                <a:solidFill>
                  <a:srgbClr val="1F2A30"/>
                </a:solidFill>
                <a:latin typeface="Calibri" pitchFamily="34" charset="0"/>
                <a:ea typeface="Calibri" pitchFamily="34" charset="-122"/>
                <a:cs typeface="Calibri" pitchFamily="34" charset="-120"/>
              </a:rPr>
              <a:t>Quelle ambition SMS / RCS en 2027 : option simple (LinkMobility) ou expérience enrichie (Infobip) ?</a:t>
            </a:r>
            <a:endParaRPr lang="en-US" sz="1250" dirty="0"/>
          </a:p>
        </p:txBody>
      </p:sp>
      <p:sp>
        <p:nvSpPr>
          <p:cNvPr id="37" name="Shape 30"/>
          <p:cNvSpPr/>
          <p:nvPr/>
        </p:nvSpPr>
        <p:spPr>
          <a:xfrm>
            <a:off x="502920" y="5330952"/>
            <a:ext cx="11185855" cy="731520"/>
          </a:xfrm>
          <a:prstGeom prst="roundRect">
            <a:avLst>
              <a:gd name="adj" fmla="val 15000"/>
            </a:avLst>
          </a:prstGeom>
          <a:solidFill>
            <a:srgbClr val="F2F8F9"/>
          </a:solidFill>
          <a:ln w="12700">
            <a:solidFill>
              <a:srgbClr val="F2F8F9"/>
            </a:solidFill>
            <a:prstDash val="solid"/>
          </a:ln>
        </p:spPr>
      </p:sp>
      <p:sp>
        <p:nvSpPr>
          <p:cNvPr id="38" name="Shape 31"/>
          <p:cNvSpPr/>
          <p:nvPr/>
        </p:nvSpPr>
        <p:spPr>
          <a:xfrm>
            <a:off x="704088" y="5486400"/>
            <a:ext cx="420624" cy="420624"/>
          </a:xfrm>
          <a:prstGeom prst="ellipse">
            <a:avLst/>
          </a:prstGeom>
          <a:solidFill>
            <a:srgbClr val="F28C28"/>
          </a:solidFill>
          <a:ln w="12700">
            <a:solidFill>
              <a:srgbClr val="F28C28"/>
            </a:solidFill>
            <a:prstDash val="solid"/>
          </a:ln>
        </p:spPr>
      </p:sp>
      <p:sp>
        <p:nvSpPr>
          <p:cNvPr id="39" name="Text 32"/>
          <p:cNvSpPr txBox="1"/>
          <p:nvPr/>
        </p:nvSpPr>
        <p:spPr>
          <a:xfrm>
            <a:off x="704088" y="5486400"/>
            <a:ext cx="420624" cy="420624"/>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40" name="Shape 33"/>
          <p:cNvSpPr/>
          <p:nvPr/>
        </p:nvSpPr>
        <p:spPr>
          <a:xfrm>
            <a:off x="1280160" y="5486400"/>
            <a:ext cx="420624" cy="420624"/>
          </a:xfrm>
          <a:prstGeom prst="ellipse">
            <a:avLst/>
          </a:prstGeom>
          <a:solidFill>
            <a:srgbClr val="E4F0F2"/>
          </a:solidFill>
          <a:ln w="12700">
            <a:solidFill>
              <a:srgbClr val="E4F0F2"/>
            </a:solidFill>
            <a:prstDash val="solid"/>
          </a:ln>
        </p:spPr>
      </p:sp>
      <p:pic>
        <p:nvPicPr>
          <p:cNvPr id="41" name="Image 5" descr="preencoded.png">    </p:cNvPr>
          <p:cNvPicPr>
            <a:picLocks noChangeAspect="1"/>
          </p:cNvPicPr>
          <p:nvPr/>
        </p:nvPicPr>
        <p:blipFill>
          <a:blip r:embed="rId6"/>
          <a:stretch>
            <a:fillRect/>
          </a:stretch>
        </p:blipFill>
        <p:spPr>
          <a:xfrm>
            <a:off x="1389522" y="5595762"/>
            <a:ext cx="201900" cy="201900"/>
          </a:xfrm>
          <a:prstGeom prst="rect">
            <a:avLst/>
          </a:prstGeom>
        </p:spPr>
      </p:pic>
      <p:sp>
        <p:nvSpPr>
          <p:cNvPr id="42" name="Text 34"/>
          <p:cNvSpPr txBox="1"/>
          <p:nvPr/>
        </p:nvSpPr>
        <p:spPr>
          <a:xfrm>
            <a:off x="1856232" y="5330952"/>
            <a:ext cx="1737360" cy="731520"/>
          </a:xfrm>
          <a:prstGeom prst="rect">
            <a:avLst/>
          </a:prstGeom>
          <a:noFill/>
          <a:ln/>
        </p:spPr>
        <p:txBody>
          <a:bodyPr wrap="square" lIns="0" tIns="0" rIns="0" bIns="0" rtlCol="0" anchor="ctr"/>
          <a:lstStyle/>
          <a:p>
            <a:pPr indent="0" marL="0">
              <a:buNone/>
            </a:pPr>
            <a:r>
              <a:rPr lang="en-US" sz="1250" b="1" dirty="0">
                <a:solidFill>
                  <a:srgbClr val="06404F"/>
                </a:solidFill>
                <a:latin typeface="Calibri" pitchFamily="34" charset="0"/>
                <a:ea typeface="Calibri" pitchFamily="34" charset="-122"/>
                <a:cs typeface="Calibri" pitchFamily="34" charset="-120"/>
              </a:rPr>
              <a:t>Conformité</a:t>
            </a:r>
            <a:endParaRPr lang="en-US" sz="1250" dirty="0"/>
          </a:p>
        </p:txBody>
      </p:sp>
      <p:sp>
        <p:nvSpPr>
          <p:cNvPr id="43" name="Text 35"/>
          <p:cNvSpPr txBox="1"/>
          <p:nvPr/>
        </p:nvSpPr>
        <p:spPr>
          <a:xfrm>
            <a:off x="3657600" y="5330952"/>
            <a:ext cx="7802575" cy="731520"/>
          </a:xfrm>
          <a:prstGeom prst="rect">
            <a:avLst/>
          </a:prstGeom>
          <a:noFill/>
          <a:ln/>
        </p:spPr>
        <p:txBody>
          <a:bodyPr wrap="square" lIns="0" tIns="0" rIns="0" bIns="0" rtlCol="0" anchor="ctr"/>
          <a:lstStyle/>
          <a:p>
            <a:pPr indent="0" marL="0">
              <a:buNone/>
            </a:pPr>
            <a:r>
              <a:rPr lang="en-US" sz="1250" dirty="0">
                <a:solidFill>
                  <a:srgbClr val="1F2A30"/>
                </a:solidFill>
                <a:latin typeface="Calibri" pitchFamily="34" charset="0"/>
                <a:ea typeface="Calibri" pitchFamily="34" charset="-122"/>
                <a:cs typeface="Calibri" pitchFamily="34" charset="-120"/>
              </a:rPr>
              <a:t>Quelle date pour l’atelier DPO, et quelles typologies d’emails traiter en priorité ?</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teal.png">    </p:cNvPr>
          <p:cNvPicPr>
            <a:picLocks noChangeAspect="1"/>
          </p:cNvPicPr>
          <p:nvPr/>
        </p:nvPicPr>
        <p:blipFill>
          <a:blip r:embed="rId1"/>
          <a:stretch>
            <a:fillRect/>
          </a:stretch>
        </p:blipFill>
        <p:spPr>
          <a:xfrm>
            <a:off x="502920" y="292608"/>
            <a:ext cx="1143000" cy="411636"/>
          </a:xfrm>
          <a:prstGeom prst="rect">
            <a:avLst/>
          </a:prstGeom>
        </p:spPr>
      </p:pic>
      <p:sp>
        <p:nvSpPr>
          <p:cNvPr id="3" name="Shape 0"/>
          <p:cNvSpPr/>
          <p:nvPr/>
        </p:nvSpPr>
        <p:spPr>
          <a:xfrm>
            <a:off x="10225735" y="329184"/>
            <a:ext cx="1463040" cy="274320"/>
          </a:xfrm>
          <a:prstGeom prst="roundRect">
            <a:avLst>
              <a:gd name="adj" fmla="val 50000"/>
            </a:avLst>
          </a:prstGeom>
          <a:solidFill>
            <a:srgbClr val="E4F0F2"/>
          </a:solidFill>
          <a:ln w="12700">
            <a:solidFill>
              <a:srgbClr val="E4F0F2"/>
            </a:solidFill>
            <a:prstDash val="solid"/>
          </a:ln>
        </p:spPr>
      </p:sp>
      <p:sp>
        <p:nvSpPr>
          <p:cNvPr id="4" name="Text 1"/>
          <p:cNvSpPr txBox="1"/>
          <p:nvPr/>
        </p:nvSpPr>
        <p:spPr>
          <a:xfrm>
            <a:off x="10225735" y="329184"/>
            <a:ext cx="1463040" cy="274320"/>
          </a:xfrm>
          <a:prstGeom prst="rect">
            <a:avLst/>
          </a:prstGeom>
          <a:noFill/>
          <a:ln/>
        </p:spPr>
        <p:txBody>
          <a:bodyPr wrap="square" lIns="0" tIns="0" rIns="0" bIns="0" rtlCol="0" anchor="ctr"/>
          <a:lstStyle/>
          <a:p>
            <a:pPr algn="ctr" indent="0" marL="0">
              <a:buNone/>
            </a:pPr>
            <a:r>
              <a:rPr lang="en-US" sz="900" b="1" spc="100" kern="0" dirty="0">
                <a:solidFill>
                  <a:srgbClr val="06404F"/>
                </a:solidFill>
                <a:latin typeface="Calibri" pitchFamily="34" charset="0"/>
                <a:ea typeface="Calibri" pitchFamily="34" charset="-122"/>
                <a:cs typeface="Calibri" pitchFamily="34" charset="-120"/>
              </a:rPr>
              <a:t>SYNTHÈSE</a:t>
            </a:r>
            <a:endParaRPr lang="en-US" sz="900" dirty="0"/>
          </a:p>
        </p:txBody>
      </p:sp>
      <p:sp>
        <p:nvSpPr>
          <p:cNvPr id="5" name="Text 2"/>
          <p:cNvSpPr txBox="1"/>
          <p:nvPr/>
        </p:nvSpPr>
        <p:spPr>
          <a:xfrm>
            <a:off x="502920" y="841248"/>
            <a:ext cx="11185855" cy="566928"/>
          </a:xfrm>
          <a:prstGeom prst="rect">
            <a:avLst/>
          </a:prstGeom>
          <a:noFill/>
          <a:ln/>
        </p:spPr>
        <p:txBody>
          <a:bodyPr wrap="square" lIns="0" tIns="0" rIns="0" bIns="0" rtlCol="0" anchor="ctr"/>
          <a:lstStyle/>
          <a:p>
            <a:pPr indent="0" marL="0">
              <a:buNone/>
            </a:pPr>
            <a:r>
              <a:rPr lang="en-US" sz="2600" b="1" dirty="0">
                <a:solidFill>
                  <a:srgbClr val="06404F"/>
                </a:solidFill>
                <a:latin typeface="Calibri" pitchFamily="34" charset="0"/>
                <a:ea typeface="Calibri" pitchFamily="34" charset="-122"/>
                <a:cs typeface="Calibri" pitchFamily="34" charset="-120"/>
              </a:rPr>
              <a:t>Plan d’actions et prochaines étapes</a:t>
            </a:r>
            <a:endParaRPr lang="en-US" sz="2600" dirty="0"/>
          </a:p>
        </p:txBody>
      </p:sp>
      <p:sp>
        <p:nvSpPr>
          <p:cNvPr id="6" name="Text 3"/>
          <p:cNvSpPr txBox="1"/>
          <p:nvPr/>
        </p:nvSpPr>
        <p:spPr>
          <a:xfrm>
            <a:off x="502920" y="1417320"/>
            <a:ext cx="11185855" cy="365760"/>
          </a:xfrm>
          <a:prstGeom prst="rect">
            <a:avLst/>
          </a:prstGeom>
          <a:noFill/>
          <a:ln/>
        </p:spPr>
        <p:txBody>
          <a:bodyPr wrap="square" lIns="0" tIns="0" rIns="0" bIns="0" rtlCol="0" anchor="t"/>
          <a:lstStyle/>
          <a:p>
            <a:pPr indent="0" marL="0">
              <a:buNone/>
            </a:pPr>
            <a:r>
              <a:rPr lang="en-US" sz="1300" dirty="0">
                <a:solidFill>
                  <a:srgbClr val="6B7B83"/>
                </a:solidFill>
                <a:latin typeface="Calibri" pitchFamily="34" charset="0"/>
                <a:ea typeface="Calibri" pitchFamily="34" charset="-122"/>
                <a:cs typeface="Calibri" pitchFamily="34" charset="-120"/>
              </a:rPr>
              <a:t>Neuf actions, un responsable et une échéance pour chacune — à ajuster avec vos arbitrages.</a:t>
            </a:r>
            <a:endParaRPr lang="en-US" sz="1300" dirty="0"/>
          </a:p>
        </p:txBody>
      </p:sp>
      <p:sp>
        <p:nvSpPr>
          <p:cNvPr id="7" name="Text 4"/>
          <p:cNvSpPr txBox="1"/>
          <p:nvPr/>
        </p:nvSpPr>
        <p:spPr>
          <a:xfrm>
            <a:off x="502920" y="6473952"/>
            <a:ext cx="7315200" cy="228600"/>
          </a:xfrm>
          <a:prstGeom prst="rect">
            <a:avLst/>
          </a:prstGeom>
          <a:noFill/>
          <a:ln/>
        </p:spPr>
        <p:txBody>
          <a:bodyPr wrap="square" lIns="0" tIns="0" rIns="0" bIns="0" rtlCol="0" anchor="ctr"/>
          <a:lstStyle/>
          <a:p>
            <a:pPr indent="0" marL="0">
              <a:buNone/>
            </a:pPr>
            <a:r>
              <a:rPr lang="en-US" sz="850" dirty="0">
                <a:solidFill>
                  <a:srgbClr val="6B7B83"/>
                </a:solidFill>
                <a:latin typeface="Calibri" pitchFamily="34" charset="0"/>
                <a:ea typeface="Calibri" pitchFamily="34" charset="-122"/>
                <a:cs typeface="Calibri" pitchFamily="34" charset="-120"/>
              </a:rPr>
              <a:t>COPIL Mutuelle Viasanté · 14 septembre 2026 · Confidentiel</a:t>
            </a:r>
            <a:endParaRPr lang="en-US" sz="850" dirty="0"/>
          </a:p>
        </p:txBody>
      </p:sp>
      <p:sp>
        <p:nvSpPr>
          <p:cNvPr id="8" name="Text 5"/>
          <p:cNvSpPr txBox="1"/>
          <p:nvPr/>
        </p:nvSpPr>
        <p:spPr>
          <a:xfrm>
            <a:off x="11140135" y="6473952"/>
            <a:ext cx="548640" cy="228600"/>
          </a:xfrm>
          <a:prstGeom prst="rect">
            <a:avLst/>
          </a:prstGeom>
          <a:noFill/>
          <a:ln/>
        </p:spPr>
        <p:txBody>
          <a:bodyPr wrap="square" lIns="0" tIns="0" rIns="0" bIns="0" rtlCol="0" anchor="ctr"/>
          <a:lstStyle/>
          <a:p>
            <a:pPr algn="r" indent="0" marL="0">
              <a:buNone/>
            </a:pPr>
            <a:r>
              <a:rPr lang="en-US" sz="850" dirty="0">
                <a:solidFill>
                  <a:srgbClr val="6B7B83"/>
                </a:solidFill>
                <a:latin typeface="Calibri" pitchFamily="34" charset="0"/>
                <a:ea typeface="Calibri" pitchFamily="34" charset="-122"/>
                <a:cs typeface="Calibri" pitchFamily="34" charset="-120"/>
              </a:rPr>
              <a:t>18</a:t>
            </a:r>
            <a:endParaRPr lang="en-US" sz="8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920240"/>
          <a:ext cx="11185855" cy="914400"/>
        </p:xfrm>
        <a:graphic>
          <a:graphicData uri="http://schemas.openxmlformats.org/drawingml/2006/table">
            <a:tbl>
              <a:tblPr/>
              <a:tblGrid>
                <a:gridCol w="1737360"/>
                <a:gridCol w="5486400"/>
                <a:gridCol w="2148840"/>
                <a:gridCol w="1810512"/>
              </a:tblGrid>
              <a:tr h="347472">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Sujet</a:t>
                      </a:r>
                      <a:endParaRPr lang="en-US" sz="1100" dirty="0">
                        <a:latin typeface="Calibri" charset="0"/>
                        <a:ea typeface="Calibri" charset="0"/>
                        <a:cs typeface="Calibri" charset="0"/>
                      </a:endParaRPr>
                    </a:p>
                  </a:txBody>
                  <a:tcPr marL="76200" marR="76200" marT="50800" marB="508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06404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Action proposée</a:t>
                      </a:r>
                      <a:endParaRPr lang="en-US" sz="1100" dirty="0">
                        <a:latin typeface="Calibri" charset="0"/>
                        <a:ea typeface="Calibri" charset="0"/>
                        <a:cs typeface="Calibri" charset="0"/>
                      </a:endParaRPr>
                    </a:p>
                  </a:txBody>
                  <a:tcPr marL="76200" marR="76200" marT="50800" marB="508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06404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Qui</a:t>
                      </a:r>
                      <a:endParaRPr lang="en-US" sz="1100" dirty="0">
                        <a:latin typeface="Calibri" charset="0"/>
                        <a:ea typeface="Calibri" charset="0"/>
                        <a:cs typeface="Calibri" charset="0"/>
                      </a:endParaRPr>
                    </a:p>
                  </a:txBody>
                  <a:tcPr marL="76200" marR="76200" marT="50800" marB="508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06404F"/>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Quand (proposition)</a:t>
                      </a:r>
                      <a:endParaRPr lang="en-US" sz="1100" dirty="0">
                        <a:latin typeface="Calibri" charset="0"/>
                        <a:ea typeface="Calibri" charset="0"/>
                        <a:cs typeface="Calibri" charset="0"/>
                      </a:endParaRPr>
                    </a:p>
                  </a:txBody>
                  <a:tcPr marL="76200" marR="76200" marT="50800" marB="508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06404F"/>
                    </a:solidFill>
                  </a:tcPr>
                </a:tc>
              </a:tr>
              <a:tr h="347472">
                <a:tc>
                  <a:txBody>
                    <a:bodyPr/>
                    <a:lstStyle/>
                    <a:p>
                      <a:pPr indent="0" marL="0">
                        <a:buNone/>
                      </a:pPr>
                      <a:r>
                        <a:rPr lang="en-US" sz="1050" b="1" dirty="0">
                          <a:solidFill>
                            <a:srgbClr val="1F2A30"/>
                          </a:solidFill>
                          <a:latin typeface="Calibri" pitchFamily="34" charset="0"/>
                          <a:ea typeface="Calibri" pitchFamily="34" charset="-122"/>
                          <a:cs typeface="Calibri" pitchFamily="34" charset="-120"/>
                        </a:rPr>
                        <a:t>SLA Gold</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Suivi mensuel de la consommation dans le reporting CSM ; alerte proactive à 60 %.</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Selligent (CSM)</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Mensuel</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r>
              <a:tr h="347472">
                <a:tc>
                  <a:txBody>
                    <a:bodyPr/>
                    <a:lstStyle/>
                    <a:p>
                      <a:pPr indent="0" marL="0">
                        <a:buNone/>
                      </a:pPr>
                      <a:r>
                        <a:rPr lang="en-US" sz="1050" b="1" dirty="0">
                          <a:solidFill>
                            <a:srgbClr val="1F2A30"/>
                          </a:solidFill>
                          <a:latin typeface="Calibri" pitchFamily="34" charset="0"/>
                          <a:ea typeface="Calibri" pitchFamily="34" charset="-122"/>
                          <a:cs typeface="Calibri" pitchFamily="34" charset="-120"/>
                        </a:rPr>
                        <a:t>Base de données</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Audit de nettoyage / archivage, puis décision sur l’extension de capacité.</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Viasanté + Selligent</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Octobre → novembre 2026</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r>
              <a:tr h="347472">
                <a:tc>
                  <a:txBody>
                    <a:bodyPr/>
                    <a:lstStyle/>
                    <a:p>
                      <a:pPr indent="0" marL="0">
                        <a:buNone/>
                      </a:pPr>
                      <a:r>
                        <a:rPr lang="en-US" sz="1050" b="1" dirty="0">
                          <a:solidFill>
                            <a:srgbClr val="1F2A30"/>
                          </a:solidFill>
                          <a:latin typeface="Calibri" pitchFamily="34" charset="0"/>
                          <a:ea typeface="Calibri" pitchFamily="34" charset="-122"/>
                          <a:cs typeface="Calibri" pitchFamily="34" charset="-120"/>
                        </a:rPr>
                        <a:t>Audience / licence</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Confirmation écrite de la lecture contractuelle du palier Ucount.</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Selligent</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Fin septembre 2026</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r>
              <a:tr h="347472">
                <a:tc>
                  <a:txBody>
                    <a:bodyPr/>
                    <a:lstStyle/>
                    <a:p>
                      <a:pPr indent="0" marL="0">
                        <a:buNone/>
                      </a:pPr>
                      <a:r>
                        <a:rPr lang="en-US" sz="1050" b="1" dirty="0">
                          <a:solidFill>
                            <a:srgbClr val="1F2A30"/>
                          </a:solidFill>
                          <a:latin typeface="Calibri" pitchFamily="34" charset="0"/>
                          <a:ea typeface="Calibri" pitchFamily="34" charset="-122"/>
                          <a:cs typeface="Calibri" pitchFamily="34" charset="-120"/>
                        </a:rPr>
                        <a:t>Sécurisation &amp; patch</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Bilan post-patch partagé et clôture du sujet.</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Selligent (Ops)</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Septembre 2026</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r>
              <a:tr h="347472">
                <a:tc>
                  <a:txBody>
                    <a:bodyPr/>
                    <a:lstStyle/>
                    <a:p>
                      <a:pPr indent="0" marL="0">
                        <a:buNone/>
                      </a:pPr>
                      <a:r>
                        <a:rPr lang="en-US" sz="1050" b="1" dirty="0">
                          <a:solidFill>
                            <a:srgbClr val="1F2A30"/>
                          </a:solidFill>
                          <a:latin typeface="Calibri" pitchFamily="34" charset="0"/>
                          <a:ea typeface="Calibri" pitchFamily="34" charset="-122"/>
                          <a:cs typeface="Calibri" pitchFamily="34" charset="-120"/>
                        </a:rPr>
                        <a:t>Email</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Atelier d’optimisation clics (contenus, CTA, ciblage, scénarios) sur les campagnes prioritaires.</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Viasanté (Marketing) + Selligent</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Octobre 2026</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r>
              <a:tr h="347472">
                <a:tc>
                  <a:txBody>
                    <a:bodyPr/>
                    <a:lstStyle/>
                    <a:p>
                      <a:pPr indent="0" marL="0">
                        <a:buNone/>
                      </a:pPr>
                      <a:r>
                        <a:rPr lang="en-US" sz="1050" b="1" dirty="0">
                          <a:solidFill>
                            <a:srgbClr val="1F2A30"/>
                          </a:solidFill>
                          <a:latin typeface="Calibri" pitchFamily="34" charset="0"/>
                          <a:ea typeface="Calibri" pitchFamily="34" charset="-122"/>
                          <a:cs typeface="Calibri" pitchFamily="34" charset="-120"/>
                        </a:rPr>
                        <a:t>SMS / RCS</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Choix de l’option RCS (LinkMobility API ou Infobip) et plan d’usage 2026–2027.</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Viasanté (Marketing)</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T4 2026</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r>
              <a:tr h="347472">
                <a:tc>
                  <a:txBody>
                    <a:bodyPr/>
                    <a:lstStyle/>
                    <a:p>
                      <a:pPr indent="0" marL="0">
                        <a:buNone/>
                      </a:pPr>
                      <a:r>
                        <a:rPr lang="en-US" sz="1050" b="1" dirty="0">
                          <a:solidFill>
                            <a:srgbClr val="1F2A30"/>
                          </a:solidFill>
                          <a:latin typeface="Calibri" pitchFamily="34" charset="0"/>
                          <a:ea typeface="Calibri" pitchFamily="34" charset="-122"/>
                          <a:cs typeface="Calibri" pitchFamily="34" charset="-120"/>
                        </a:rPr>
                        <a:t>SSO Engage</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Point d’avancement produit et préparation de la bascule.</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Selligent (Product)</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T1 2027</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r>
              <a:tr h="347472">
                <a:tc>
                  <a:txBody>
                    <a:bodyPr/>
                    <a:lstStyle/>
                    <a:p>
                      <a:pPr indent="0" marL="0">
                        <a:buNone/>
                      </a:pPr>
                      <a:r>
                        <a:rPr lang="en-US" sz="1050" b="1" dirty="0">
                          <a:solidFill>
                            <a:srgbClr val="1F2A30"/>
                          </a:solidFill>
                          <a:latin typeface="Calibri" pitchFamily="34" charset="0"/>
                          <a:ea typeface="Calibri" pitchFamily="34" charset="-122"/>
                          <a:cs typeface="Calibri" pitchFamily="34" charset="-120"/>
                        </a:rPr>
                        <a:t>Pixel d’ouverture</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Atelier DPO : cartographie des cas d’usage et go / no-go par typologie d’email.</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Viasanté (DPO) + Selligent</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Octobre 2026</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FFFFF"/>
                    </a:solidFill>
                  </a:tcPr>
                </a:tc>
              </a:tr>
              <a:tr h="347472">
                <a:tc>
                  <a:txBody>
                    <a:bodyPr/>
                    <a:lstStyle/>
                    <a:p>
                      <a:pPr indent="0" marL="0">
                        <a:buNone/>
                      </a:pPr>
                      <a:r>
                        <a:rPr lang="en-US" sz="1050" b="1" dirty="0">
                          <a:solidFill>
                            <a:srgbClr val="1F2A30"/>
                          </a:solidFill>
                          <a:latin typeface="Calibri" pitchFamily="34" charset="0"/>
                          <a:ea typeface="Calibri" pitchFamily="34" charset="-122"/>
                          <a:cs typeface="Calibri" pitchFamily="34" charset="-120"/>
                        </a:rPr>
                        <a:t>Roadmaps</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Session roadmap dédiée CDM et Engage avec le Product Management.</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Selligent</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c>
                  <a:txBody>
                    <a:bodyPr/>
                    <a:lstStyle/>
                    <a:p>
                      <a:pPr indent="0" marL="0">
                        <a:buNone/>
                      </a:pPr>
                      <a:r>
                        <a:rPr lang="en-US" sz="1050" dirty="0">
                          <a:solidFill>
                            <a:srgbClr val="1F2A30"/>
                          </a:solidFill>
                          <a:latin typeface="Calibri" pitchFamily="34" charset="0"/>
                          <a:ea typeface="Calibri" pitchFamily="34" charset="-122"/>
                          <a:cs typeface="Calibri" pitchFamily="34" charset="-120"/>
                        </a:rPr>
                        <a:t>T4 2026</a:t>
                      </a:r>
                      <a:endParaRPr lang="en-US" sz="1050" dirty="0">
                        <a:latin typeface="Calibri" charset="0"/>
                        <a:ea typeface="Calibri" charset="0"/>
                        <a:cs typeface="Calibri" charset="0"/>
                      </a:endParaRPr>
                    </a:p>
                  </a:txBody>
                  <a:tcPr marL="76200" marR="76200" marT="38100" marB="38100" anchor="ctr">
                    <a:lnL w="6350" cap="flat" cmpd="sng" algn="ctr">
                      <a:solidFill>
                        <a:srgbClr val="E1E8EB"/>
                      </a:solidFill>
                      <a:prstDash val="solid"/>
                      <a:round/>
                      <a:headEnd type="none" w="med" len="med"/>
                      <a:tailEnd type="none" w="med" len="med"/>
                    </a:lnL>
                    <a:lnR w="6350" cap="flat" cmpd="sng" algn="ctr">
                      <a:solidFill>
                        <a:srgbClr val="E1E8EB"/>
                      </a:solidFill>
                      <a:prstDash val="solid"/>
                      <a:round/>
                      <a:headEnd type="none" w="med" len="med"/>
                      <a:tailEnd type="none" w="med" len="med"/>
                    </a:lnR>
                    <a:lnT w="6350" cap="flat" cmpd="sng" algn="ctr">
                      <a:solidFill>
                        <a:srgbClr val="E1E8EB"/>
                      </a:solidFill>
                      <a:prstDash val="solid"/>
                      <a:round/>
                      <a:headEnd type="none" w="med" len="med"/>
                      <a:tailEnd type="none" w="med" len="med"/>
                    </a:lnT>
                    <a:lnB w="6350" cap="flat" cmpd="sng" algn="ctr">
                      <a:solidFill>
                        <a:srgbClr val="E1E8EB"/>
                      </a:solidFill>
                      <a:prstDash val="solid"/>
                      <a:round/>
                      <a:headEnd type="none" w="med" len="med"/>
                      <a:tailEnd type="none" w="med" len="med"/>
                    </a:lnB>
                    <a:solidFill>
                      <a:srgbClr val="F2F8F9"/>
                    </a:solidFill>
                  </a:tcPr>
                </a:tc>
              </a:tr>
            </a:tbl>
          </a:graphicData>
        </a:graphic>
      </p:graphicFrame>
      <p:sp>
        <p:nvSpPr>
          <p:cNvPr id="10" name="Shape 6"/>
          <p:cNvSpPr/>
          <p:nvPr/>
        </p:nvSpPr>
        <p:spPr>
          <a:xfrm>
            <a:off x="502920" y="5532120"/>
            <a:ext cx="11185855" cy="685800"/>
          </a:xfrm>
          <a:prstGeom prst="roundRect">
            <a:avLst>
              <a:gd name="adj" fmla="val 16000"/>
            </a:avLst>
          </a:prstGeom>
          <a:solidFill>
            <a:srgbClr val="FDEBD9"/>
          </a:solidFill>
          <a:ln w="12700">
            <a:solidFill>
              <a:srgbClr val="FDEBD9"/>
            </a:solidFill>
            <a:prstDash val="solid"/>
          </a:ln>
        </p:spPr>
      </p:sp>
      <p:sp>
        <p:nvSpPr>
          <p:cNvPr id="11" name="Shape 7"/>
          <p:cNvSpPr/>
          <p:nvPr/>
        </p:nvSpPr>
        <p:spPr>
          <a:xfrm>
            <a:off x="685800" y="5682996"/>
            <a:ext cx="384048" cy="384048"/>
          </a:xfrm>
          <a:prstGeom prst="ellipse">
            <a:avLst/>
          </a:prstGeom>
          <a:solidFill>
            <a:srgbClr val="F28C28"/>
          </a:solidFill>
          <a:ln w="12700">
            <a:solidFill>
              <a:srgbClr val="F28C28"/>
            </a:solidFill>
            <a:prstDash val="solid"/>
          </a:ln>
        </p:spPr>
      </p:sp>
      <p:pic>
        <p:nvPicPr>
          <p:cNvPr id="12" name="Image 1" descr="preencoded.png">    </p:cNvPr>
          <p:cNvPicPr>
            <a:picLocks noChangeAspect="1"/>
          </p:cNvPicPr>
          <p:nvPr/>
        </p:nvPicPr>
        <p:blipFill>
          <a:blip r:embed="rId2"/>
          <a:stretch>
            <a:fillRect/>
          </a:stretch>
        </p:blipFill>
        <p:spPr>
          <a:xfrm>
            <a:off x="785652" y="5782848"/>
            <a:ext cx="184343" cy="184343"/>
          </a:xfrm>
          <a:prstGeom prst="rect">
            <a:avLst/>
          </a:prstGeom>
        </p:spPr>
      </p:pic>
      <p:sp>
        <p:nvSpPr>
          <p:cNvPr id="13" name="Text 8"/>
          <p:cNvSpPr txBox="1"/>
          <p:nvPr/>
        </p:nvSpPr>
        <p:spPr>
          <a:xfrm>
            <a:off x="1188720" y="5532120"/>
            <a:ext cx="1371600" cy="685800"/>
          </a:xfrm>
          <a:prstGeom prst="rect">
            <a:avLst/>
          </a:prstGeom>
          <a:noFill/>
          <a:ln/>
        </p:spPr>
        <p:txBody>
          <a:bodyPr wrap="square" lIns="0" tIns="0" rIns="0" bIns="0" rtlCol="0" anchor="ctr"/>
          <a:lstStyle/>
          <a:p>
            <a:pPr indent="0" marL="0">
              <a:buNone/>
            </a:pPr>
            <a:r>
              <a:rPr lang="en-US" sz="1250" b="1" dirty="0">
                <a:solidFill>
                  <a:srgbClr val="F28C28"/>
                </a:solidFill>
                <a:latin typeface="Calibri" pitchFamily="34" charset="0"/>
                <a:ea typeface="Calibri" pitchFamily="34" charset="-122"/>
                <a:cs typeface="Calibri" pitchFamily="34" charset="-120"/>
              </a:rPr>
              <a:t>Prochain COPIL</a:t>
            </a:r>
            <a:endParaRPr lang="en-US" sz="1250" dirty="0"/>
          </a:p>
        </p:txBody>
      </p:sp>
      <p:sp>
        <p:nvSpPr>
          <p:cNvPr id="14" name="Text 9"/>
          <p:cNvSpPr txBox="1"/>
          <p:nvPr/>
        </p:nvSpPr>
        <p:spPr>
          <a:xfrm>
            <a:off x="2651760" y="5532120"/>
            <a:ext cx="8808415" cy="685800"/>
          </a:xfrm>
          <a:prstGeom prst="rect">
            <a:avLst/>
          </a:prstGeom>
          <a:noFill/>
          <a:ln/>
        </p:spPr>
        <p:txBody>
          <a:bodyPr wrap="square" lIns="0" tIns="0" rIns="0" bIns="0" rtlCol="0" anchor="ctr"/>
          <a:lstStyle/>
          <a:p>
            <a:pPr indent="0" marL="0">
              <a:buNone/>
            </a:pPr>
            <a:r>
              <a:rPr lang="en-US" sz="1150" dirty="0">
                <a:solidFill>
                  <a:srgbClr val="1F2A30"/>
                </a:solidFill>
                <a:latin typeface="Calibri" pitchFamily="34" charset="0"/>
                <a:ea typeface="Calibri" pitchFamily="34" charset="-122"/>
                <a:cs typeface="Calibri" pitchFamily="34" charset="-120"/>
              </a:rPr>
              <a:t>Proposition : décembre 2026 — bilan des actions, point capacité base de données, préparation 2027.</a:t>
            </a:r>
            <a:endParaRPr lang="en-US" sz="11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6404F"/>
        </a:solidFill>
      </p:bgPr>
    </p:bg>
    <p:spTree>
      <p:nvGrpSpPr>
        <p:cNvPr id="1" name=""/>
        <p:cNvGrpSpPr/>
        <p:nvPr/>
      </p:nvGrpSpPr>
      <p:grpSpPr>
        <a:xfrm>
          <a:off x="0" y="0"/>
          <a:ext cx="0" cy="0"/>
          <a:chOff x="0" y="0"/>
          <a:chExt cx="0" cy="0"/>
        </a:xfrm>
      </p:grpSpPr>
      <p:pic>
        <p:nvPicPr>
          <p:cNvPr id="2" name="Image 0" descr="/tmp/claude-0/-home-user-IqraQuest/536b9ae9-447b-5fe8-88fd-3a84bf7ca86c/scratchpad/work/logo_white.png">    </p:cNvPr>
          <p:cNvPicPr>
            <a:picLocks noChangeAspect="1"/>
          </p:cNvPicPr>
          <p:nvPr/>
        </p:nvPicPr>
        <p:blipFill>
          <a:blip r:embed="rId1"/>
          <a:stretch>
            <a:fillRect/>
          </a:stretch>
        </p:blipFill>
        <p:spPr>
          <a:xfrm>
            <a:off x="502920" y="347472"/>
            <a:ext cx="1463040" cy="526895"/>
          </a:xfrm>
          <a:prstGeom prst="rect">
            <a:avLst/>
          </a:prstGeom>
        </p:spPr>
      </p:pic>
      <p:sp>
        <p:nvSpPr>
          <p:cNvPr id="3" name="Shape 0"/>
          <p:cNvSpPr/>
          <p:nvPr/>
        </p:nvSpPr>
        <p:spPr>
          <a:xfrm>
            <a:off x="8595360" y="548640"/>
            <a:ext cx="5120640" cy="5120640"/>
          </a:xfrm>
          <a:prstGeom prst="ellipse">
            <a:avLst/>
          </a:prstGeom>
          <a:solidFill>
            <a:srgbClr val="0F6B7A">
              <a:alpha val="45000"/>
            </a:srgbClr>
          </a:solidFill>
          <a:ln w="12700">
            <a:solidFill>
              <a:srgbClr val="0F6B7A"/>
            </a:solidFill>
            <a:prstDash val="solid"/>
          </a:ln>
        </p:spPr>
      </p:sp>
      <p:sp>
        <p:nvSpPr>
          <p:cNvPr id="4" name="Shape 1"/>
          <p:cNvSpPr/>
          <p:nvPr/>
        </p:nvSpPr>
        <p:spPr>
          <a:xfrm>
            <a:off x="7955280" y="4023360"/>
            <a:ext cx="1737360" cy="1737360"/>
          </a:xfrm>
          <a:prstGeom prst="ellipse">
            <a:avLst/>
          </a:prstGeom>
          <a:solidFill>
            <a:srgbClr val="F28C28">
              <a:alpha val="85000"/>
            </a:srgbClr>
          </a:solidFill>
          <a:ln w="12700">
            <a:solidFill>
              <a:srgbClr val="F28C28"/>
            </a:solidFill>
            <a:prstDash val="solid"/>
          </a:ln>
        </p:spPr>
      </p:sp>
      <p:sp>
        <p:nvSpPr>
          <p:cNvPr id="5" name="Text 2"/>
          <p:cNvSpPr txBox="1"/>
          <p:nvPr/>
        </p:nvSpPr>
        <p:spPr>
          <a:xfrm>
            <a:off x="502920" y="1737360"/>
            <a:ext cx="7315200" cy="914400"/>
          </a:xfrm>
          <a:prstGeom prst="rect">
            <a:avLst/>
          </a:prstGeom>
          <a:noFill/>
          <a:ln/>
        </p:spPr>
        <p:txBody>
          <a:bodyPr wrap="square" lIns="0" tIns="0" rIns="0" bIns="0" rtlCol="0" anchor="ctr"/>
          <a:lstStyle/>
          <a:p>
            <a:pPr indent="0" marL="0">
              <a:buNone/>
            </a:pPr>
            <a:r>
              <a:rPr lang="en-US" sz="5400" b="1" dirty="0">
                <a:solidFill>
                  <a:srgbClr val="FFFFFF"/>
                </a:solidFill>
                <a:latin typeface="Calibri" pitchFamily="34" charset="0"/>
                <a:ea typeface="Calibri" pitchFamily="34" charset="-122"/>
                <a:cs typeface="Calibri" pitchFamily="34" charset="-120"/>
              </a:rPr>
              <a:t>Merci</a:t>
            </a:r>
            <a:endParaRPr lang="en-US" sz="5400" dirty="0"/>
          </a:p>
        </p:txBody>
      </p:sp>
      <p:sp>
        <p:nvSpPr>
          <p:cNvPr id="6" name="Text 3"/>
          <p:cNvSpPr txBox="1"/>
          <p:nvPr/>
        </p:nvSpPr>
        <p:spPr>
          <a:xfrm>
            <a:off x="502920" y="2743200"/>
            <a:ext cx="7315200" cy="365760"/>
          </a:xfrm>
          <a:prstGeom prst="rect">
            <a:avLst/>
          </a:prstGeom>
          <a:noFill/>
          <a:ln/>
        </p:spPr>
        <p:txBody>
          <a:bodyPr wrap="square" lIns="0" tIns="0" rIns="0" bIns="0" rtlCol="0" anchor="t"/>
          <a:lstStyle/>
          <a:p>
            <a:pPr indent="0" marL="0">
              <a:buNone/>
            </a:pPr>
            <a:r>
              <a:rPr lang="en-US" sz="1400" b="1" spc="200" kern="0" dirty="0">
                <a:solidFill>
                  <a:srgbClr val="F28C28"/>
                </a:solidFill>
                <a:latin typeface="Calibri" pitchFamily="34" charset="0"/>
                <a:ea typeface="Calibri" pitchFamily="34" charset="-122"/>
                <a:cs typeface="Calibri" pitchFamily="34" charset="-120"/>
              </a:rPr>
              <a:t>Vos interlocuteurs Selligent</a:t>
            </a:r>
            <a:endParaRPr lang="en-US" sz="1400" dirty="0"/>
          </a:p>
        </p:txBody>
      </p:sp>
      <p:sp>
        <p:nvSpPr>
          <p:cNvPr id="7" name="Text 4"/>
          <p:cNvSpPr txBox="1"/>
          <p:nvPr/>
        </p:nvSpPr>
        <p:spPr>
          <a:xfrm>
            <a:off x="502920" y="3154680"/>
            <a:ext cx="6858000" cy="1371600"/>
          </a:xfrm>
          <a:prstGeom prst="rect">
            <a:avLst/>
          </a:prstGeom>
          <a:noFill/>
          <a:ln/>
        </p:spPr>
        <p:txBody>
          <a:bodyPr wrap="square" lIns="0" tIns="0" rIns="0" bIns="0" rtlCol="0" anchor="t"/>
          <a:lstStyle/>
          <a:p>
            <a:pPr indent="0" marL="0">
              <a:buNone/>
            </a:pPr>
            <a:r>
              <a:rPr lang="en-US" sz="1400" b="1" dirty="0">
                <a:solidFill>
                  <a:srgbClr val="E6F0F2"/>
                </a:solidFill>
                <a:latin typeface="Calibri" pitchFamily="34" charset="0"/>
                <a:ea typeface="Calibri" pitchFamily="34" charset="-122"/>
                <a:cs typeface="Calibri" pitchFamily="34" charset="-120"/>
              </a:rPr>
              <a:t>Nadir Echaara</a:t>
            </a:r>
            <a:endParaRPr lang="en-US" sz="1400" dirty="0"/>
          </a:p>
          <a:p>
            <a:pPr indent="0" marL="0">
              <a:spcAft>
                <a:spcPts val="800"/>
              </a:spcAft>
              <a:buNone/>
            </a:pPr>
            <a:r>
              <a:rPr lang="en-US" sz="1400" dirty="0">
                <a:solidFill>
                  <a:srgbClr val="E6F0F2"/>
                </a:solidFill>
                <a:latin typeface="Calibri" pitchFamily="34" charset="0"/>
                <a:ea typeface="Calibri" pitchFamily="34" charset="-122"/>
                <a:cs typeface="Calibri" pitchFamily="34" charset="-120"/>
              </a:rPr>
              <a:t>Customer Success Manager — relation, contrat, pilotage</a:t>
            </a:r>
            <a:endParaRPr lang="en-US" sz="1400" dirty="0"/>
          </a:p>
          <a:p>
            <a:pPr indent="0" marL="0">
              <a:buNone/>
            </a:pPr>
            <a:r>
              <a:rPr lang="en-US" sz="1400" b="1" dirty="0">
                <a:solidFill>
                  <a:srgbClr val="E6F0F2"/>
                </a:solidFill>
                <a:latin typeface="Calibri" pitchFamily="34" charset="0"/>
                <a:ea typeface="Calibri" pitchFamily="34" charset="-122"/>
                <a:cs typeface="Calibri" pitchFamily="34" charset="-120"/>
              </a:rPr>
              <a:t>Frederic Schneider</a:t>
            </a:r>
            <a:endParaRPr lang="en-US" sz="1400" dirty="0"/>
          </a:p>
          <a:p>
            <a:pPr indent="0" marL="0">
              <a:buNone/>
            </a:pPr>
            <a:r>
              <a:rPr lang="en-US" sz="1400" dirty="0">
                <a:solidFill>
                  <a:srgbClr val="E6F0F2"/>
                </a:solidFill>
                <a:latin typeface="Calibri" pitchFamily="34" charset="0"/>
                <a:ea typeface="Calibri" pitchFamily="34" charset="-122"/>
                <a:cs typeface="Calibri" pitchFamily="34" charset="-120"/>
              </a:rPr>
              <a:t>Technical Project Manager — sujets techniques et projets</a:t>
            </a:r>
            <a:endParaRPr lang="en-US" sz="1400" dirty="0"/>
          </a:p>
        </p:txBody>
      </p:sp>
      <p:sp>
        <p:nvSpPr>
          <p:cNvPr id="8" name="Text 5"/>
          <p:cNvSpPr txBox="1"/>
          <p:nvPr/>
        </p:nvSpPr>
        <p:spPr>
          <a:xfrm>
            <a:off x="502920" y="4663440"/>
            <a:ext cx="7315200" cy="365760"/>
          </a:xfrm>
          <a:prstGeom prst="rect">
            <a:avLst/>
          </a:prstGeom>
          <a:noFill/>
          <a:ln/>
        </p:spPr>
        <p:txBody>
          <a:bodyPr wrap="square" lIns="0" tIns="0" rIns="0" bIns="0" rtlCol="0" anchor="t"/>
          <a:lstStyle/>
          <a:p>
            <a:pPr indent="0" marL="0">
              <a:buNone/>
            </a:pPr>
            <a:r>
              <a:rPr lang="en-US" sz="1400" b="1" spc="200" kern="0" dirty="0">
                <a:solidFill>
                  <a:srgbClr val="F28C28"/>
                </a:solidFill>
                <a:latin typeface="Calibri" pitchFamily="34" charset="0"/>
                <a:ea typeface="Calibri" pitchFamily="34" charset="-122"/>
                <a:cs typeface="Calibri" pitchFamily="34" charset="-120"/>
              </a:rPr>
              <a:t>Comment nous joindre</a:t>
            </a:r>
            <a:endParaRPr lang="en-US" sz="1400" dirty="0"/>
          </a:p>
        </p:txBody>
      </p:sp>
      <p:sp>
        <p:nvSpPr>
          <p:cNvPr id="9" name="Text 6"/>
          <p:cNvSpPr txBox="1"/>
          <p:nvPr/>
        </p:nvSpPr>
        <p:spPr>
          <a:xfrm>
            <a:off x="502920" y="5029200"/>
            <a:ext cx="7132320" cy="822960"/>
          </a:xfrm>
          <a:prstGeom prst="rect">
            <a:avLst/>
          </a:prstGeom>
          <a:noFill/>
          <a:ln/>
        </p:spPr>
        <p:txBody>
          <a:bodyPr wrap="square" lIns="0" tIns="0" rIns="0" bIns="0" rtlCol="0" anchor="t"/>
          <a:lstStyle/>
          <a:p>
            <a:pPr indent="0" marL="0">
              <a:buNone/>
            </a:pPr>
            <a:r>
              <a:rPr lang="en-US" sz="1200" b="1" dirty="0">
                <a:solidFill>
                  <a:srgbClr val="E6F0F2"/>
                </a:solidFill>
                <a:latin typeface="Calibri" pitchFamily="34" charset="0"/>
                <a:ea typeface="Calibri" pitchFamily="34" charset="-122"/>
                <a:cs typeface="Calibri" pitchFamily="34" charset="-120"/>
              </a:rPr>
              <a:t>Support et incidents : </a:t>
            </a:r>
            <a:pPr indent="0" marL="0">
              <a:spcAft>
                <a:spcPts val="400"/>
              </a:spcAft>
              <a:buNone/>
            </a:pPr>
            <a:r>
              <a:rPr lang="en-US" sz="1200" dirty="0">
                <a:solidFill>
                  <a:srgbClr val="E6F0F2"/>
                </a:solidFill>
                <a:latin typeface="Calibri" pitchFamily="34" charset="0"/>
                <a:ea typeface="Calibri" pitchFamily="34" charset="-122"/>
                <a:cs typeface="Calibri" pitchFamily="34" charset="-120"/>
              </a:rPr>
              <a:t>ticket via le portail support Selligent (Connect), suivi dans le rapport SLA.</a:t>
            </a:r>
            <a:endParaRPr lang="en-US" sz="1200" dirty="0"/>
          </a:p>
          <a:p>
            <a:pPr indent="0" marL="0">
              <a:buNone/>
            </a:pPr>
            <a:r>
              <a:rPr lang="en-US" sz="1200" b="1" dirty="0">
                <a:solidFill>
                  <a:srgbClr val="E6F0F2"/>
                </a:solidFill>
                <a:latin typeface="Calibri" pitchFamily="34" charset="0"/>
                <a:ea typeface="Calibri" pitchFamily="34" charset="-122"/>
                <a:cs typeface="Calibri" pitchFamily="34" charset="-120"/>
              </a:rPr>
              <a:t>Escalade : </a:t>
            </a:r>
            <a:pPr indent="0" marL="0">
              <a:buNone/>
            </a:pPr>
            <a:r>
              <a:rPr lang="en-US" sz="1200" dirty="0">
                <a:solidFill>
                  <a:srgbClr val="E6F0F2"/>
                </a:solidFill>
                <a:latin typeface="Calibri" pitchFamily="34" charset="0"/>
                <a:ea typeface="Calibri" pitchFamily="34" charset="-122"/>
                <a:cs typeface="Calibri" pitchFamily="34" charset="-120"/>
              </a:rPr>
              <a:t>Frederic Schneider pour la technique, Nadir Echaara pour la relation et le contrat.</a:t>
            </a:r>
            <a:endParaRPr lang="en-US" sz="1200" dirty="0"/>
          </a:p>
        </p:txBody>
      </p:sp>
      <p:sp>
        <p:nvSpPr>
          <p:cNvPr id="10" name="Text 7"/>
          <p:cNvSpPr txBox="1"/>
          <p:nvPr/>
        </p:nvSpPr>
        <p:spPr>
          <a:xfrm>
            <a:off x="502920" y="5989320"/>
            <a:ext cx="7315200" cy="320040"/>
          </a:xfrm>
          <a:prstGeom prst="rect">
            <a:avLst/>
          </a:prstGeom>
          <a:noFill/>
          <a:ln/>
        </p:spPr>
        <p:txBody>
          <a:bodyPr wrap="square" lIns="0" tIns="0" rIns="0" bIns="0" rtlCol="0" anchor="t"/>
          <a:lstStyle/>
          <a:p>
            <a:pPr indent="0" marL="0">
              <a:buNone/>
            </a:pPr>
            <a:r>
              <a:rPr lang="en-US" sz="1200" i="1" dirty="0">
                <a:solidFill>
                  <a:srgbClr val="CFE3E7"/>
                </a:solidFill>
                <a:latin typeface="Calibri" pitchFamily="34" charset="0"/>
                <a:ea typeface="Calibri" pitchFamily="34" charset="-122"/>
                <a:cs typeface="Calibri" pitchFamily="34" charset="-120"/>
              </a:rPr>
              <a:t>Relevé de décisions transmis sous 48 heures.</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Selligent by Zeta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COPIL Selligent × Mutuelle Viasanté — 14 septembre 2026</dc:title>
  <dc:subject>PptxGenJS Presentation</dc:subject>
  <dc:creator>Nadir Echaara — Selligent</dc:creator>
  <cp:lastModifiedBy>Nadir Echaara — Selligent</cp:lastModifiedBy>
  <cp:revision>1</cp:revision>
  <dcterms:created xsi:type="dcterms:W3CDTF">2026-09-04T16:45:01Z</dcterms:created>
  <dcterms:modified xsi:type="dcterms:W3CDTF">2026-09-04T16:45:01Z</dcterms:modified>
</cp:coreProperties>
</file>