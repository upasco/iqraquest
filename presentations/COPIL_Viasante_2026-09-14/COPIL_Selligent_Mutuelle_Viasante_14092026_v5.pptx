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SLA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8C2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DE6E9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Consommé</c:v>
                </c:pt>
                <c:pt idx="1">
                  <c:v>Disponible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7.92</c:v>
                </c:pt>
                <c:pt idx="1">
                  <c:v>42.08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(GB)</c:v>
                </c:pt>
              </c:strCache>
            </c:strRef>
          </c:tx>
          <c:spPr>
            <a:solidFill>
              <a:srgbClr val="3D8E9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6404F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Mars 26</c:v>
                  </c:pt>
                  <c:pt idx="1">
                    <c:v>Avr. 26</c:v>
                  </c:pt>
                  <c:pt idx="2">
                    <c:v>Mai 26</c:v>
                  </c:pt>
                  <c:pt idx="3">
                    <c:v>Juin 26</c:v>
                  </c:pt>
                  <c:pt idx="4">
                    <c:v>Juil. 26</c:v>
                  </c:pt>
                  <c:pt idx="5">
                    <c:v>Août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44.9</c:v>
                </c:pt>
                <c:pt idx="2">
                  <c:v>45.6</c:v>
                </c:pt>
                <c:pt idx="3">
                  <c:v>46.8</c:v>
                </c:pt>
                <c:pt idx="4">
                  <c:v>46.9</c:v>
                </c:pt>
                <c:pt idx="5">
                  <c:v>46.9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6404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Seuil 50 GB</c:v>
                </c:pt>
              </c:strCache>
            </c:strRef>
          </c:tx>
          <c:spPr>
            <a:solidFill>
              <a:srgbClr val="F28C28"/>
            </a:solidFill>
            <a:ln w="25400" cap="flat">
              <a:solidFill>
                <a:srgbClr val="F28C28"/>
              </a:solidFill>
              <a:prstDash val="dash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6404F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8C28"/>
              </a:solidFill>
              <a:ln w="9525" cap="flat">
                <a:solidFill>
                  <a:srgbClr val="F28C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Mars 26</c:v>
                  </c:pt>
                  <c:pt idx="1">
                    <c:v>Avr. 26</c:v>
                  </c:pt>
                  <c:pt idx="2">
                    <c:v>Mai 26</c:v>
                  </c:pt>
                  <c:pt idx="3">
                    <c:v>Juin 26</c:v>
                  </c:pt>
                  <c:pt idx="4">
                    <c:v>Juil. 26</c:v>
                  </c:pt>
                  <c:pt idx="5">
                    <c:v>Août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06404F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7B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Ucount</c:v>
                </c:pt>
              </c:strCache>
            </c:strRef>
          </c:tx>
          <c:spPr>
            <a:solidFill>
              <a:srgbClr val="06404F"/>
            </a:solidFill>
            <a:ln w="31750" cap="flat">
              <a:solidFill>
                <a:srgbClr val="0640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404F"/>
              </a:solidFill>
              <a:ln w="9525" cap="flat">
                <a:solidFill>
                  <a:srgbClr val="0640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Juin 25</c:v>
                  </c:pt>
                  <c:pt idx="1">
                    <c:v>Juil. 25</c:v>
                  </c:pt>
                  <c:pt idx="2">
                    <c:v>Août 25</c:v>
                  </c:pt>
                  <c:pt idx="3">
                    <c:v>Sept. 25</c:v>
                  </c:pt>
                  <c:pt idx="4">
                    <c:v>Oct. 25</c:v>
                  </c:pt>
                  <c:pt idx="5">
                    <c:v>Nov. 25</c:v>
                  </c:pt>
                  <c:pt idx="6">
                    <c:v>Déc. 25</c:v>
                  </c:pt>
                  <c:pt idx="7">
                    <c:v>Janv. 26</c:v>
                  </c:pt>
                  <c:pt idx="8">
                    <c:v>Fév. 26</c:v>
                  </c:pt>
                  <c:pt idx="9">
                    <c:v>Mars 26</c:v>
                  </c:pt>
                  <c:pt idx="10">
                    <c:v>Avr. 26</c:v>
                  </c:pt>
                  <c:pt idx="11">
                    <c:v>Mai 26</c:v>
                  </c:pt>
                  <c:pt idx="12">
                    <c:v>Juin 26</c:v>
                  </c:pt>
                  <c:pt idx="13">
                    <c:v>Juil. 26</c:v>
                  </c:pt>
                  <c:pt idx="14">
                    <c:v>Août 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701932</c:v>
                </c:pt>
                <c:pt idx="1">
                  <c:v>704132</c:v>
                </c:pt>
                <c:pt idx="2">
                  <c:v>686466</c:v>
                </c:pt>
                <c:pt idx="3">
                  <c:v>704410</c:v>
                </c:pt>
                <c:pt idx="4">
                  <c:v>717070</c:v>
                </c:pt>
                <c:pt idx="5">
                  <c:v>733930</c:v>
                </c:pt>
                <c:pt idx="6">
                  <c:v>747925</c:v>
                </c:pt>
                <c:pt idx="7">
                  <c:v>755189</c:v>
                </c:pt>
                <c:pt idx="8">
                  <c:v>770614</c:v>
                </c:pt>
                <c:pt idx="9">
                  <c:v>783378</c:v>
                </c:pt>
                <c:pt idx="10">
                  <c:v>792265</c:v>
                </c:pt>
                <c:pt idx="11">
                  <c:v>802916</c:v>
                </c:pt>
                <c:pt idx="12">
                  <c:v>812472</c:v>
                </c:pt>
                <c:pt idx="13">
                  <c:v>820039</c:v>
                </c:pt>
                <c:pt idx="14">
                  <c:v>824913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000"/>
          <c:min val="65000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Viasanté</c:v>
                </c:pt>
              </c:strCache>
            </c:strRef>
          </c:tx>
          <c:spPr>
            <a:solidFill>
              <a:srgbClr val="064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Ouverture</c:v>
                  </c:pt>
                  <c:pt idx="1">
                    <c:v>Clics / ouvertures</c:v>
                  </c:pt>
                  <c:pt idx="2">
                    <c:v>Clics / délivrés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46.67</c:v>
                </c:pt>
                <c:pt idx="1">
                  <c:v>4.08</c:v>
                </c:pt>
                <c:pt idx="2">
                  <c:v>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Secteur</c:v>
                </c:pt>
              </c:strCache>
            </c:strRef>
          </c:tx>
          <c:spPr>
            <a:solidFill>
              <a:srgbClr val="B8C4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Ouverture</c:v>
                  </c:pt>
                  <c:pt idx="1">
                    <c:v>Clics / ouvertures</c:v>
                  </c:pt>
                  <c:pt idx="2">
                    <c:v>Clics / délivrés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27.25</c:v>
                </c:pt>
                <c:pt idx="1">
                  <c:v>11.2</c:v>
                </c:pt>
                <c:pt idx="2">
                  <c:v>3.05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6B7B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SMS délivrés (k)</c:v>
                </c:pt>
              </c:strCache>
            </c:strRef>
          </c:tx>
          <c:spPr>
            <a:solidFill>
              <a:srgbClr val="3D8E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Sheet1!$A$2:$A$38</c:f>
              <c:multiLvlStrCache>
                <c:ptCount val="37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janv. 24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juil. 24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janv. 25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juil. 25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janv. 26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juil. 26</c:v>
                  </c:pt>
                  <c:pt idx="36">
                    <c:v/>
                  </c:pt>
                </c:lvl>
              </c:multiLvlStrCache>
            </c:multiLvlStrRef>
          </c:cat>
          <c:val>
            <c:numRef>
              <c:f>Sheet1!$B$2:$B$38</c:f>
              <c:numCache>
                <c:formatCode>General</c:formatCode>
                <c:ptCount val="37"/>
                <c:pt idx="0">
                  <c:v>4.5</c:v>
                </c:pt>
                <c:pt idx="1">
                  <c:v>19.7</c:v>
                </c:pt>
                <c:pt idx="2">
                  <c:v>21</c:v>
                </c:pt>
                <c:pt idx="3">
                  <c:v>20.7</c:v>
                </c:pt>
                <c:pt idx="4">
                  <c:v>20.1</c:v>
                </c:pt>
                <c:pt idx="5">
                  <c:v>22.3</c:v>
                </c:pt>
                <c:pt idx="6">
                  <c:v>7.5</c:v>
                </c:pt>
                <c:pt idx="7">
                  <c:v>20.7</c:v>
                </c:pt>
                <c:pt idx="8">
                  <c:v>22.7</c:v>
                </c:pt>
                <c:pt idx="9">
                  <c:v>23.1</c:v>
                </c:pt>
                <c:pt idx="10">
                  <c:v>22.5</c:v>
                </c:pt>
                <c:pt idx="11">
                  <c:v>30.5</c:v>
                </c:pt>
                <c:pt idx="12">
                  <c:v>21.7</c:v>
                </c:pt>
                <c:pt idx="13">
                  <c:v>21.9</c:v>
                </c:pt>
                <c:pt idx="14">
                  <c:v>22.8</c:v>
                </c:pt>
                <c:pt idx="15">
                  <c:v>22.3</c:v>
                </c:pt>
                <c:pt idx="16">
                  <c:v>22.7</c:v>
                </c:pt>
                <c:pt idx="17">
                  <c:v>26</c:v>
                </c:pt>
                <c:pt idx="18">
                  <c:v>22.5</c:v>
                </c:pt>
                <c:pt idx="19">
                  <c:v>24.3</c:v>
                </c:pt>
                <c:pt idx="20">
                  <c:v>23.3</c:v>
                </c:pt>
                <c:pt idx="21">
                  <c:v>21</c:v>
                </c:pt>
                <c:pt idx="22">
                  <c:v>2.5</c:v>
                </c:pt>
                <c:pt idx="23">
                  <c:v>1.8</c:v>
                </c:pt>
                <c:pt idx="24">
                  <c:v>1.9</c:v>
                </c:pt>
                <c:pt idx="25">
                  <c:v>2.4</c:v>
                </c:pt>
                <c:pt idx="26">
                  <c:v>3.1</c:v>
                </c:pt>
                <c:pt idx="27">
                  <c:v>2.8</c:v>
                </c:pt>
                <c:pt idx="28">
                  <c:v>2.5</c:v>
                </c:pt>
                <c:pt idx="29">
                  <c:v>3.9</c:v>
                </c:pt>
                <c:pt idx="30">
                  <c:v>3.4</c:v>
                </c:pt>
                <c:pt idx="31">
                  <c:v>2.6</c:v>
                </c:pt>
                <c:pt idx="32">
                  <c:v>2.3</c:v>
                </c:pt>
                <c:pt idx="33">
                  <c:v>1.8</c:v>
                </c:pt>
                <c:pt idx="34">
                  <c:v>2.3</c:v>
                </c:pt>
                <c:pt idx="35">
                  <c:v>3.3</c:v>
                </c:pt>
                <c:pt idx="36">
                  <c:v>6.1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image" Target="../media/image-1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412480" y="-1463040"/>
            <a:ext cx="5669280" cy="56692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332720" y="3566160"/>
            <a:ext cx="3291840" cy="329184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63840" y="4754880"/>
            <a:ext cx="1280160" cy="1280160"/>
          </a:xfrm>
          <a:prstGeom prst="ellipse">
            <a:avLst/>
          </a:prstGeom>
          <a:solidFill>
            <a:srgbClr val="3D8E9C">
              <a:alpha val="60000"/>
            </a:srgbClr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PILOTAGE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331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Mutuelle Viasanté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d’avancement CDM &amp; Engage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septembre 2026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4892040"/>
            <a:ext cx="2926080" cy="0"/>
          </a:xfrm>
          <a:prstGeom prst="line">
            <a:avLst/>
          </a:prstGeom>
          <a:noFill/>
          <a:ln w="12700">
            <a:solidFill>
              <a:srgbClr val="3D8E9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Nadir Echaara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Manager — Selligent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Project Manager — Selligent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du jour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outils, deux séquences : votre CRM (CDM) puis votre plateforme marketing (Engage), et les actions à décider ensemble.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3225698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345" y="242864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— votre CRM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77240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du SLA Gold 2026–2027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la base de données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et licence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navigation asynchrone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AdminTool et ConfigTool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CDM 2026–2027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2978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597298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Shape 11"/>
          <p:cNvSpPr/>
          <p:nvPr/>
        </p:nvSpPr>
        <p:spPr>
          <a:xfrm>
            <a:off x="7045757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8403" y="24286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97298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— votre plateforme marketing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4597298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97298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 pour vous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email vs secteur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SMS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trajectoire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et exigences CNIL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2026–2027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43037" y="2011680"/>
            <a:ext cx="3545738" cy="4023360"/>
          </a:xfrm>
          <a:prstGeom prst="roundRect">
            <a:avLst>
              <a:gd name="adj" fmla="val 30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8417357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Shape 17"/>
          <p:cNvSpPr/>
          <p:nvPr/>
        </p:nvSpPr>
        <p:spPr>
          <a:xfrm>
            <a:off x="10865815" y="228600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8462" y="242864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417357" y="297180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417357" y="3566160"/>
            <a:ext cx="299709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417357" y="3749040"/>
            <a:ext cx="29970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arbitrages : cinq questions ouvertes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d’actions : qui fait quoi, pour quand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 prochain COPIL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dispositif Selligent en un coup d’œil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indicateurs de santé, trois indicateurs d’activité — le détail et les actions suivent dans chaque section.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828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DU DISPOSITIF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04088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2316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2026–2027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04088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 / 50 h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16 % du forfait consommé · 42,1 h disponibles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04088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4088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CONTRÔLE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322978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24146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018" y="242316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00218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24146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50 GB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4524146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94 % de la capacité · +3 GB en six mois · au 24/08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24146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24146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ANTICIPER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8143037" y="210312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344205" y="230428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3077" y="2423160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920277" y="230428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(Ucount)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8344205" y="281635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824 913</a:t>
            </a:r>
            <a:endParaRPr lang="en-US" sz="2600" dirty="0"/>
          </a:p>
        </p:txBody>
      </p:sp>
      <p:sp>
        <p:nvSpPr>
          <p:cNvPr id="28" name="Text 22"/>
          <p:cNvSpPr txBox="1"/>
          <p:nvPr/>
        </p:nvSpPr>
        <p:spPr>
          <a:xfrm>
            <a:off x="8344205" y="3319272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en août 2026 · +20 % sur un an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8344205" y="3566160"/>
            <a:ext cx="2194560" cy="237744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44205" y="35661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PALIER EN VÉRIFICATION</a:t>
            </a:r>
            <a:endParaRPr 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502920" y="4160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DU SEMESTRE (25 FÉVRIER → 23 AOÛT 2026)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02920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04088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754880"/>
            <a:ext cx="219456" cy="219456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délivrés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704088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 M</a:t>
            </a:r>
            <a:endParaRPr 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704088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délivrabilité 99,4 % (secteur 98,7 %)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4322978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524146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4754880"/>
            <a:ext cx="219456" cy="21945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5100218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clics email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4524146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1,9 %</a:t>
            </a:r>
            <a:endParaRPr lang="en-US" sz="2600" dirty="0"/>
          </a:p>
        </p:txBody>
      </p:sp>
      <p:sp>
        <p:nvSpPr>
          <p:cNvPr id="43" name="Text 35"/>
          <p:cNvSpPr txBox="1"/>
          <p:nvPr/>
        </p:nvSpPr>
        <p:spPr>
          <a:xfrm>
            <a:off x="4524146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3,1 % · ouverture 46,7 % (secteur 27,3 %)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8143037" y="4434840"/>
            <a:ext cx="354573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8344205" y="46360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3077" y="4754880"/>
            <a:ext cx="219456" cy="219456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8920277" y="4636008"/>
            <a:ext cx="2585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délivrés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8344205" y="5148072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2–3 k / mois</a:t>
            </a:r>
            <a:endParaRPr lang="en-US" sz="2600" dirty="0"/>
          </a:p>
        </p:txBody>
      </p:sp>
      <p:sp>
        <p:nvSpPr>
          <p:cNvPr id="49" name="Text 40"/>
          <p:cNvSpPr txBox="1"/>
          <p:nvPr/>
        </p:nvSpPr>
        <p:spPr>
          <a:xfrm>
            <a:off x="8344205" y="5650992"/>
            <a:ext cx="31434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 · ≈ 22 k / mois auparavant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78240" y="1097280"/>
            <a:ext cx="4754880" cy="47548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138160" y="4206240"/>
            <a:ext cx="1463040" cy="146304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2402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— votre CRM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5204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Exploitation, capacité, correctifs et trajectoire produit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1605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: consommation et règle de décompte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la base de données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et licence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navigation asynchrone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AdminTool et ConfigTool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: 8 h consommées sur 50, un rythme maîtrisé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Gold 50 h · 36,7 h de temps de support, dont 7,9 h décomptées de votre forfait · 42,1 h restent disponibles.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291840" cy="4251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48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Forfait SLA consommé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822960" y="2468880"/>
          <a:ext cx="2651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822960" y="3383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16 %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913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 sur 50 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53035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 h </a:t>
            </a:r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restent disponibles sur votre forfait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069080" y="1965960"/>
            <a:ext cx="475488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297680" y="2148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temps de support — 36,7 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26060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Décompté de votre forfait</a:t>
            </a:r>
            <a:pPr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demandes de service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97680" y="2916936"/>
            <a:ext cx="3383280" cy="329184"/>
          </a:xfrm>
          <a:prstGeom prst="roundRect">
            <a:avLst>
              <a:gd name="adj" fmla="val 16667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7680" y="2916936"/>
            <a:ext cx="730125" cy="329184"/>
          </a:xfrm>
          <a:prstGeom prst="roundRect">
            <a:avLst>
              <a:gd name="adj" fmla="val 16667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0" y="29169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 h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297680" y="35661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 en charge par Selligent</a:t>
            </a:r>
            <a:pPr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anomalies produit, questions, suivi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297680" y="3877056"/>
            <a:ext cx="3383280" cy="329184"/>
          </a:xfrm>
          <a:prstGeom prst="roundRect">
            <a:avLst>
              <a:gd name="adj" fmla="val 16667"/>
            </a:avLst>
          </a:prstGeom>
          <a:solidFill>
            <a:srgbClr val="EEF3F5"/>
          </a:solidFill>
          <a:ln w="12700">
            <a:solidFill>
              <a:srgbClr val="EEF3F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297680" y="3877056"/>
            <a:ext cx="2650390" cy="329184"/>
          </a:xfrm>
          <a:prstGeom prst="roundRect">
            <a:avLst>
              <a:gd name="adj" fmla="val 16667"/>
            </a:avLst>
          </a:prstGeom>
          <a:solidFill>
            <a:srgbClr val="3D8E9C"/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772400" y="387705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28,8 h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297680" y="4709160"/>
            <a:ext cx="4297680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297680" y="4846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des demandes traitées depuis juillet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297680" y="525780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29768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663440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produit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5257800"/>
            <a:ext cx="274320" cy="2743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46520" y="5257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6812280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de service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4297680" y="566928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29768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4663440" y="5623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d’usage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6446520" y="5669280"/>
            <a:ext cx="274320" cy="27432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4652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6812280" y="5623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et divers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098280" y="1965960"/>
            <a:ext cx="2590495" cy="2606040"/>
          </a:xfrm>
          <a:prstGeom prst="roundRect">
            <a:avLst>
              <a:gd name="adj" fmla="val 4236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281160" y="21488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012" y="2248692"/>
            <a:ext cx="184343" cy="184343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9784080" y="2148840"/>
            <a:ext cx="1721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décompte</a:t>
            </a:r>
            <a:endParaRPr lang="en-US" sz="1250" dirty="0"/>
          </a:p>
        </p:txBody>
      </p:sp>
      <p:sp>
        <p:nvSpPr>
          <p:cNvPr id="42" name="Text 37"/>
          <p:cNvSpPr txBox="1"/>
          <p:nvPr/>
        </p:nvSpPr>
        <p:spPr>
          <a:xfrm>
            <a:off x="9326880" y="2606040"/>
            <a:ext cx="2133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Seules les demandes de service sont décomptées des 50 h de votre forfait.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produit, questions d’usage et suivi sont pris en charge par Selligent, hors forfait.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9098280" y="4709160"/>
            <a:ext cx="2590495" cy="1508760"/>
          </a:xfrm>
          <a:prstGeom prst="roundRect">
            <a:avLst>
              <a:gd name="adj" fmla="val 7273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281160" y="4892040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012" y="4991892"/>
            <a:ext cx="184343" cy="184343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9784080" y="4892040"/>
            <a:ext cx="1721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endParaRPr lang="en-US" sz="1250" dirty="0"/>
          </a:p>
        </p:txBody>
      </p:sp>
      <p:sp>
        <p:nvSpPr>
          <p:cNvPr id="47" name="Text 41"/>
          <p:cNvSpPr txBox="1"/>
          <p:nvPr/>
        </p:nvSpPr>
        <p:spPr>
          <a:xfrm>
            <a:off x="9326880" y="53492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SLA mensuel dans votre reporting.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dès 60 % de consommation.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: 47 GB sur 50, anticipons ensemble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 GB en six mois, par paliers, et un plateau à 47 GB depuis juin : 3 GB de marge, soit environ six mois si le rythme du premier semestre reprend.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67665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de la base de données (GB, moyenne mensuelle) — mars à août 2026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6400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543800" y="1965960"/>
            <a:ext cx="4144975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449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216712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restante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7744968" y="2679192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GB (6 %)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7744968" y="3182112"/>
            <a:ext cx="374263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seuil de 50 GB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7543800" y="3611880"/>
            <a:ext cx="4144975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44968" y="381304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93192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21040" y="381304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Redevance au-delà du seuil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7744968" y="4325112"/>
            <a:ext cx="37426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6 900 € / an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44968" y="4828032"/>
            <a:ext cx="374263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tranche de 100 GB, selon pricelist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7543800" y="5257800"/>
            <a:ext cx="4144975" cy="960120"/>
          </a:xfrm>
          <a:prstGeom prst="roundRect">
            <a:avLst>
              <a:gd name="adj" fmla="val 11429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26680" y="544068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6532" y="5540532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5440680"/>
            <a:ext cx="3276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leviers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5897880"/>
            <a:ext cx="3687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Purger et archiver les données obsolètes, ou étendre la capacité par palier de 100 GB.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unique : 824 913 contacts, en croissance régulière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Ucount (contacts uniques) de votre licence Gold — évolution de juin 2025 à août 2026.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72237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uniques (Ucount) par mois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6858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001000" y="196596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2021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2167128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202168" y="2679192"/>
            <a:ext cx="32854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824 913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8202168" y="3182112"/>
            <a:ext cx="32854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+0,6 % vs juillet (+4 874) · +20,2 % sur un an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8001000" y="342900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02168" y="363016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778240" y="3630168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02168" y="4142232"/>
            <a:ext cx="32854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+17,5 %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202168" y="4645152"/>
            <a:ext cx="32854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+8 800 contacts par mois · en ralentissement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001000" y="4892040"/>
            <a:ext cx="3687775" cy="1325880"/>
          </a:xfrm>
          <a:prstGeom prst="roundRect">
            <a:avLst>
              <a:gd name="adj" fmla="val 8276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183880" y="507492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5174772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686800" y="5074920"/>
            <a:ext cx="2819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8229600" y="55321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palier de licence est-il toujours adapté ? Quel volume de contacts prévoyez-vous en 2027 ?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de l’application : le patch de navigation asynchrone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 sur les temps de réponse et la fluidité de navigation dans CDM.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566160" cy="4251960"/>
          </a:xfrm>
          <a:prstGeom prst="roundRect">
            <a:avLst>
              <a:gd name="adj" fmla="val 307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0" y="2331720"/>
            <a:ext cx="914400" cy="91440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4" y="256946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asynchrone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1234440" y="402336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234440" y="4023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DE RÉSOLUTION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développé par nos équipes produit, redescente planifiée le 10 septembre 2026.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343400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3372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0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4572000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0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dégradés sur certains écrans.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Enchaînement des actions ralenti pour vos utilisateurs.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68058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96658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305" y="233720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96658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faisons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096658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96658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de la navigation en mode asynchrone.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validé en interne, redescente planifiée.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9392717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621317" y="2194560"/>
            <a:ext cx="548640" cy="54864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3963" y="2337206"/>
            <a:ext cx="263347" cy="26334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21317" y="2880360"/>
            <a:ext cx="1838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vos équipes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621317" y="3364992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21317" y="3474720"/>
            <a:ext cx="18388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plus fluide, sans changement d’usage.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action ni paramétrage de votre côté.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SSO sur les pages AdminTool et ConfigTool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communiquée le 31 août 2026, correctif en cours de résolution sur l’authentification des pages d’administration.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233720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SSO des pages d’administration.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AdminTool et ConfigTool uniquement.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78276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922" y="233720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78276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nous en sommes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78276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78276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communiquée le 31 août 2026.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 côté produit.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25032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678" y="233720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25032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vos équipes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425032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425032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impact sur les utilisateurs finaux du CRM.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d’administration mieux sécurisés à l’issue du correctif.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301752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71787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4434" y="2337206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71787" y="2880360"/>
            <a:ext cx="21883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ne pas confondre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271787" y="3364992"/>
            <a:ext cx="218838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71787" y="3474720"/>
            <a:ext cx="21883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technique CDM, sans lien avec le nouveau SSO Engage.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SSO Engage suit sa propre trajectoire, fenêtre cible T1 2027.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02920" y="5303520"/>
            <a:ext cx="11185855" cy="1051560"/>
          </a:xfrm>
          <a:prstGeom prst="roundRect">
            <a:avLst>
              <a:gd name="adj" fmla="val 10435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" y="5708599"/>
            <a:ext cx="241402" cy="24140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530352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2606040" y="5303520"/>
            <a:ext cx="66138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 en cours de résolution. Nous vous confirmons la mise en production et son résultat dès la clôture du sujet.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9311335" y="566928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9311335" y="56692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DE RÉSOLUTION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CDM : cinq étapes de fin 2026 à fin 2027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CRM évolue de l’ergonomie et de la qualité de donnée vers l’automatisation, puis l’intelligence artificielle en fin de parcours.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41038" y="2697480"/>
            <a:ext cx="9109619" cy="0"/>
          </a:xfrm>
          <a:prstGeom prst="line">
            <a:avLst/>
          </a:prstGeom>
          <a:noFill/>
          <a:ln w="31750">
            <a:solidFill>
              <a:srgbClr val="D6E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6671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365" y="2565806"/>
            <a:ext cx="263347" cy="26334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4088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utilisateur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04088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4088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modernisée, vues personnalisables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simplifiée vers les fonctions clés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2780325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544123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769" y="2565806"/>
            <a:ext cx="263347" cy="26334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780325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981493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client 360°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2981493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1493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Historique, interactions, incidents et opportunités réunis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Dédoublonnage centralisé et validation automatique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05772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82152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174" y="2565806"/>
            <a:ext cx="263347" cy="263347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05772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525889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25889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5889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 relance et gestion d’incidents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 intelligents sur les échéances clés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7335134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8098932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1579" y="2565806"/>
            <a:ext cx="263347" cy="263347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335134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7536302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avancée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7536302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536302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Tableaux de bord ventes et service client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dynamique et rapports prédictifs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61253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376337" y="24231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8983" y="2565806"/>
            <a:ext cx="263347" cy="263347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61253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981370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981370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981370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d’actions et priorisation des tâches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à la rédaction, auto-complétion, recherche intelligente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502920" y="589788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étapes sont prioritaires pour vos équipes ?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78240" y="1097280"/>
            <a:ext cx="4754880" cy="475488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138160" y="4206240"/>
            <a:ext cx="1463040" cy="146304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2402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— votre plateforme marketing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5204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Continuité, performance, canaux, produit et conformité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1605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change, ce qui ne change pas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email vs secteur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SMS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trajectoire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et exigences CNIL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by Zeta : ce qui change, ce qui ne change pas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Selligent fait désormais partie de Zeta Global. Pour Mutuelle Viasanté, la continuité prime : mêmes équipes, mêmes conditions, une plateforme qui continue d’investir.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investissement produit continu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704088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04088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Équipes produit et ingénierie en Belgique, renforcées par des équipes dédiées à l’IA et à la donnée.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active : conformité, données, orchestration, intelligence.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50844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migration imposée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3550844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50844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: tirer le meilleur de votre plateforme actuelle.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capacités Zeta (IA, données) viennent en complément, uniquement si elles servent vos besoins.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97600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conditions préservées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397600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97600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changement tarifaire imposé au renouvellement pour les clients Selligent.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modules et vos usages restent inchangés.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38404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44355" y="2834640"/>
            <a:ext cx="2243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Europe, RGPD et proximité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9244355" y="3566160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44355" y="3703320"/>
            <a:ext cx="22432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produit fondée sur le marché européen et sur les retours des clients.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RGPD, confidentialité et réglementation européenne restent prioritaires ; vos interlocuteurs restent les mêmes.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: délivrabilité exemplaire, le clic comme prochain levier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1 545 190 emails délivrés du 25 février → 23 août 2026 · panel de référence : 48 plateformes Selligent, secteur Services.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Délivrabilité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99,37 %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85800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secteur 98,72 %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76667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959547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d’ouverture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959547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46,67 %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2959547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59547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secteur 27,25 %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50414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233294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 / ouvertures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233294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4,08 %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5233294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33294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11,20 %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24161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507041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Clics / délivrés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507041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1,91 %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7507041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07041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3,05 %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9597908" y="1874520"/>
            <a:ext cx="209086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780788" y="2011680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Désabonnement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780788" y="2286000"/>
            <a:ext cx="17251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0,30 %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9780788" y="2862072"/>
            <a:ext cx="1725107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780788" y="2862072"/>
            <a:ext cx="17251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9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secteur 0,20 %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3429000"/>
            <a:ext cx="60350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" y="35387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d’engagement : Viasanté vs secteur (%)</a:t>
            </a:r>
            <a:endParaRPr lang="en-US" sz="11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85800" y="3776472"/>
          <a:ext cx="5669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Shape 32"/>
          <p:cNvSpPr/>
          <p:nvPr/>
        </p:nvSpPr>
        <p:spPr>
          <a:xfrm>
            <a:off x="6812280" y="3429000"/>
            <a:ext cx="4876495" cy="1325880"/>
          </a:xfrm>
          <a:prstGeom prst="roundRect">
            <a:avLst>
              <a:gd name="adj" fmla="val 8276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995160" y="361188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012" y="3711732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498080" y="3611880"/>
            <a:ext cx="4007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disent les chiffres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7040880" y="406908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99,4 % délivrés et près d’un email sur deux ouvert : la chaîne technique délivre.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clic est en retrait : 1,9 % contre 3,1 % pour le secteur.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6812280" y="4892040"/>
            <a:ext cx="4876495" cy="1325880"/>
          </a:xfrm>
          <a:prstGeom prst="roundRect">
            <a:avLst>
              <a:gd name="adj" fmla="val 8276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6995160" y="507492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012" y="5174772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7498080" y="5074920"/>
            <a:ext cx="4007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levier 2027</a:t>
            </a:r>
            <a:endParaRPr lang="en-US" sz="1250" dirty="0"/>
          </a:p>
        </p:txBody>
      </p:sp>
      <p:sp>
        <p:nvSpPr>
          <p:cNvPr id="45" name="Text 39"/>
          <p:cNvSpPr txBox="1"/>
          <p:nvPr/>
        </p:nvSpPr>
        <p:spPr>
          <a:xfrm>
            <a:off x="7040880" y="553212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contenus et les appels à l’action, pas l’infrastructure.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Ciblage plus fin et scénarios relationnels sur les campagnes à fort volume.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rapprocher le taux de clics du niveau du secteur.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: un canal en retrait depuis juin 2025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place voulez-vous donner au mobile en 2027 ? Le connecteur RCS ouvre une alternative, présentée sur la page suivante.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76809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103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délivrés par mois (milliers) — août 2023 à août 2026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4231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458200" y="196596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659368" y="216712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8600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35440" y="216712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délivré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659368" y="267919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 0,5 M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8659368" y="318211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d’août 2023 à août 2026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8458200" y="342900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659368" y="363016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374904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235440" y="363016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Jusqu’en mai 2025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659368" y="414223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20–26 k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8659368" y="464515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par mois, pic à 30 k en juillet 2024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458200" y="4892040"/>
            <a:ext cx="323057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659368" y="5093208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5212080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35440" y="5093208"/>
            <a:ext cx="2270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juin 2025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8659368" y="5605272"/>
            <a:ext cx="28282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 k</a:t>
            </a:r>
            <a:endParaRPr lang="en-US" sz="2600" dirty="0"/>
          </a:p>
        </p:txBody>
      </p:sp>
      <p:sp>
        <p:nvSpPr>
          <p:cNvPr id="28" name="Text 21"/>
          <p:cNvSpPr txBox="1"/>
          <p:nvPr/>
        </p:nvSpPr>
        <p:spPr>
          <a:xfrm>
            <a:off x="8659368" y="6108192"/>
            <a:ext cx="2828239" cy="-27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par mois, 6 k en août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RCS LinkMobility : prêt, par API, sans interface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connecteur est disponible et fonctionne désormais par API. Il n’a pas d’interface graphique : c’est un passe-plat simple et efficace.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3566160" cy="4251960"/>
          </a:xfrm>
          <a:prstGeom prst="roundRect">
            <a:avLst>
              <a:gd name="adj" fmla="val 307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0" y="2331720"/>
            <a:ext cx="914400" cy="91440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4" y="256946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LinkMobility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1508760" y="40233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 PRÊT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vos campagnes RCS, avec les mêmes limites fonctionnelles qu’auparavant.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343400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0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46" y="233720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0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intégration par API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4572000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0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connecteur fonctionne désormais par API.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des dépôts de fichiers par SFTP.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Envois déclenchés directement depuis Engage.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868058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96658" y="2194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305" y="233720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96658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d’interface graphique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096658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096658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interface dédiée à la composition des messages.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pas de prévisualisation avant envoi.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rendu se vérifie sur un terminal de test.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9392717" y="1965960"/>
            <a:ext cx="2296058" cy="4251960"/>
          </a:xfrm>
          <a:prstGeom prst="roundRect">
            <a:avLst>
              <a:gd name="adj" fmla="val 4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621317" y="21945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3963" y="2337206"/>
            <a:ext cx="263347" cy="26334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21317" y="2880360"/>
            <a:ext cx="18388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passe-plat simple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9621317" y="3566160"/>
            <a:ext cx="1838858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21317" y="3675888"/>
            <a:ext cx="18388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rapide, sans projet lourd.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 aux envois RCS standardisés.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complète passerait par Infobip.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 : fenêtre cible au 1er trimestre 2027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trajectoire produit progressive pour le nouveau système d’authentification ; votre accès actuel reste en place jusqu’à la bascule.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2011680"/>
            <a:ext cx="3655466" cy="548640"/>
          </a:xfrm>
          <a:prstGeom prst="homePlate">
            <a:avLst/>
          </a:prstGeom>
          <a:solidFill>
            <a:srgbClr val="3D8E9C"/>
          </a:solidFill>
          <a:ln w="12700">
            <a:solidFill>
              <a:srgbClr val="3D8E9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Aujourd’hui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495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actuelle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04088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inchangé et support assuré jusqu’à la bascule.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68114" y="2011680"/>
            <a:ext cx="3655466" cy="548640"/>
          </a:xfrm>
          <a:prstGeom prst="chevron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88154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cible : 1er trimestre 2027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68114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69282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154" y="304495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045354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SSO Engage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469282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disposition du nouveau système d’authentification — trajectoire produit, pas avant cette fenêtre.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033309" y="2011680"/>
            <a:ext cx="3655466" cy="548640"/>
          </a:xfrm>
          <a:prstGeom prst="chevron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53349" y="2011680"/>
            <a:ext cx="3106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033309" y="2743200"/>
            <a:ext cx="365546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234477" y="2926080"/>
            <a:ext cx="457200" cy="457200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349" y="3044952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10549" y="2926080"/>
            <a:ext cx="2695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accompagnée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8234477" y="3474720"/>
            <a:ext cx="3253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avec vos équipes, puis adoption progressive des utilisateurs.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502920" y="4526280"/>
            <a:ext cx="5455768" cy="1600200"/>
          </a:xfrm>
          <a:prstGeom prst="roundRect">
            <a:avLst>
              <a:gd name="adj" fmla="val 685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85800" y="4709160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652" y="4809012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188720" y="470916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change pour vous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5166360"/>
            <a:ext cx="499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connexion unifiée et sécurisée à Engage.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accompagnement Selligent pour la bascule des utilisateurs.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33008" y="4526280"/>
            <a:ext cx="5455768" cy="1600200"/>
          </a:xfrm>
          <a:prstGeom prst="roundRect">
            <a:avLst>
              <a:gd name="adj" fmla="val 6857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415888" y="470916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740" y="4809012"/>
            <a:ext cx="184343" cy="18434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6918808" y="470916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ne change pas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6461608" y="5166360"/>
            <a:ext cx="499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bascule avant la fenêtre cible du 1er trimestre 2027.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distinct du correctif SSO en cours sur les pages d’administration CDM.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d’ouverture : le cadre CNIL appliqué dans Engage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finale du 14 avril 2026, période transitoire close le 14 juillet · Engage trace déjà les ouvertures sous consentement.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416988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04088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Cartographier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04088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Recenser les cas d’usage : marketing, newsletters, transactionnel, mesure de délivrabilité.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6374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3550844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 la base légale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3550844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préalable par défaut ; exemption limitée à la mesure de délivrabilité d’un service demandé.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110499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6397600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Informer et prouver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6397600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claire, preuve du consentement, gestion du retrait, journal d’audit.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957255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Text 23"/>
          <p:cNvSpPr txBox="1"/>
          <p:nvPr/>
        </p:nvSpPr>
        <p:spPr>
          <a:xfrm>
            <a:off x="9244355" y="2834640"/>
            <a:ext cx="224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avec votre DPO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244355" y="3246120"/>
            <a:ext cx="22432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par typologie d’email, puis activation des seules catégories autorisées.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02920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44348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52" y="4534692"/>
            <a:ext cx="184343" cy="18434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188720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Engage apporte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731520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du consentement (composant de données ou procédure stockée).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d’ouverture conditionné au consentement, avec journal d’audit.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sur simple demande, une fois le consentement collecté.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307738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4490618" y="4434840"/>
            <a:ext cx="384048" cy="384048"/>
          </a:xfrm>
          <a:prstGeom prst="ellipse">
            <a:avLst/>
          </a:prstGeom>
          <a:solidFill>
            <a:srgbClr val="0F6B7A"/>
          </a:solidFill>
          <a:ln w="12700">
            <a:solidFill>
              <a:srgbClr val="0F6B7A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471" y="4534692"/>
            <a:ext cx="184343" cy="184343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4993538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en êtes-vous ?</a:t>
            </a:r>
            <a:endParaRPr lang="en-US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4536338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collecté pour les nouveaux contacts ?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existants informés, avec possibilité de refus ?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sous consentement activé dans Engage ?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8112557" y="4251960"/>
            <a:ext cx="3576218" cy="1965960"/>
          </a:xfrm>
          <a:prstGeom prst="roundRect">
            <a:avLst>
              <a:gd name="adj" fmla="val 5581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8295437" y="443484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5289" y="4534692"/>
            <a:ext cx="184343" cy="184343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798357" y="4434840"/>
            <a:ext cx="27075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reste à faire</a:t>
            </a:r>
            <a:endParaRPr lang="en-US" sz="1250" dirty="0"/>
          </a:p>
        </p:txBody>
      </p:sp>
      <p:sp>
        <p:nvSpPr>
          <p:cNvPr id="46" name="Text 36"/>
          <p:cNvSpPr txBox="1"/>
          <p:nvPr/>
        </p:nvSpPr>
        <p:spPr>
          <a:xfrm>
            <a:off x="8341157" y="4892040"/>
            <a:ext cx="31190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formelle du DPO par typologie d’email.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des seules catégories autorisées dans Engage.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des contacts existants restés hors consentement.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l’ouverture : les prochaines exigences CNIL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suivi des clics, la qualité du consentement et la preuve deviennent les prochains sujets à traiter.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4088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34" y="23097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clic aussi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04088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04088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recommandation vise les pixels de mesure d’ouverture et de clic.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recommandations complémentaires sur le suivi des clics sont annoncées par la CNIL.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49676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0844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490" y="230977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550844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consentement distinct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50844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50844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Préalable, spécifique et séparé de l’inscription à la newsletter.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retrait doit être aussi simple que le recueil, sans parcours complexe.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96432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97600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246" y="2309774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397600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 et la durée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397600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397600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qui a consenti, à quoi et quand.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Fixer et respecter une durée de conservation des données de suivi.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043187" y="1965960"/>
            <a:ext cx="2645588" cy="2926080"/>
          </a:xfrm>
          <a:prstGeom prst="roundRect">
            <a:avLst>
              <a:gd name="adj" fmla="val 4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9244355" y="2167128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7002" y="2309774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244355" y="2834640"/>
            <a:ext cx="22432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sécurité en tête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9244355" y="3319272"/>
            <a:ext cx="2243252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244355" y="3429000"/>
            <a:ext cx="22432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CNIL consacre la moitié de ses contrôles 2026 à la cybersécurité.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logique 2026 : prouver la conformité, pas seulement la déclarer.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02920" y="5166360"/>
            <a:ext cx="5455768" cy="1051560"/>
          </a:xfrm>
          <a:prstGeom prst="roundRect">
            <a:avLst>
              <a:gd name="adj" fmla="val 10435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85800" y="5349240"/>
            <a:ext cx="384048" cy="384048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52" y="5449092"/>
            <a:ext cx="184343" cy="18434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188720" y="534924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qu’Engage permet déjà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731520" y="5806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Conditionner ouverture et clic au consentement recueilli, par typologie d’email.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d’audit du consentement, étendu à l’historique des changements.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6233008" y="5166360"/>
            <a:ext cx="5455768" cy="1051560"/>
          </a:xfrm>
          <a:prstGeom prst="roundRect">
            <a:avLst>
              <a:gd name="adj" fmla="val 10435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415888" y="5349240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5740" y="5449092"/>
            <a:ext cx="184343" cy="184343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918808" y="5349240"/>
            <a:ext cx="458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vous recommandons</a:t>
            </a:r>
            <a:endParaRPr lang="en-US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6461608" y="5806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dès maintenant la mécanique de consentement au suivi des clics.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Cadrer la durée de conservation des données de suivi avec votre DPO.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Engage : de la confiance opérationnelle à l’intelligence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fondations de conformité et de contenu d’abord, l’authentification et les connecteurs ensuite, l’intelligence artificielle en fin de parcours.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41038" y="2697480"/>
            <a:ext cx="9109619" cy="0"/>
          </a:xfrm>
          <a:prstGeom prst="line">
            <a:avLst/>
          </a:prstGeom>
          <a:noFill/>
          <a:ln w="31750">
            <a:solidFill>
              <a:srgbClr val="D6E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Aujourd’hui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6671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365" y="2565806"/>
            <a:ext cx="263347" cy="26334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4088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04088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4088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Désabonnement omnicanal et en-têtes email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d’ouverture sous consentement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des interactions automatisées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2780325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544123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769" y="2565806"/>
            <a:ext cx="263347" cy="26334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780325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981493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Contenus &amp; canaux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2981493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1493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Blocs de contenu publiés et prévisualisation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de test et seed lists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RCS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505772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821528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174" y="2565806"/>
            <a:ext cx="263347" cy="263347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05772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525889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525889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5889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système d’authentification SSO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unifiée et sécurisée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7335134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Q2–Q3 2027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8098932" y="2423160"/>
            <a:ext cx="548640" cy="548640"/>
          </a:xfrm>
          <a:prstGeom prst="ellipse">
            <a:avLst/>
          </a:prstGeom>
          <a:solidFill>
            <a:srgbClr val="06404F"/>
          </a:solidFill>
          <a:ln w="12700">
            <a:solidFill>
              <a:srgbClr val="06404F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1579" y="2565806"/>
            <a:ext cx="263347" cy="263347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335134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7536302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&amp; privacy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7536302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536302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de connecteurs (Snowflake, Salesforce, Dynamics)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RGPD automatisé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de segments et de parcours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9612539" y="2011680"/>
            <a:ext cx="20762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376337" y="24231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8983" y="2565806"/>
            <a:ext cx="263347" cy="263347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612539" y="3383280"/>
            <a:ext cx="2076237" cy="2286000"/>
          </a:xfrm>
          <a:prstGeom prst="roundRect">
            <a:avLst>
              <a:gd name="adj" fmla="val 52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9813707" y="3566160"/>
            <a:ext cx="167390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&amp; Data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9813707" y="4187952"/>
            <a:ext cx="1673901" cy="0"/>
          </a:xfrm>
          <a:prstGeom prst="line">
            <a:avLst/>
          </a:prstGeom>
          <a:noFill/>
          <a:ln w="9525">
            <a:solidFill>
              <a:srgbClr val="D6E0E3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9813707" y="4297680"/>
            <a:ext cx="167390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Interrogation des données en langage naturel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temps réel et recommandations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502920" y="589788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produit : les jalons peuvent être ajustés et ne constituent pas un engagement de livraison.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arbitrages : cinq questions pour orienter la suite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réponses en séance alimentent directement le plan d’actions de la page suivante.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088" y="2121408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4088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280160" y="2121408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522" y="2230770"/>
            <a:ext cx="201900" cy="201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56232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1965960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et archivage d’abord, ou extension de capacité avec la redevance associée ?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807208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" y="2962656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4088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1280160" y="2962656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522" y="3072018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56232" y="280720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3657600" y="2807208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volume de contacts prévoyez-vous en 2027, et votre palier de licence reste-t-il adapté ?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02920" y="3648456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3803904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04088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1280160" y="3803904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522" y="3913266"/>
            <a:ext cx="201900" cy="2019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856232" y="3648456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3648456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Quelles campagnes prioriser pour travailler le taux de clics ?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02920" y="4489704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04088" y="4645152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04088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1280160" y="4645152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522" y="4754514"/>
            <a:ext cx="201900" cy="2019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856232" y="4489704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3657600" y="4489704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ambition SMS et RCS en 2027 : le passe-plat LinkMobility suffit-il, ou faut-il une interface ?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502920" y="5330952"/>
            <a:ext cx="11185855" cy="731520"/>
          </a:xfrm>
          <a:prstGeom prst="roundRect">
            <a:avLst>
              <a:gd name="adj" fmla="val 15000"/>
            </a:avLst>
          </a:prstGeom>
          <a:solidFill>
            <a:srgbClr val="F2F8F9"/>
          </a:solidFill>
          <a:ln w="12700">
            <a:solidFill>
              <a:srgbClr val="F2F8F9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704088" y="5486400"/>
            <a:ext cx="420624" cy="42062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" y="5486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1280160" y="5486400"/>
            <a:ext cx="420624" cy="420624"/>
          </a:xfrm>
          <a:prstGeom prst="ellipse">
            <a:avLst/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522" y="5595762"/>
            <a:ext cx="201900" cy="2019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856232" y="5330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3657600" y="5330952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Étendons-nous le consentement au suivi des clics, et quelles typologies d’emails en priorité ?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1143000" cy="41163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25735" y="329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225735" y="329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841248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d’actions et prochaines étapes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 actions, un responsable et une échéance pour chacune — à ajuster avec vos arbitrages.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18585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486400"/>
                <a:gridCol w="2148840"/>
                <a:gridCol w="18105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Sujet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proposée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 (proposition)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0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Gold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Suivi mensuel de la consommation dans votre reporting ; alerte dès 60 %.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données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 de la répartition de la base, puis choix entre nettoyage et extension.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Redevance volume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Confirmation du montant de la redevance au-delà du seuil de 50 GB.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Palier de licence à confirmer au regard du volume de contacts prévu en 2027.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asynchrone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Redescente du patch de performance, puis confirmation du résultat.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Correctif SSO admin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Mise en production du correctif AdminTool / ConfigTool et clôture du sujet.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Septembre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d’optimisation du taux de clics sur les campagnes prioritaires.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(Marketing)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/ RCS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Choix du connecteur RCS (LinkMobility ou Infobip) et plan d’usage 2027.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(Marketing)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 CNIL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du consentement au suivi des clics et validation DPO par typologie.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Viasanté (DPO) + 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Engage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d’avancement produit et préparation de la bascule.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Selligent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577840"/>
            <a:ext cx="11185855" cy="640080"/>
          </a:xfrm>
          <a:prstGeom prst="roundRect">
            <a:avLst>
              <a:gd name="adj" fmla="val 17143"/>
            </a:avLst>
          </a:prstGeom>
          <a:solidFill>
            <a:srgbClr val="FDEBD9"/>
          </a:solidFill>
          <a:ln w="12700">
            <a:solidFill>
              <a:srgbClr val="FDEBD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5705856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52" y="5805708"/>
            <a:ext cx="184343" cy="184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5577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 COPIL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2651760" y="5577840"/>
            <a:ext cx="8808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: décembre 2026 — bilan des actions, point capacité base de données, préparation 2027.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40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IqraQuest/536b9ae9-447b-5fe8-88fd-3a84bf7ca86c/scratchpad/wor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47472"/>
            <a:ext cx="1463040" cy="5268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95360" y="548640"/>
            <a:ext cx="5120640" cy="5120640"/>
          </a:xfrm>
          <a:prstGeom prst="ellipse">
            <a:avLst/>
          </a:prstGeom>
          <a:solidFill>
            <a:srgbClr val="0F6B7A">
              <a:alpha val="45000"/>
            </a:srgbClr>
          </a:solidFill>
          <a:ln w="12700">
            <a:solidFill>
              <a:srgbClr val="0F6B7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955280" y="4023360"/>
            <a:ext cx="1737360" cy="1737360"/>
          </a:xfrm>
          <a:prstGeom prst="ellipse">
            <a:avLst/>
          </a:prstGeom>
          <a:solidFill>
            <a:srgbClr val="F28C28">
              <a:alpha val="85000"/>
            </a:srgbClr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interlocuteurs Selligent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15468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Nadir Echaara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Manager — relation, contrat, pilotage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Project Manager — sujets techniques et projets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66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joindre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0292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et incidents 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via le portail support Selligent (Connect), suivi dans le rapport SLA.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: </a:t>
            </a:r>
            <a:pPr indent="0" marL="0">
              <a:buNone/>
            </a:pPr>
            <a:r>
              <a:rPr lang="en-US" sz="1200" dirty="0">
                <a:solidFill>
                  <a:srgbClr val="E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Frederic Schneider pour la technique, Nadir Echaara pour la relation et le contrat.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 de décisions transmis sous 48 heures.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Selligent by Zeta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 Selligent × Mutuelle Viasanté — 14 septembre 2026</dc:title>
  <dc:subject>PptxGenJS Presentation</dc:subject>
  <dc:creator>Nadir Echaara — Selligent</dc:creator>
  <cp:lastModifiedBy>Nadir Echaara — Selligent</cp:lastModifiedBy>
  <cp:revision>1</cp:revision>
  <dcterms:created xsi:type="dcterms:W3CDTF">2026-09-04T18:24:33Z</dcterms:created>
  <dcterms:modified xsi:type="dcterms:W3CDTF">2026-09-04T18:24:33Z</dcterms:modified>
</cp:coreProperties>
</file>