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SLA</c:v>
                </c:pt>
              </c:strCache>
            </c:strRef>
          </c:tx>
          <c:spPr>
            <a:solidFill>
              <a:schemeClr val="accent1"/>
            </a:solidFill>
            <a:ln w="9525" cap="flat">
              <a:solidFill>
                <a:srgbClr val="F9F9F9"/>
              </a:solidFill>
              <a:prstDash val="solid"/>
              <a:round/>
            </a:ln>
            <a:effectLst/>
          </c:spPr>
          <c:dPt>
            <c:idx val="0"/>
            <c:bubble3D val="0"/>
            <c:spPr>
              <a:solidFill>
                <a:srgbClr val="F28C28"/>
              </a:solidFill>
              <a:ln w="9525" cap="flat">
                <a:solidFill>
                  <a:srgbClr val="FFFFFF"/>
                </a:solidFill>
                <a:prstDash val="solid"/>
                <a:round/>
              </a:ln>
              <a:effectLst/>
            </c:spPr>
          </c:dPt>
          <c:dPt>
            <c:idx val="1"/>
            <c:bubble3D val="0"/>
            <c:spPr>
              <a:solidFill>
                <a:srgbClr val="DDE6E9"/>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Consommé</c:v>
                </c:pt>
                <c:pt idx="1">
                  <c:v>Disponible</c:v>
                </c:pt>
              </c:strCache>
            </c:strRef>
          </c:cat>
          <c:val>
            <c:numRef>
              <c:f>Sheet1!$B$2:$B$3</c:f>
              <c:numCache>
                <c:ptCount val="2"/>
                <c:pt idx="0">
                  <c:v>7.92</c:v>
                </c:pt>
                <c:pt idx="1">
                  <c:v>42.08</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Taille (GB)</c:v>
                </c:pt>
              </c:strCache>
            </c:strRef>
          </c:tx>
          <c:spPr>
            <a:solidFill>
              <a:srgbClr val="3D8E9C"/>
            </a:solidFill>
            <a:effectLst/>
          </c:spPr>
          <c:invertIfNegative val="0"/>
          <c:dLbls>
            <c:numFmt formatCode="0.0" sourceLinked="0"/>
            <c:txPr>
              <a:bodyPr/>
              <a:lstStyle/>
              <a:p>
                <a:pPr>
                  <a:defRPr b="0" i="0" strike="noStrike" sz="1000" u="none">
                    <a:solidFill>
                      <a:srgbClr val="06404F"/>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Mars 26</c:v>
                  </c:pt>
                  <c:pt idx="1">
                    <c:v>Avr. 26</c:v>
                  </c:pt>
                  <c:pt idx="2">
                    <c:v>Mai 26</c:v>
                  </c:pt>
                  <c:pt idx="3">
                    <c:v>Juin 26</c:v>
                  </c:pt>
                  <c:pt idx="4">
                    <c:v>Juil. 26</c:v>
                  </c:pt>
                  <c:pt idx="5">
                    <c:v>Août 26</c:v>
                  </c:pt>
                </c:lvl>
              </c:multiLvlStrCache>
            </c:multiLvlStrRef>
          </c:cat>
          <c:val>
            <c:numRef>
              <c:f>Sheet1!$B$2:$B$7</c:f>
              <c:numCache>
                <c:formatCode>General</c:formatCode>
                <c:ptCount val="6"/>
                <c:pt idx="0">
                  <c:v>44</c:v>
                </c:pt>
                <c:pt idx="1">
                  <c:v>44.9</c:v>
                </c:pt>
                <c:pt idx="2">
                  <c:v>45.6</c:v>
                </c:pt>
                <c:pt idx="3">
                  <c:v>46.8</c:v>
                </c:pt>
                <c:pt idx="4">
                  <c:v>46.9</c:v>
                </c:pt>
                <c:pt idx="5">
                  <c:v>46.9</c:v>
                </c:pt>
              </c:numCache>
            </c:numRef>
          </c:val>
        </c:ser>
        <c:dLbls>
          <c:numFmt formatCode="0.0" sourceLinked="0"/>
          <c:txPr>
            <a:bodyPr/>
            <a:lstStyle/>
            <a:p>
              <a:pPr>
                <a:defRPr b="0" i="0" strike="noStrike" sz="1000" u="none">
                  <a:solidFill>
                    <a:srgbClr val="06404F"/>
                  </a:solidFill>
                  <a:latin typeface="Arial"/>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Seuil 50 GB</c:v>
                </c:pt>
              </c:strCache>
            </c:strRef>
          </c:tx>
          <c:spPr>
            <a:solidFill>
              <a:srgbClr val="F28C28"/>
            </a:solidFill>
            <a:ln w="25400" cap="flat">
              <a:solidFill>
                <a:srgbClr val="F28C28"/>
              </a:solidFill>
              <a:prstDash val="dash"/>
              <a:round/>
            </a:ln>
            <a:effectLst/>
          </c:spPr>
          <c:invertIfNegative val="0"/>
          <c:dLbls>
            <c:numFmt formatCode="0.0" sourceLinked="0"/>
            <c:txPr>
              <a:bodyPr/>
              <a:lstStyle/>
              <a:p>
                <a:pPr>
                  <a:defRPr b="0" i="0" strike="noStrike" sz="1000" u="none">
                    <a:solidFill>
                      <a:srgbClr val="06404F"/>
                    </a:solidFill>
                    <a:latin typeface="Arial"/>
                  </a:defRPr>
                </a:pPr>
              </a:p>
            </c:txPr>
            <c:dLblPos val="outEnd"/>
            <c:showLegendKey val="0"/>
            <c:showVal val="0"/>
            <c:showCatName val="0"/>
            <c:showSerName val="0"/>
            <c:showPercent val="0"/>
            <c:showBubbleSize val="0"/>
            <c:showLeaderLines val="0"/>
          </c:dLbls>
          <c:marker>
            <c:symbol val="none"/>
            <c:size val="6"/>
            <c:spPr>
              <a:solidFill>
                <a:srgbClr val="F28C28"/>
              </a:solidFill>
              <a:ln w="9525" cap="flat">
                <a:solidFill>
                  <a:srgbClr val="F28C28"/>
                </a:solidFill>
                <a:prstDash val="solid"/>
                <a:round/>
              </a:ln>
              <a:effectLst/>
            </c:spPr>
          </c:marker>
          <c:cat>
            <c:multiLvlStrRef>
              <c:f>Sheet1!$A$2:$A$7</c:f>
              <c:multiLvlStrCache>
                <c:ptCount val="6"/>
                <c:lvl>
                  <c:pt idx="0">
                    <c:v>Mars 26</c:v>
                  </c:pt>
                  <c:pt idx="1">
                    <c:v>Avr. 26</c:v>
                  </c:pt>
                  <c:pt idx="2">
                    <c:v>Mai 26</c:v>
                  </c:pt>
                  <c:pt idx="3">
                    <c:v>Juin 26</c:v>
                  </c:pt>
                  <c:pt idx="4">
                    <c:v>Juil. 26</c:v>
                  </c:pt>
                  <c:pt idx="5">
                    <c:v>Août 26</c:v>
                  </c:pt>
                </c:lvl>
              </c:multiLvlStrCache>
            </c:multiLvlStrRef>
          </c:cat>
          <c:val>
            <c:numRef>
              <c:f>Sheet1!$C$2:$C$7</c:f>
              <c:numCache>
                <c:formatCode>General</c:formatCode>
                <c:ptCount val="6"/>
                <c:pt idx="0">
                  <c:v>50</c:v>
                </c:pt>
                <c:pt idx="1">
                  <c:v>50</c:v>
                </c:pt>
                <c:pt idx="2">
                  <c:v>50</c:v>
                </c:pt>
                <c:pt idx="3">
                  <c:v>50</c:v>
                </c:pt>
                <c:pt idx="4">
                  <c:v>50</c:v>
                </c:pt>
                <c:pt idx="5">
                  <c:v>50</c:v>
                </c:pt>
              </c:numCache>
            </c:numRef>
          </c:val>
          <c:smooth val="0"/>
        </c:ser>
        <c:dLbls>
          <c:numFmt formatCode="0.0" sourceLinked="0"/>
          <c:txPr>
            <a:bodyPr/>
            <a:lstStyle/>
            <a:p>
              <a:pPr>
                <a:defRPr b="0" i="0" strike="noStrike" sz="1000" u="none">
                  <a:solidFill>
                    <a:srgbClr val="06404F"/>
                  </a:solidFill>
                  <a:latin typeface="Arial"/>
                </a:defRPr>
              </a:pPr>
            </a:p>
          </c:txPr>
          <c:dLblPos val="outEnd"/>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B83"/>
                </a:solidFill>
                <a:latin typeface="Arial"/>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6350" cap="flat">
              <a:solidFill>
                <a:srgbClr val="E6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B83"/>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000">
              <a:solidFill>
                <a:srgbClr val="6B7B83"/>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Ucount</c:v>
                </c:pt>
              </c:strCache>
            </c:strRef>
          </c:tx>
          <c:spPr>
            <a:solidFill>
              <a:srgbClr val="06404F"/>
            </a:solidFill>
            <a:ln w="31750" cap="flat">
              <a:solidFill>
                <a:srgbClr val="0640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6404F"/>
              </a:solidFill>
              <a:ln w="9525" cap="flat">
                <a:solidFill>
                  <a:srgbClr val="06404F"/>
                </a:solidFill>
                <a:prstDash val="solid"/>
                <a:round/>
              </a:ln>
              <a:effectLst/>
            </c:spPr>
          </c:marker>
          <c:cat>
            <c:multiLvlStrRef>
              <c:f>Sheet1!$A$2:$A$16</c:f>
              <c:multiLvlStrCache>
                <c:ptCount val="15"/>
                <c:lvl>
                  <c:pt idx="0">
                    <c:v>Juin 25</c:v>
                  </c:pt>
                  <c:pt idx="1">
                    <c:v>Juil. 25</c:v>
                  </c:pt>
                  <c:pt idx="2">
                    <c:v>Août 25</c:v>
                  </c:pt>
                  <c:pt idx="3">
                    <c:v>Sept. 25</c:v>
                  </c:pt>
                  <c:pt idx="4">
                    <c:v>Oct. 25</c:v>
                  </c:pt>
                  <c:pt idx="5">
                    <c:v>Nov. 25</c:v>
                  </c:pt>
                  <c:pt idx="6">
                    <c:v>Déc. 25</c:v>
                  </c:pt>
                  <c:pt idx="7">
                    <c:v>Janv. 26</c:v>
                  </c:pt>
                  <c:pt idx="8">
                    <c:v>Fév. 26</c:v>
                  </c:pt>
                  <c:pt idx="9">
                    <c:v>Mars 26</c:v>
                  </c:pt>
                  <c:pt idx="10">
                    <c:v>Avr. 26</c:v>
                  </c:pt>
                  <c:pt idx="11">
                    <c:v>Mai 26</c:v>
                  </c:pt>
                  <c:pt idx="12">
                    <c:v>Juin 26</c:v>
                  </c:pt>
                  <c:pt idx="13">
                    <c:v>Juil. 26</c:v>
                  </c:pt>
                  <c:pt idx="14">
                    <c:v>Août 26</c:v>
                  </c:pt>
                </c:lvl>
              </c:multiLvlStrCache>
            </c:multiLvlStrRef>
          </c:cat>
          <c:val>
            <c:numRef>
              <c:f>Sheet1!$B$2:$B$16</c:f>
              <c:numCache>
                <c:formatCode>General</c:formatCode>
                <c:ptCount val="15"/>
                <c:pt idx="0">
                  <c:v>701932</c:v>
                </c:pt>
                <c:pt idx="1">
                  <c:v>704132</c:v>
                </c:pt>
                <c:pt idx="2">
                  <c:v>686466</c:v>
                </c:pt>
                <c:pt idx="3">
                  <c:v>704410</c:v>
                </c:pt>
                <c:pt idx="4">
                  <c:v>717070</c:v>
                </c:pt>
                <c:pt idx="5">
                  <c:v>733930</c:v>
                </c:pt>
                <c:pt idx="6">
                  <c:v>747925</c:v>
                </c:pt>
                <c:pt idx="7">
                  <c:v>755189</c:v>
                </c:pt>
                <c:pt idx="8">
                  <c:v>770614</c:v>
                </c:pt>
                <c:pt idx="9">
                  <c:v>783378</c:v>
                </c:pt>
                <c:pt idx="10">
                  <c:v>792265</c:v>
                </c:pt>
                <c:pt idx="11">
                  <c:v>802916</c:v>
                </c:pt>
                <c:pt idx="12">
                  <c:v>812472</c:v>
                </c:pt>
                <c:pt idx="13">
                  <c:v>820039</c:v>
                </c:pt>
                <c:pt idx="14">
                  <c:v>824913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6B7B83"/>
                </a:solidFill>
                <a:latin typeface="Arial"/>
              </a:defRPr>
            </a:pPr>
            <a:endParaRPr lang="en-US"/>
          </a:p>
        </c:txPr>
        <c:crossAx val="2094734552"/>
        <c:crosses val="autoZero"/>
        <c:auto val="1"/>
        <c:lblAlgn val="ctr"/>
        <c:noMultiLvlLbl val="1"/>
      </c:catAx>
      <c:valAx>
        <c:axId val="2094734552"/>
        <c:scaling>
          <c:orientation val="minMax"/>
          <c:max val="850000"/>
          <c:min val="650000"/>
        </c:scaling>
        <c:delete val="0"/>
        <c:axPos val="l"/>
        <c:majorGridlines>
          <c:spPr>
            <a:ln w="6350" cap="flat">
              <a:solidFill>
                <a:srgbClr val="E6EC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B83"/>
                </a:solidFill>
                <a:latin typeface="Arial"/>
              </a:defRPr>
            </a:pPr>
            <a:endParaRPr lang="en-US"/>
          </a:p>
        </c:txPr>
        <c:crossAx val="2094734554"/>
        <c:crosses val="autoZero"/>
        <c:crossBetween val="between"/>
        <c:majorUnit val="5000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Viasanté</c:v>
                </c:pt>
              </c:strCache>
            </c:strRef>
          </c:tx>
          <c:spPr>
            <a:solidFill>
              <a:srgbClr val="06404F"/>
            </a:solidFill>
            <a:effectLst/>
          </c:spPr>
          <c:invertIfNegative val="0"/>
          <c:dLbls>
            <c:numFmt formatCode="0.0" sourceLinked="0"/>
            <c:txPr>
              <a:bodyPr/>
              <a:lstStyle/>
              <a:p>
                <a:pPr>
                  <a:defRPr b="0" i="0" strike="noStrike" sz="900" u="none">
                    <a:solidFill>
                      <a:srgbClr val="1F2A30"/>
                    </a:solidFill>
                    <a:latin typeface="Arial"/>
                  </a:defRPr>
                </a:pPr>
              </a:p>
            </c:txPr>
            <c:showLegendKey val="0"/>
            <c:showVal val="1"/>
            <c:showCatName val="0"/>
            <c:showSerName val="0"/>
            <c:showPercent val="0"/>
            <c:showBubbleSize val="0"/>
            <c:showLeaderLines val="0"/>
          </c:dLbls>
          <c:cat>
            <c:multiLvlStrRef>
              <c:f>Sheet1!$A$2:$A$4</c:f>
              <c:multiLvlStrCache>
                <c:ptCount val="3"/>
                <c:lvl>
                  <c:pt idx="0">
                    <c:v>Ouverture</c:v>
                  </c:pt>
                  <c:pt idx="1">
                    <c:v>Clics / ouvertures</c:v>
                  </c:pt>
                  <c:pt idx="2">
                    <c:v>Clics / délivrés</c:v>
                  </c:pt>
                </c:lvl>
              </c:multiLvlStrCache>
            </c:multiLvlStrRef>
          </c:cat>
          <c:val>
            <c:numRef>
              <c:f>Sheet1!$B$2:$B$4</c:f>
              <c:numCache>
                <c:formatCode>General</c:formatCode>
                <c:ptCount val="3"/>
                <c:pt idx="0">
                  <c:v>46.67</c:v>
                </c:pt>
                <c:pt idx="1">
                  <c:v>4.08</c:v>
                </c:pt>
                <c:pt idx="2">
                  <c:v>1.91</c:v>
                </c:pt>
              </c:numCache>
            </c:numRef>
          </c:val>
        </c:ser>
        <c:ser>
          <c:idx val="1"/>
          <c:order val="1"/>
          <c:tx>
            <c:strRef>
              <c:f>Sheet1!$C$1</c:f>
              <c:strCache>
                <c:ptCount val="1"/>
                <c:pt idx="0">
                  <c:v>Secteur</c:v>
                </c:pt>
              </c:strCache>
            </c:strRef>
          </c:tx>
          <c:spPr>
            <a:solidFill>
              <a:srgbClr val="B8C4C9"/>
            </a:solidFill>
            <a:effectLst/>
          </c:spPr>
          <c:invertIfNegative val="0"/>
          <c:dLbls>
            <c:numFmt formatCode="0.0" sourceLinked="0"/>
            <c:txPr>
              <a:bodyPr/>
              <a:lstStyle/>
              <a:p>
                <a:pPr>
                  <a:defRPr b="0" i="0" strike="noStrike" sz="900" u="none">
                    <a:solidFill>
                      <a:srgbClr val="1F2A30"/>
                    </a:solidFill>
                    <a:latin typeface="Arial"/>
                  </a:defRPr>
                </a:pPr>
              </a:p>
            </c:txPr>
            <c:showLegendKey val="0"/>
            <c:showVal val="1"/>
            <c:showCatName val="0"/>
            <c:showSerName val="0"/>
            <c:showPercent val="0"/>
            <c:showBubbleSize val="0"/>
            <c:showLeaderLines val="0"/>
          </c:dLbls>
          <c:cat>
            <c:multiLvlStrRef>
              <c:f>Sheet1!$A$2:$A$4</c:f>
              <c:multiLvlStrCache>
                <c:ptCount val="3"/>
                <c:lvl>
                  <c:pt idx="0">
                    <c:v>Ouverture</c:v>
                  </c:pt>
                  <c:pt idx="1">
                    <c:v>Clics / ouvertures</c:v>
                  </c:pt>
                  <c:pt idx="2">
                    <c:v>Clics / délivrés</c:v>
                  </c:pt>
                </c:lvl>
              </c:multiLvlStrCache>
            </c:multiLvlStrRef>
          </c:cat>
          <c:val>
            <c:numRef>
              <c:f>Sheet1!$C$2:$C$4</c:f>
              <c:numCache>
                <c:formatCode>General</c:formatCode>
                <c:ptCount val="3"/>
                <c:pt idx="0">
                  <c:v>27.25</c:v>
                </c:pt>
                <c:pt idx="1">
                  <c:v>11.2</c:v>
                </c:pt>
                <c:pt idx="2">
                  <c:v>3.05</c:v>
                </c:pt>
              </c:numCache>
            </c:numRef>
          </c:val>
        </c:ser>
        <c:dLbls>
          <c:numFmt formatCode="0.0" sourceLinked="0"/>
          <c:txPr>
            <a:bodyPr/>
            <a:lstStyle/>
            <a:p>
              <a:pPr>
                <a:defRPr b="0" i="0" strike="noStrike" sz="900" u="none">
                  <a:solidFill>
                    <a:srgbClr val="1F2A30"/>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B83"/>
                </a:solidFill>
                <a:latin typeface="Arial"/>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6350" cap="flat">
              <a:solidFill>
                <a:srgbClr val="E6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B83"/>
                </a:solidFill>
                <a:latin typeface="Arial"/>
              </a:defRPr>
            </a:pPr>
            <a:endParaRPr lang="en-US"/>
          </a:p>
        </c:txPr>
        <c:crossAx val="2094734554"/>
        <c:crosses val="autoZero"/>
        <c:crossBetween val="between"/>
        <c:majorUnit val="10"/>
      </c:valAx>
      <c:spPr>
        <a:noFill/>
        <a:ln>
          <a:noFill/>
        </a:ln>
        <a:effectLst/>
      </c:spPr>
    </c:plotArea>
    <c:legend>
      <c:legendPos val="r"/>
      <c:overlay val="0"/>
      <c:txPr>
        <a:bodyPr/>
        <a:lstStyle/>
        <a:p>
          <a:pPr>
            <a:defRPr sz="1000">
              <a:solidFill>
                <a:srgbClr val="6B7B83"/>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SMS délivrés (k)</c:v>
                </c:pt>
              </c:strCache>
            </c:strRef>
          </c:tx>
          <c:spPr>
            <a:solidFill>
              <a:srgbClr val="3D8E9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Sheet1!$A$2:$A$38</c:f>
              <c:multiLvlStrCache>
                <c:ptCount val="37"/>
                <c:lvl>
                  <c:pt idx="0">
                    <c:v/>
                  </c:pt>
                  <c:pt idx="1">
                    <c:v/>
                  </c:pt>
                  <c:pt idx="2">
                    <c:v/>
                  </c:pt>
                  <c:pt idx="3">
                    <c:v/>
                  </c:pt>
                  <c:pt idx="4">
                    <c:v/>
                  </c:pt>
                  <c:pt idx="5">
                    <c:v>janv. 24</c:v>
                  </c:pt>
                  <c:pt idx="6">
                    <c:v/>
                  </c:pt>
                  <c:pt idx="7">
                    <c:v/>
                  </c:pt>
                  <c:pt idx="8">
                    <c:v/>
                  </c:pt>
                  <c:pt idx="9">
                    <c:v/>
                  </c:pt>
                  <c:pt idx="10">
                    <c:v/>
                  </c:pt>
                  <c:pt idx="11">
                    <c:v>juil. 24</c:v>
                  </c:pt>
                  <c:pt idx="12">
                    <c:v/>
                  </c:pt>
                  <c:pt idx="13">
                    <c:v/>
                  </c:pt>
                  <c:pt idx="14">
                    <c:v/>
                  </c:pt>
                  <c:pt idx="15">
                    <c:v/>
                  </c:pt>
                  <c:pt idx="16">
                    <c:v/>
                  </c:pt>
                  <c:pt idx="17">
                    <c:v>janv. 25</c:v>
                  </c:pt>
                  <c:pt idx="18">
                    <c:v/>
                  </c:pt>
                  <c:pt idx="19">
                    <c:v/>
                  </c:pt>
                  <c:pt idx="20">
                    <c:v/>
                  </c:pt>
                  <c:pt idx="21">
                    <c:v/>
                  </c:pt>
                  <c:pt idx="22">
                    <c:v/>
                  </c:pt>
                  <c:pt idx="23">
                    <c:v>juil. 25</c:v>
                  </c:pt>
                  <c:pt idx="24">
                    <c:v/>
                  </c:pt>
                  <c:pt idx="25">
                    <c:v/>
                  </c:pt>
                  <c:pt idx="26">
                    <c:v/>
                  </c:pt>
                  <c:pt idx="27">
                    <c:v/>
                  </c:pt>
                  <c:pt idx="28">
                    <c:v/>
                  </c:pt>
                  <c:pt idx="29">
                    <c:v>janv. 26</c:v>
                  </c:pt>
                  <c:pt idx="30">
                    <c:v/>
                  </c:pt>
                  <c:pt idx="31">
                    <c:v/>
                  </c:pt>
                  <c:pt idx="32">
                    <c:v/>
                  </c:pt>
                  <c:pt idx="33">
                    <c:v/>
                  </c:pt>
                  <c:pt idx="34">
                    <c:v/>
                  </c:pt>
                  <c:pt idx="35">
                    <c:v>juil. 26</c:v>
                  </c:pt>
                  <c:pt idx="36">
                    <c:v/>
                  </c:pt>
                </c:lvl>
              </c:multiLvlStrCache>
            </c:multiLvlStrRef>
          </c:cat>
          <c:val>
            <c:numRef>
              <c:f>Sheet1!$B$2:$B$38</c:f>
              <c:numCache>
                <c:formatCode>General</c:formatCode>
                <c:ptCount val="37"/>
                <c:pt idx="0">
                  <c:v>4.5</c:v>
                </c:pt>
                <c:pt idx="1">
                  <c:v>19.7</c:v>
                </c:pt>
                <c:pt idx="2">
                  <c:v>21</c:v>
                </c:pt>
                <c:pt idx="3">
                  <c:v>20.7</c:v>
                </c:pt>
                <c:pt idx="4">
                  <c:v>20.1</c:v>
                </c:pt>
                <c:pt idx="5">
                  <c:v>22.3</c:v>
                </c:pt>
                <c:pt idx="6">
                  <c:v>7.5</c:v>
                </c:pt>
                <c:pt idx="7">
                  <c:v>20.7</c:v>
                </c:pt>
                <c:pt idx="8">
                  <c:v>22.7</c:v>
                </c:pt>
                <c:pt idx="9">
                  <c:v>23.1</c:v>
                </c:pt>
                <c:pt idx="10">
                  <c:v>22.5</c:v>
                </c:pt>
                <c:pt idx="11">
                  <c:v>30.5</c:v>
                </c:pt>
                <c:pt idx="12">
                  <c:v>21.7</c:v>
                </c:pt>
                <c:pt idx="13">
                  <c:v>21.9</c:v>
                </c:pt>
                <c:pt idx="14">
                  <c:v>22.8</c:v>
                </c:pt>
                <c:pt idx="15">
                  <c:v>22.3</c:v>
                </c:pt>
                <c:pt idx="16">
                  <c:v>22.7</c:v>
                </c:pt>
                <c:pt idx="17">
                  <c:v>26</c:v>
                </c:pt>
                <c:pt idx="18">
                  <c:v>22.5</c:v>
                </c:pt>
                <c:pt idx="19">
                  <c:v>24.3</c:v>
                </c:pt>
                <c:pt idx="20">
                  <c:v>23.3</c:v>
                </c:pt>
                <c:pt idx="21">
                  <c:v>21</c:v>
                </c:pt>
                <c:pt idx="22">
                  <c:v>2.5</c:v>
                </c:pt>
                <c:pt idx="23">
                  <c:v>1.8</c:v>
                </c:pt>
                <c:pt idx="24">
                  <c:v>1.9</c:v>
                </c:pt>
                <c:pt idx="25">
                  <c:v>2.4</c:v>
                </c:pt>
                <c:pt idx="26">
                  <c:v>3.1</c:v>
                </c:pt>
                <c:pt idx="27">
                  <c:v>2.8</c:v>
                </c:pt>
                <c:pt idx="28">
                  <c:v>2.5</c:v>
                </c:pt>
                <c:pt idx="29">
                  <c:v>3.9</c:v>
                </c:pt>
                <c:pt idx="30">
                  <c:v>3.4</c:v>
                </c:pt>
                <c:pt idx="31">
                  <c:v>2.6</c:v>
                </c:pt>
                <c:pt idx="32">
                  <c:v>2.3</c:v>
                </c:pt>
                <c:pt idx="33">
                  <c:v>1.8</c:v>
                </c:pt>
                <c:pt idx="34">
                  <c:v>2.3</c:v>
                </c:pt>
                <c:pt idx="35">
                  <c:v>3.3</c:v>
                </c:pt>
                <c:pt idx="36">
                  <c:v>6.1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B83"/>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E6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B83"/>
                </a:solidFill>
                <a:latin typeface="Arial"/>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Ouverture : rappeler l’objectif du COPIL (état des lieux factuel de CDM et Engage, décisions à prendre ensemble, prochaines étapes). Durée cible : 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Annoncer la logique : d’abord le CRM (exploitation, capacité, sécurité, roadmap), puis Engage (performance, canaux, produit, conformité, roadmap), puis le plan d’actions. Demander s’il y a des sujets à ajouter avant de démarrer.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Lecture rapide : exploitation saine (SLA, délivrabilité), deux points d’anticipation (capacité base, clics email), une vérification contractuelle (palier Ucount) et une question d’usage (SMS/RCS). Ne pas entrer dans le détail ici. Le taux d’ouverture inclut les interactions automatisées (bots) : préférer le taux de clics comme indicateur d’engagement.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Chiffres du dashboard SLA Support Follow-up : SLA contractuel 50 h, Support Time 36,67 h, Case Time 7,92 h, % SLA Use 15,83 %. Reste 42,08 h. Non décompté : 36,67 − 7,92 = 28,75 h.
Détail des tickets (extract xlsx mis à jour le 03/09/2026, activité du 01/07 au 02/09) : 14 tickets, 17,87 h de support sur cette fenêtre, dont 5,02 h de demandes de service. Répartition affichée sur la slide : 5 anomalies produit, 3 demandes de service, 2 questions, 4 tickets de suivi / non catégorisés.
Tickets les plus consommateurs : 550647 (4,17 h, non catégorisé, encore actif le 31/08), 550586 (demande de service, 3,75 h), 550263 (anomalie, 2,92 h), 551396 (question, 2,08 h), 551314 (anomalie, 1,67 h). Consultant support référent : Pierre Foucart.
Si le client demande le détail du décompte : seules les heures qualifiées « Case » alimentent le % SLA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Source : dashboard Database Sizes (24/08/2026) — ≈ 43,9 GB jusqu’au 20/03, ≈ 44,9 GB à partir du 21/03, ≈ 46,0 GB à partir du 13/05, ≈ 46,9 GB depuis le 06/06 puis plateau. Seuil affiché 50 GB.
REDEVANCE : 6 900 €/an par tranche de 100 GB selon la pricelist — À CONFIRMER avant la séance. Si la confirmation n’est pas obtenue, annoncer « redevance annuelle par tranche de 100 GB, montant à confirmer » plutôt que le chiffre.
La date de dépassement est une extrapolation du rythme du premier semestre : la présenter au conditionnel.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Source : Compliance Count (calcul du 16/08/2026, données au 24/08). Juin 2025 : 701 932 → août 2026 : 824 913 (+122 981, soit +17,5 % ; ≈ +8 800/mois). Juillet 2026 : 820 039 → août : +4 874 (+0,6 %). Août 2025 : 686 466 → août 2026 : +20,2 % sur un an. La croissance mensuelle ralentit (+4,9 k en août contre ≈ +15 k fin 2025).
Formuler le sujet licence comme une vérification contractuelle du palier Ucount (licence Gold), jamais comme un incident. Aucune source ne donne le palier contracté : ne pas parler de dépassement. Si la position n’est pas connue le 14/09, s’en tenir à « retour formel d’ici fin septembre ».
Question à poser au client : cette croissance correspond-elle à son plan (adhérents, prospects)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À METTRE À JOUR AVANT LA SÉANCE (avec Frederic Schneider / Ops, le 11/09 au plus tard) : résultat du patch du 10/09 (statut, éventuels effets de bord) → ajuster la pastille « Déployé — en observation » (→ « Validé » ou « Reporté au … ») et la phrase du bilan ; préparer les deux variantes. Rappeler en une phrase pourquoi la sécurisation a été menée (contexte de la demande du 31/08) si le client le demande.
Les éléments 31/08 et 10/09 proviennent du suivi CSM : les confirmer avec le TPM. Sujet strictement technique CDM : ne pas le mêler au futur SSO produit Engage (slide dédiée) ni aux sujets de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Source : deck « CDM Roadmap 2026–2027 » (5 axes : UX, centralisation / vue 360°, automatisation &amp; IA, analytique avancée, collaboration &amp; mobilité). Le séquencement trimestriel est la lecture Selligent proposée au client, pas un engagement de livraison : rester au conditionnel si le client cherche à le contractualiser.
La collaboration et la mobilité (partage temps réel, application mobile, chat et visio intégrés) sont rattachées aux étapes UX et automatisation. Mettre en avant la vue 360° et le dédoublonnage (lien direct avec le sujet volumétrie de la base) et l’automatisation des relances. Demander au client ses priorités.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Source : session roadmap interne juin 2026 (réponses recommandées aux questions clients) : investissement continu (équipes produit / ingénierie principalement en Belgique, étendues par des équipes dédiées IA et Data) ; aucune stratégie de migration forcée, priorité à la valeur de l’investissement actuel ; pour les clients Selligent seuls, aucune obligation de passer à une nouvelle tarification au renouvellement ; pas de changement immédiat sur les modules existants ; stratégie produit fondée sur l’analyse du marché européen et les retours clients ; RGPD, vie privée et réglementation européenne restent une priorité. Questions probables : avenir de Selligent, décisions prises depuis les États-Unis, données hors UE, tarifs — répondre avec ces éléments, sans entrer dans la stratégie Zeta / ZMP.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Source : Deliverability Report – Client vs Industry (25/02/2026 → 23/08/2026, secteur « Professional Services », 48 installs, mode « All interactions »). DR 99,37 % (secteur 98,72 %), VR 46,67 % (27,25 %), CTO 4,08 % (11,20 %), CTR 1,91 % (3,05 %), Unsub 0,30 % (0,20 %). 1 545 190 emails délivrés.
Le taux d’ouverture inclut les ouvertures automatiques (Apple MPP, bots) et gonfle mécaniquement la VR tout en écrasant le CTO : si possible, re-tirer le rapport en mode « Non bot interactions » avant la séance ; sinon, s’en tenir au message CTR (−1,1 pt vs secteur). Le secteur « Professional Services » n’est pas une mutuelle santé : présenter le panel comme une référence indicative.
Le taux de désabonnement légèrement supérieur au secteur (0,30 % vs 0,20 %) relève du même sujet : pression marketing et pertinence des contenus. Volumes mensuels (dashboard Timeline Interactions, lecture graphique) : montée en charge de mars à juin (≈ 0,16 M → 0,47 M), juillet ≈ 0,40 M ; le CTO et le CTR reviennent vers le niveau du secteur en juillet–août.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Source : dashboard SMS Deliveries (23/08/2026) : ≈ 0,50 M de SMS délivrés au total (août 2023 → août 2026) ; ≈ 20–26 k/mois de septembre 2023 à mai 2025 (pic ≈ 30 k en juillet 2024) ; ≈ 2–3 k/mois depuis juin 2025 ; août 2026 ≈ 6 k (mois partiel).
RCS LinkMobility : le connecteur est prêt et en production (déjà live chez un autre client mutualiste), avec les mêmes limitations qu’auparavant. Le changement : il fonctionne désormais par API et non plus par dépôt SFTP. Pas d’interface dédiée, donc pas de prévisualisation — c’est un passe-plat simple.
Infobip à l’inverse : connecteur avec interface, prévisualisation et orchestration plus riche.
À FAIRE AVANT LE 14/09 : connaître la raison de la baisse des volumes depuis juin 2025 (changement de prestataire, arrêt d’un usage, budget) ; sinon poser la question au client. Relier le RCS à des cas d’usage mutuelle : rappels, relances d’adhésion, messages transactionnels.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Message à tenir : le nouveau SSO Engage est sur la trajectoire produit avec une fenêtre cible T1 2027 — aucune promesse de disponibilité antérieure, aucune autre date (les étapes intermédiaires ne sont pas sourcées). Ne pas confondre avec le sujet technique CDM (SSO / AdminTool / ConfigTool) traité le 31/08.
Point à clarifier avec Product avant la séance : la roadmap de juin 2026 liste un « Zeta login » (connexion unique à l’écosystème Zeta) comme disponible ; préciser si le besoin de Viasanté est ce login Zeta ou une fédération SSO avec leur annuaire d’entreprise (SAML), et si la fenêtre T1 2027 porte bien sur ce dernier. Le login Zeta est volontairement absent de la roadmap présentée pour éviter la contradiction.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Cadre vérifié : délibération CNIL n° 2026-042 du 12/03/2026, recommandation finale publiée le 14/04/2026 (cnil.fr/fr/recommandation-pixel-suivi-courriels). Les pixels invisibles relèvent du même régime que les cookies : consentement préalable pour la plupart des usages ; exemption pour la seule mesure individuelle de délivrabilité liée à un service demandé (ex. identifier les adresses inactives). Pour les adresses existantes, période transitoire de trois mois avec information claire et possibilité de refus, close le 14/07/2026.
Engage « Consent-based open tracking » : livré = collecte du consentement (Data Component / stored procedures), tracking d’ouverture basé sur le consentement, journal d’audit basique ; à venir = support Data Importer, tracking basé sur exemption, historique d’audit étendu. Activation via ticket Connect après collecte du consentement ; revoir la stratégie pour les contacts existants.
À FAIRE AVANT LE 14/09 : connaître le statut réel de Viasanté (tracking activé ? consentement collecté ? contacts existants informés avant le 14/07 ?) pour répondre aux trois questions de la slide, ou les poser en séance. Traiter le sujet en gouvernance / conformité : validation DPO formelle avant activation ou généralisation.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Sources : recommandation CNIL sur les pixels de suivi dans les courriers électroniques (délibération n° 2026-042 du 12/03/2026, publiée le 14/04/2026) — elle vise la mesure d’ouverture ET de clic à des fins marketing, avec consentement préalable ; la CNIL a annoncé des recommandations complémentaires sur le suivi des clics. Le consentement doit pouvoir être exprimé simplement et retiré aussi facilement qu’il a été donné. Exemption limitée à la mesure individuelle de délivrabilité liée à un service demandé.
Programme de contrôle CNIL 2026 : quatre axes prioritaires — cybersécurité (environ 50 % de l’activité répressive), recrutement et décisions automatisées, répertoire électoral unique, fédérations sportives. Fil conducteur : accountability, preuve documentée de la conformité. 6 167 violations de données notifiées en 2025 (+9,5 %).
Ne pas jouer les juristes : présenter ces points comme une veille Selligent utile au DPO de Viasanté, et renvoyer la qualification juridique à leur DPO.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Source : roadmap Selligent by Zeta (session interne juin 2026) — statuts vérifiés sur la slide « Where we’re heading » : Now = Real-time Signals, Connector Library (Zeta) ; Next = Automated Privacy Workflow, QuickStart Library, WhatsApp ($), Interactive Moments ($), Ask Your Data (Zeta), Real-time Analytics ; Later = Enriched Customer View (Zeta), Easy Content Blocks, Audience Composition, Performance Advisor (Zeta). Sans trimestre : ne pas dater les items. Ne relayer que les noms de fonctionnalités et leur bénéfice, jamais le contenu stratégie / pricing du deck interne.
IA : outils MCP en lecture seule (Segment Helper disponible ; Ask Your Data à venir) — ne pas promettre l’interrogation en langage naturel comme disponible. Le « Zeta login » est volontairement absent de la colonne Disponible pour rester cohérent avec le message SSO (fenêtre cible T1 2027).
Toujours distinguer disponible / prévu / cible / sous réserve. L’IA arrive après les fondations : conformité, sécurité, données, connecteurs.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Poser chaque question et noter la réponse ou l’arbitrage en séance (elles alimentent le tableau d’actions). Ne pas pousser de réponse : le client décide, Selligent propose.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Les échéances sont des propositions Selligent (aucune n’est contractuelle) : les faire valider ou ajuster en séance ligne par ligne, noter les responsables nommément côté Viasanté. Sortie attendue : un relevé de décisions envoyé sous 48 h. Proposer une date précise pour le prochain COPIL (décembre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INTERNE — Clore sur les décisions prises et la date du prochain COPIL.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404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white.png">    </p:cNvPr>
          <p:cNvPicPr>
            <a:picLocks noChangeAspect="1"/>
          </p:cNvPicPr>
          <p:nvPr/>
        </p:nvPicPr>
        <p:blipFill>
          <a:blip r:embed="rId1"/>
          <a:stretch>
            <a:fillRect/>
          </a:stretch>
        </p:blipFill>
        <p:spPr>
          <a:xfrm>
            <a:off x="502920" y="347472"/>
            <a:ext cx="1463040" cy="526895"/>
          </a:xfrm>
          <a:prstGeom prst="rect">
            <a:avLst/>
          </a:prstGeom>
        </p:spPr>
      </p:pic>
      <p:sp>
        <p:nvSpPr>
          <p:cNvPr id="3" name="Shape 0"/>
          <p:cNvSpPr/>
          <p:nvPr/>
        </p:nvSpPr>
        <p:spPr>
          <a:xfrm>
            <a:off x="8412480" y="-1463040"/>
            <a:ext cx="5669280" cy="5669280"/>
          </a:xfrm>
          <a:prstGeom prst="ellipse">
            <a:avLst/>
          </a:prstGeom>
          <a:solidFill>
            <a:srgbClr val="0F6B7A">
              <a:alpha val="45000"/>
            </a:srgbClr>
          </a:solidFill>
          <a:ln w="12700">
            <a:solidFill>
              <a:srgbClr val="0F6B7A"/>
            </a:solidFill>
            <a:prstDash val="solid"/>
          </a:ln>
        </p:spPr>
      </p:sp>
      <p:sp>
        <p:nvSpPr>
          <p:cNvPr id="4" name="Shape 1"/>
          <p:cNvSpPr/>
          <p:nvPr/>
        </p:nvSpPr>
        <p:spPr>
          <a:xfrm>
            <a:off x="10332720" y="3566160"/>
            <a:ext cx="3291840" cy="3291840"/>
          </a:xfrm>
          <a:prstGeom prst="ellipse">
            <a:avLst/>
          </a:prstGeom>
          <a:solidFill>
            <a:srgbClr val="F28C28">
              <a:alpha val="80000"/>
            </a:srgbClr>
          </a:solidFill>
          <a:ln w="12700">
            <a:solidFill>
              <a:srgbClr val="F28C28"/>
            </a:solidFill>
            <a:prstDash val="solid"/>
          </a:ln>
        </p:spPr>
      </p:sp>
      <p:sp>
        <p:nvSpPr>
          <p:cNvPr id="5" name="Shape 2"/>
          <p:cNvSpPr/>
          <p:nvPr/>
        </p:nvSpPr>
        <p:spPr>
          <a:xfrm>
            <a:off x="7863840" y="4754880"/>
            <a:ext cx="1280160" cy="1280160"/>
          </a:xfrm>
          <a:prstGeom prst="ellipse">
            <a:avLst/>
          </a:prstGeom>
          <a:solidFill>
            <a:srgbClr val="3D8E9C">
              <a:alpha val="60000"/>
            </a:srgbClr>
          </a:solidFill>
          <a:ln w="12700">
            <a:solidFill>
              <a:srgbClr val="3D8E9C"/>
            </a:solidFill>
            <a:prstDash val="solid"/>
          </a:ln>
        </p:spPr>
      </p:sp>
      <p:sp>
        <p:nvSpPr>
          <p:cNvPr id="6" name="Text 3"/>
          <p:cNvSpPr txBox="1"/>
          <p:nvPr/>
        </p:nvSpPr>
        <p:spPr>
          <a:xfrm>
            <a:off x="502920" y="1965960"/>
            <a:ext cx="7315200" cy="320040"/>
          </a:xfrm>
          <a:prstGeom prst="rect">
            <a:avLst/>
          </a:prstGeom>
          <a:noFill/>
          <a:ln/>
        </p:spPr>
        <p:txBody>
          <a:bodyPr wrap="square" lIns="0" tIns="0" rIns="0" bIns="0" rtlCol="0" anchor="t"/>
          <a:lstStyle/>
          <a:p>
            <a:pPr indent="0" marL="0">
              <a:buNone/>
            </a:pPr>
            <a:r>
              <a:rPr lang="en-US" sz="1300" b="1" spc="300" kern="0" dirty="0">
                <a:solidFill>
                  <a:srgbClr val="F28C28"/>
                </a:solidFill>
                <a:latin typeface="Calibri" pitchFamily="34" charset="0"/>
                <a:ea typeface="Calibri" pitchFamily="34" charset="-122"/>
                <a:cs typeface="Calibri" pitchFamily="34" charset="-120"/>
              </a:rPr>
              <a:t>COMITÉ DE PILOTAGE</a:t>
            </a:r>
            <a:endParaRPr lang="en-US" sz="1300" dirty="0"/>
          </a:p>
        </p:txBody>
      </p:sp>
      <p:sp>
        <p:nvSpPr>
          <p:cNvPr id="7" name="Text 4"/>
          <p:cNvSpPr txBox="1"/>
          <p:nvPr/>
        </p:nvSpPr>
        <p:spPr>
          <a:xfrm>
            <a:off x="502920" y="2331720"/>
            <a:ext cx="8229600" cy="86868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Mutuelle Viasanté</a:t>
            </a:r>
            <a:endParaRPr lang="en-US" sz="4800" dirty="0"/>
          </a:p>
        </p:txBody>
      </p:sp>
      <p:sp>
        <p:nvSpPr>
          <p:cNvPr id="8" name="Text 5"/>
          <p:cNvSpPr txBox="1"/>
          <p:nvPr/>
        </p:nvSpPr>
        <p:spPr>
          <a:xfrm>
            <a:off x="502920" y="3200400"/>
            <a:ext cx="8229600"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Point d’avancement CDM &amp; Engage</a:t>
            </a:r>
            <a:endParaRPr lang="en-US" sz="2400" dirty="0"/>
          </a:p>
        </p:txBody>
      </p:sp>
      <p:sp>
        <p:nvSpPr>
          <p:cNvPr id="9" name="Text 6"/>
          <p:cNvSpPr txBox="1"/>
          <p:nvPr/>
        </p:nvSpPr>
        <p:spPr>
          <a:xfrm>
            <a:off x="502920" y="3886200"/>
            <a:ext cx="8229600" cy="365760"/>
          </a:xfrm>
          <a:prstGeom prst="rect">
            <a:avLst/>
          </a:prstGeom>
          <a:noFill/>
          <a:ln/>
        </p:spPr>
        <p:txBody>
          <a:bodyPr wrap="square" lIns="0" tIns="0" rIns="0" bIns="0" rtlCol="0" anchor="ctr"/>
          <a:lstStyle/>
          <a:p>
            <a:pPr indent="0" marL="0">
              <a:buNone/>
            </a:pPr>
            <a:r>
              <a:rPr lang="en-US" sz="1600" dirty="0">
                <a:solidFill>
                  <a:srgbClr val="CFE3E7"/>
                </a:solidFill>
                <a:latin typeface="Calibri" pitchFamily="34" charset="0"/>
                <a:ea typeface="Calibri" pitchFamily="34" charset="-122"/>
                <a:cs typeface="Calibri" pitchFamily="34" charset="-120"/>
              </a:rPr>
              <a:t>14 septembre 2026</a:t>
            </a:r>
            <a:endParaRPr lang="en-US" sz="1600" dirty="0"/>
          </a:p>
        </p:txBody>
      </p:sp>
      <p:sp>
        <p:nvSpPr>
          <p:cNvPr id="10" name="Shape 7"/>
          <p:cNvSpPr/>
          <p:nvPr/>
        </p:nvSpPr>
        <p:spPr>
          <a:xfrm>
            <a:off x="502920" y="4892040"/>
            <a:ext cx="2926080" cy="0"/>
          </a:xfrm>
          <a:prstGeom prst="line">
            <a:avLst/>
          </a:prstGeom>
          <a:noFill/>
          <a:ln w="12700">
            <a:solidFill>
              <a:srgbClr val="3D8E9C"/>
            </a:solidFill>
            <a:prstDash val="solid"/>
          </a:ln>
        </p:spPr>
      </p:sp>
      <p:sp>
        <p:nvSpPr>
          <p:cNvPr id="11" name="Text 8"/>
          <p:cNvSpPr txBox="1"/>
          <p:nvPr/>
        </p:nvSpPr>
        <p:spPr>
          <a:xfrm>
            <a:off x="502920" y="5029200"/>
            <a:ext cx="5486400" cy="1097280"/>
          </a:xfrm>
          <a:prstGeom prst="rect">
            <a:avLst/>
          </a:prstGeom>
          <a:noFill/>
          <a:ln/>
        </p:spPr>
        <p:txBody>
          <a:bodyPr wrap="square" lIns="0" tIns="0" rIns="0" bIns="0" rtlCol="0" anchor="t"/>
          <a:lstStyle/>
          <a:p>
            <a:pPr indent="0" marL="0">
              <a:spcAft>
                <a:spcPts val="200"/>
              </a:spcAft>
              <a:buNone/>
            </a:pPr>
            <a:r>
              <a:rPr lang="en-US" sz="1250" b="1" dirty="0">
                <a:solidFill>
                  <a:srgbClr val="E6F0F2"/>
                </a:solidFill>
                <a:latin typeface="Calibri" pitchFamily="34" charset="0"/>
                <a:ea typeface="Calibri" pitchFamily="34" charset="-122"/>
                <a:cs typeface="Calibri" pitchFamily="34" charset="-120"/>
              </a:rPr>
              <a:t>Nadir Echaara</a:t>
            </a:r>
            <a:endParaRPr lang="en-US" sz="1250" dirty="0"/>
          </a:p>
          <a:p>
            <a:pPr indent="0" marL="0">
              <a:spcAft>
                <a:spcPts val="200"/>
              </a:spcAft>
              <a:buNone/>
            </a:pPr>
            <a:r>
              <a:rPr lang="en-US" sz="1250" dirty="0">
                <a:solidFill>
                  <a:srgbClr val="E6F0F2"/>
                </a:solidFill>
                <a:latin typeface="Calibri" pitchFamily="34" charset="0"/>
                <a:ea typeface="Calibri" pitchFamily="34" charset="-122"/>
                <a:cs typeface="Calibri" pitchFamily="34" charset="-120"/>
              </a:rPr>
              <a:t>Customer Success Manager — Selligent</a:t>
            </a:r>
            <a:endParaRPr lang="en-US" sz="1250" dirty="0"/>
          </a:p>
          <a:p>
            <a:pPr indent="0" marL="0">
              <a:spcAft>
                <a:spcPts val="200"/>
              </a:spcAft>
              <a:buNone/>
            </a:pPr>
            <a:r>
              <a:rPr lang="en-US" sz="1250" b="1" dirty="0">
                <a:solidFill>
                  <a:srgbClr val="E6F0F2"/>
                </a:solidFill>
                <a:latin typeface="Calibri" pitchFamily="34" charset="0"/>
                <a:ea typeface="Calibri" pitchFamily="34" charset="-122"/>
                <a:cs typeface="Calibri" pitchFamily="34" charset="-120"/>
              </a:rPr>
              <a:t>Frederic Schneider</a:t>
            </a:r>
            <a:endParaRPr lang="en-US" sz="1250" dirty="0"/>
          </a:p>
          <a:p>
            <a:pPr indent="0" marL="0">
              <a:spcAft>
                <a:spcPts val="200"/>
              </a:spcAft>
              <a:buNone/>
            </a:pPr>
            <a:r>
              <a:rPr lang="en-US" sz="1250" dirty="0">
                <a:solidFill>
                  <a:srgbClr val="E6F0F2"/>
                </a:solidFill>
                <a:latin typeface="Calibri" pitchFamily="34" charset="0"/>
                <a:ea typeface="Calibri" pitchFamily="34" charset="-122"/>
                <a:cs typeface="Calibri" pitchFamily="34" charset="-120"/>
              </a:rPr>
              <a:t>Technical Project Manager — Selligent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Text 0"/>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Ordre du jour</a:t>
            </a:r>
            <a:endParaRPr lang="en-US" sz="2600" dirty="0"/>
          </a:p>
        </p:txBody>
      </p:sp>
      <p:sp>
        <p:nvSpPr>
          <p:cNvPr id="4" name="Text 1"/>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Deux outils, deux séquences : votre CRM (CDM) puis votre plateforme marketing (Engage), et les actions à décider ensemble.</a:t>
            </a:r>
            <a:endParaRPr lang="en-US" sz="1300" dirty="0"/>
          </a:p>
        </p:txBody>
      </p:sp>
      <p:sp>
        <p:nvSpPr>
          <p:cNvPr id="5" name="Text 2"/>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502920" y="2011680"/>
            <a:ext cx="3545738" cy="4023360"/>
          </a:xfrm>
          <a:prstGeom prst="roundRect">
            <a:avLst>
              <a:gd name="adj" fmla="val 309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7" name="Text 4"/>
          <p:cNvSpPr txBox="1"/>
          <p:nvPr/>
        </p:nvSpPr>
        <p:spPr>
          <a:xfrm>
            <a:off x="777240" y="2240280"/>
            <a:ext cx="1097280" cy="640080"/>
          </a:xfrm>
          <a:prstGeom prst="rect">
            <a:avLst/>
          </a:prstGeom>
          <a:noFill/>
          <a:ln/>
        </p:spPr>
        <p:txBody>
          <a:bodyPr wrap="square" lIns="0" tIns="0" rIns="0" bIns="0" rtlCol="0" anchor="ctr"/>
          <a:lstStyle/>
          <a:p>
            <a:pPr indent="0" marL="0">
              <a:buNone/>
            </a:pPr>
            <a:r>
              <a:rPr lang="en-US" sz="4000" b="1" dirty="0">
                <a:solidFill>
                  <a:srgbClr val="F28C28"/>
                </a:solidFill>
                <a:latin typeface="Calibri" pitchFamily="34" charset="0"/>
                <a:ea typeface="Calibri" pitchFamily="34" charset="-122"/>
                <a:cs typeface="Calibri" pitchFamily="34" charset="-120"/>
              </a:rPr>
              <a:t>01</a:t>
            </a:r>
            <a:endParaRPr lang="en-US" sz="4000" dirty="0"/>
          </a:p>
        </p:txBody>
      </p:sp>
      <p:sp>
        <p:nvSpPr>
          <p:cNvPr id="8" name="Shape 5"/>
          <p:cNvSpPr/>
          <p:nvPr/>
        </p:nvSpPr>
        <p:spPr>
          <a:xfrm>
            <a:off x="3225698" y="2286000"/>
            <a:ext cx="548640" cy="548640"/>
          </a:xfrm>
          <a:prstGeom prst="ellipse">
            <a:avLst/>
          </a:prstGeom>
          <a:solidFill>
            <a:srgbClr val="E4F0F2"/>
          </a:solidFill>
          <a:ln w="12700">
            <a:solidFill>
              <a:srgbClr val="E4F0F2"/>
            </a:solidFill>
            <a:prstDash val="solid"/>
          </a:ln>
        </p:spPr>
      </p:sp>
      <p:pic>
        <p:nvPicPr>
          <p:cNvPr id="9" name="Image 1" descr="preencoded.png">    </p:cNvPr>
          <p:cNvPicPr>
            <a:picLocks noChangeAspect="1"/>
          </p:cNvPicPr>
          <p:nvPr/>
        </p:nvPicPr>
        <p:blipFill>
          <a:blip r:embed="rId2"/>
          <a:stretch>
            <a:fillRect/>
          </a:stretch>
        </p:blipFill>
        <p:spPr>
          <a:xfrm>
            <a:off x="3368345" y="2428646"/>
            <a:ext cx="263347" cy="263347"/>
          </a:xfrm>
          <a:prstGeom prst="rect">
            <a:avLst/>
          </a:prstGeom>
        </p:spPr>
      </p:pic>
      <p:sp>
        <p:nvSpPr>
          <p:cNvPr id="10" name="Text 6"/>
          <p:cNvSpPr txBox="1"/>
          <p:nvPr/>
        </p:nvSpPr>
        <p:spPr>
          <a:xfrm>
            <a:off x="777240" y="2971800"/>
            <a:ext cx="2997098" cy="502920"/>
          </a:xfrm>
          <a:prstGeom prst="rect">
            <a:avLst/>
          </a:prstGeom>
          <a:noFill/>
          <a:ln/>
        </p:spPr>
        <p:txBody>
          <a:bodyPr wrap="square" lIns="0" tIns="0" rIns="0" bIns="0" rtlCol="0" anchor="ctr"/>
          <a:lstStyle/>
          <a:p>
            <a:pPr indent="0" marL="0">
              <a:buNone/>
            </a:pPr>
            <a:r>
              <a:rPr lang="en-US" sz="1600" b="1" dirty="0">
                <a:solidFill>
                  <a:srgbClr val="06404F"/>
                </a:solidFill>
                <a:latin typeface="Calibri" pitchFamily="34" charset="0"/>
                <a:ea typeface="Calibri" pitchFamily="34" charset="-122"/>
                <a:cs typeface="Calibri" pitchFamily="34" charset="-120"/>
              </a:rPr>
              <a:t>CDM — votre CRM</a:t>
            </a:r>
            <a:endParaRPr lang="en-US" sz="1600" dirty="0"/>
          </a:p>
        </p:txBody>
      </p:sp>
      <p:sp>
        <p:nvSpPr>
          <p:cNvPr id="11" name="Shape 7"/>
          <p:cNvSpPr/>
          <p:nvPr/>
        </p:nvSpPr>
        <p:spPr>
          <a:xfrm>
            <a:off x="777240" y="3566160"/>
            <a:ext cx="2997098" cy="0"/>
          </a:xfrm>
          <a:prstGeom prst="line">
            <a:avLst/>
          </a:prstGeom>
          <a:noFill/>
          <a:ln w="9525">
            <a:solidFill>
              <a:srgbClr val="D6E0E3"/>
            </a:solidFill>
            <a:prstDash val="solid"/>
          </a:ln>
        </p:spPr>
      </p:sp>
      <p:sp>
        <p:nvSpPr>
          <p:cNvPr id="12" name="Text 8"/>
          <p:cNvSpPr txBox="1"/>
          <p:nvPr/>
        </p:nvSpPr>
        <p:spPr>
          <a:xfrm>
            <a:off x="777240" y="3749040"/>
            <a:ext cx="2997098" cy="21031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Consommation du SLA Gold 2026–2027</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Capacité de la base de données</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Audience unique et licence</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Sécurisation de la configuration et patch du 10/09</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Orientations roadmap CDM 2026–2027</a:t>
            </a:r>
            <a:endParaRPr lang="en-US" sz="1250" dirty="0"/>
          </a:p>
        </p:txBody>
      </p:sp>
      <p:sp>
        <p:nvSpPr>
          <p:cNvPr id="13" name="Shape 9"/>
          <p:cNvSpPr/>
          <p:nvPr/>
        </p:nvSpPr>
        <p:spPr>
          <a:xfrm>
            <a:off x="4322978" y="2011680"/>
            <a:ext cx="3545738" cy="4023360"/>
          </a:xfrm>
          <a:prstGeom prst="roundRect">
            <a:avLst>
              <a:gd name="adj" fmla="val 309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4" name="Text 10"/>
          <p:cNvSpPr txBox="1"/>
          <p:nvPr/>
        </p:nvSpPr>
        <p:spPr>
          <a:xfrm>
            <a:off x="4597298" y="2240280"/>
            <a:ext cx="1097280" cy="640080"/>
          </a:xfrm>
          <a:prstGeom prst="rect">
            <a:avLst/>
          </a:prstGeom>
          <a:noFill/>
          <a:ln/>
        </p:spPr>
        <p:txBody>
          <a:bodyPr wrap="square" lIns="0" tIns="0" rIns="0" bIns="0" rtlCol="0" anchor="ctr"/>
          <a:lstStyle/>
          <a:p>
            <a:pPr indent="0" marL="0">
              <a:buNone/>
            </a:pPr>
            <a:r>
              <a:rPr lang="en-US" sz="4000" b="1" dirty="0">
                <a:solidFill>
                  <a:srgbClr val="F28C28"/>
                </a:solidFill>
                <a:latin typeface="Calibri" pitchFamily="34" charset="0"/>
                <a:ea typeface="Calibri" pitchFamily="34" charset="-122"/>
                <a:cs typeface="Calibri" pitchFamily="34" charset="-120"/>
              </a:rPr>
              <a:t>02</a:t>
            </a:r>
            <a:endParaRPr lang="en-US" sz="4000" dirty="0"/>
          </a:p>
        </p:txBody>
      </p:sp>
      <p:sp>
        <p:nvSpPr>
          <p:cNvPr id="15" name="Shape 11"/>
          <p:cNvSpPr/>
          <p:nvPr/>
        </p:nvSpPr>
        <p:spPr>
          <a:xfrm>
            <a:off x="7045757" y="2286000"/>
            <a:ext cx="548640" cy="548640"/>
          </a:xfrm>
          <a:prstGeom prst="ellipse">
            <a:avLst/>
          </a:prstGeom>
          <a:solidFill>
            <a:srgbClr val="E4F0F2"/>
          </a:solidFill>
          <a:ln w="12700">
            <a:solidFill>
              <a:srgbClr val="E4F0F2"/>
            </a:solidFill>
            <a:prstDash val="solid"/>
          </a:ln>
        </p:spPr>
      </p:sp>
      <p:pic>
        <p:nvPicPr>
          <p:cNvPr id="16" name="Image 2" descr="preencoded.png">    </p:cNvPr>
          <p:cNvPicPr>
            <a:picLocks noChangeAspect="1"/>
          </p:cNvPicPr>
          <p:nvPr/>
        </p:nvPicPr>
        <p:blipFill>
          <a:blip r:embed="rId3"/>
          <a:stretch>
            <a:fillRect/>
          </a:stretch>
        </p:blipFill>
        <p:spPr>
          <a:xfrm>
            <a:off x="7188403" y="2428646"/>
            <a:ext cx="263347" cy="263347"/>
          </a:xfrm>
          <a:prstGeom prst="rect">
            <a:avLst/>
          </a:prstGeom>
        </p:spPr>
      </p:pic>
      <p:sp>
        <p:nvSpPr>
          <p:cNvPr id="17" name="Text 12"/>
          <p:cNvSpPr txBox="1"/>
          <p:nvPr/>
        </p:nvSpPr>
        <p:spPr>
          <a:xfrm>
            <a:off x="4597298" y="2971800"/>
            <a:ext cx="2997098" cy="502920"/>
          </a:xfrm>
          <a:prstGeom prst="rect">
            <a:avLst/>
          </a:prstGeom>
          <a:noFill/>
          <a:ln/>
        </p:spPr>
        <p:txBody>
          <a:bodyPr wrap="square" lIns="0" tIns="0" rIns="0" bIns="0" rtlCol="0" anchor="ctr"/>
          <a:lstStyle/>
          <a:p>
            <a:pPr indent="0" marL="0">
              <a:buNone/>
            </a:pPr>
            <a:r>
              <a:rPr lang="en-US" sz="1600" b="1" dirty="0">
                <a:solidFill>
                  <a:srgbClr val="06404F"/>
                </a:solidFill>
                <a:latin typeface="Calibri" pitchFamily="34" charset="0"/>
                <a:ea typeface="Calibri" pitchFamily="34" charset="-122"/>
                <a:cs typeface="Calibri" pitchFamily="34" charset="-120"/>
              </a:rPr>
              <a:t>Engage — votre plateforme marketing</a:t>
            </a:r>
            <a:endParaRPr lang="en-US" sz="1600" dirty="0"/>
          </a:p>
        </p:txBody>
      </p:sp>
      <p:sp>
        <p:nvSpPr>
          <p:cNvPr id="18" name="Shape 13"/>
          <p:cNvSpPr/>
          <p:nvPr/>
        </p:nvSpPr>
        <p:spPr>
          <a:xfrm>
            <a:off x="4597298" y="3566160"/>
            <a:ext cx="2997098" cy="0"/>
          </a:xfrm>
          <a:prstGeom prst="line">
            <a:avLst/>
          </a:prstGeom>
          <a:noFill/>
          <a:ln w="9525">
            <a:solidFill>
              <a:srgbClr val="D6E0E3"/>
            </a:solidFill>
            <a:prstDash val="solid"/>
          </a:ln>
        </p:spPr>
      </p:sp>
      <p:sp>
        <p:nvSpPr>
          <p:cNvPr id="19" name="Text 14"/>
          <p:cNvSpPr txBox="1"/>
          <p:nvPr/>
        </p:nvSpPr>
        <p:spPr>
          <a:xfrm>
            <a:off x="4597298" y="3749040"/>
            <a:ext cx="2997098" cy="21031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Selligent by Zeta : ce qui change pour vous</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Performance email vs secteur</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Volumes SMS et option RCS</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Nouveau SSO Engage : trajectoire</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Pixel d’ouverture et recommandation CNIL</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Roadmap Engage 2026–2027</a:t>
            </a:r>
            <a:endParaRPr lang="en-US" sz="1250" dirty="0"/>
          </a:p>
        </p:txBody>
      </p:sp>
      <p:sp>
        <p:nvSpPr>
          <p:cNvPr id="20" name="Shape 15"/>
          <p:cNvSpPr/>
          <p:nvPr/>
        </p:nvSpPr>
        <p:spPr>
          <a:xfrm>
            <a:off x="8143037" y="2011680"/>
            <a:ext cx="3545738" cy="4023360"/>
          </a:xfrm>
          <a:prstGeom prst="roundRect">
            <a:avLst>
              <a:gd name="adj" fmla="val 309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1" name="Text 16"/>
          <p:cNvSpPr txBox="1"/>
          <p:nvPr/>
        </p:nvSpPr>
        <p:spPr>
          <a:xfrm>
            <a:off x="8417357" y="2240280"/>
            <a:ext cx="1097280" cy="640080"/>
          </a:xfrm>
          <a:prstGeom prst="rect">
            <a:avLst/>
          </a:prstGeom>
          <a:noFill/>
          <a:ln/>
        </p:spPr>
        <p:txBody>
          <a:bodyPr wrap="square" lIns="0" tIns="0" rIns="0" bIns="0" rtlCol="0" anchor="ctr"/>
          <a:lstStyle/>
          <a:p>
            <a:pPr indent="0" marL="0">
              <a:buNone/>
            </a:pPr>
            <a:r>
              <a:rPr lang="en-US" sz="4000" b="1" dirty="0">
                <a:solidFill>
                  <a:srgbClr val="F28C28"/>
                </a:solidFill>
                <a:latin typeface="Calibri" pitchFamily="34" charset="0"/>
                <a:ea typeface="Calibri" pitchFamily="34" charset="-122"/>
                <a:cs typeface="Calibri" pitchFamily="34" charset="-120"/>
              </a:rPr>
              <a:t>03</a:t>
            </a:r>
            <a:endParaRPr lang="en-US" sz="4000" dirty="0"/>
          </a:p>
        </p:txBody>
      </p:sp>
      <p:sp>
        <p:nvSpPr>
          <p:cNvPr id="22" name="Shape 17"/>
          <p:cNvSpPr/>
          <p:nvPr/>
        </p:nvSpPr>
        <p:spPr>
          <a:xfrm>
            <a:off x="10865815" y="2286000"/>
            <a:ext cx="548640" cy="548640"/>
          </a:xfrm>
          <a:prstGeom prst="ellipse">
            <a:avLst/>
          </a:prstGeom>
          <a:solidFill>
            <a:srgbClr val="E4F0F2"/>
          </a:solidFill>
          <a:ln w="12700">
            <a:solidFill>
              <a:srgbClr val="E4F0F2"/>
            </a:solidFill>
            <a:prstDash val="solid"/>
          </a:ln>
        </p:spPr>
      </p:sp>
      <p:pic>
        <p:nvPicPr>
          <p:cNvPr id="23" name="Image 3" descr="preencoded.png">    </p:cNvPr>
          <p:cNvPicPr>
            <a:picLocks noChangeAspect="1"/>
          </p:cNvPicPr>
          <p:nvPr/>
        </p:nvPicPr>
        <p:blipFill>
          <a:blip r:embed="rId4"/>
          <a:stretch>
            <a:fillRect/>
          </a:stretch>
        </p:blipFill>
        <p:spPr>
          <a:xfrm>
            <a:off x="11008462" y="2428646"/>
            <a:ext cx="263347" cy="263347"/>
          </a:xfrm>
          <a:prstGeom prst="rect">
            <a:avLst/>
          </a:prstGeom>
        </p:spPr>
      </p:pic>
      <p:sp>
        <p:nvSpPr>
          <p:cNvPr id="24" name="Text 18"/>
          <p:cNvSpPr txBox="1"/>
          <p:nvPr/>
        </p:nvSpPr>
        <p:spPr>
          <a:xfrm>
            <a:off x="8417357" y="2971800"/>
            <a:ext cx="2997098" cy="502920"/>
          </a:xfrm>
          <a:prstGeom prst="rect">
            <a:avLst/>
          </a:prstGeom>
          <a:noFill/>
          <a:ln/>
        </p:spPr>
        <p:txBody>
          <a:bodyPr wrap="square" lIns="0" tIns="0" rIns="0" bIns="0" rtlCol="0" anchor="ctr"/>
          <a:lstStyle/>
          <a:p>
            <a:pPr indent="0" marL="0">
              <a:buNone/>
            </a:pPr>
            <a:r>
              <a:rPr lang="en-US" sz="1600" b="1" dirty="0">
                <a:solidFill>
                  <a:srgbClr val="06404F"/>
                </a:solidFill>
                <a:latin typeface="Calibri" pitchFamily="34" charset="0"/>
                <a:ea typeface="Calibri" pitchFamily="34" charset="-122"/>
                <a:cs typeface="Calibri" pitchFamily="34" charset="-120"/>
              </a:rPr>
              <a:t>Synthèse</a:t>
            </a:r>
            <a:endParaRPr lang="en-US" sz="1600" dirty="0"/>
          </a:p>
        </p:txBody>
      </p:sp>
      <p:sp>
        <p:nvSpPr>
          <p:cNvPr id="25" name="Shape 19"/>
          <p:cNvSpPr/>
          <p:nvPr/>
        </p:nvSpPr>
        <p:spPr>
          <a:xfrm>
            <a:off x="8417357" y="3566160"/>
            <a:ext cx="2997098" cy="0"/>
          </a:xfrm>
          <a:prstGeom prst="line">
            <a:avLst/>
          </a:prstGeom>
          <a:noFill/>
          <a:ln w="9525">
            <a:solidFill>
              <a:srgbClr val="D6E0E3"/>
            </a:solidFill>
            <a:prstDash val="solid"/>
          </a:ln>
        </p:spPr>
      </p:sp>
      <p:sp>
        <p:nvSpPr>
          <p:cNvPr id="26" name="Text 20"/>
          <p:cNvSpPr txBox="1"/>
          <p:nvPr/>
        </p:nvSpPr>
        <p:spPr>
          <a:xfrm>
            <a:off x="8417357" y="3749040"/>
            <a:ext cx="2997098" cy="21031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Vos arbitrages : cinq questions ouvertes</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Plan d’actions : qui fait quoi, pour quand</a:t>
            </a:r>
            <a:endParaRPr lang="en-US" sz="1250" dirty="0"/>
          </a:p>
          <a:p>
            <a:pPr marL="152400" indent="-152400">
              <a:spcAft>
                <a:spcPts val="700"/>
              </a:spcAft>
              <a:buSzPct val="100000"/>
              <a:buChar char="•"/>
            </a:pPr>
            <a:r>
              <a:rPr lang="en-US" sz="1250" dirty="0">
                <a:solidFill>
                  <a:srgbClr val="1F2A30"/>
                </a:solidFill>
                <a:latin typeface="Calibri" pitchFamily="34" charset="0"/>
                <a:ea typeface="Calibri" pitchFamily="34" charset="-122"/>
                <a:cs typeface="Calibri" pitchFamily="34" charset="-120"/>
              </a:rPr>
              <a:t>Date du prochain COPIL</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Text 0"/>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Votre dispositif Selligent en un coup d’œil</a:t>
            </a:r>
            <a:endParaRPr lang="en-US" sz="2600" dirty="0"/>
          </a:p>
        </p:txBody>
      </p:sp>
      <p:sp>
        <p:nvSpPr>
          <p:cNvPr id="4" name="Text 1"/>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Trois indicateurs de santé, trois indicateurs d’activité — le détail et les actions suivent dans chaque section.</a:t>
            </a:r>
            <a:endParaRPr lang="en-US" sz="1300" dirty="0"/>
          </a:p>
        </p:txBody>
      </p:sp>
      <p:sp>
        <p:nvSpPr>
          <p:cNvPr id="5" name="Text 2"/>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3</a:t>
            </a:r>
            <a:endParaRPr lang="en-US" sz="900" dirty="0"/>
          </a:p>
        </p:txBody>
      </p:sp>
      <p:sp>
        <p:nvSpPr>
          <p:cNvPr id="6" name="Text 3"/>
          <p:cNvSpPr txBox="1"/>
          <p:nvPr/>
        </p:nvSpPr>
        <p:spPr>
          <a:xfrm>
            <a:off x="502920" y="1828800"/>
            <a:ext cx="7315200" cy="228600"/>
          </a:xfrm>
          <a:prstGeom prst="rect">
            <a:avLst/>
          </a:prstGeom>
          <a:noFill/>
          <a:ln/>
        </p:spPr>
        <p:txBody>
          <a:bodyPr wrap="square" lIns="0" tIns="0" rIns="0" bIns="0" rtlCol="0" anchor="ctr"/>
          <a:lstStyle/>
          <a:p>
            <a:pPr indent="0" marL="0">
              <a:buNone/>
            </a:pPr>
            <a:r>
              <a:rPr lang="en-US" sz="900" b="1" spc="200" kern="0" dirty="0">
                <a:solidFill>
                  <a:srgbClr val="6B7B83"/>
                </a:solidFill>
                <a:latin typeface="Calibri" pitchFamily="34" charset="0"/>
                <a:ea typeface="Calibri" pitchFamily="34" charset="-122"/>
                <a:cs typeface="Calibri" pitchFamily="34" charset="-120"/>
              </a:rPr>
              <a:t>SANTÉ DU DISPOSITIF</a:t>
            </a:r>
            <a:endParaRPr lang="en-US" sz="900" dirty="0"/>
          </a:p>
        </p:txBody>
      </p:sp>
      <p:sp>
        <p:nvSpPr>
          <p:cNvPr id="7" name="Shape 4"/>
          <p:cNvSpPr/>
          <p:nvPr/>
        </p:nvSpPr>
        <p:spPr>
          <a:xfrm>
            <a:off x="502920" y="2103120"/>
            <a:ext cx="3545738" cy="182880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8" name="Shape 5"/>
          <p:cNvSpPr/>
          <p:nvPr/>
        </p:nvSpPr>
        <p:spPr>
          <a:xfrm>
            <a:off x="704088" y="2304288"/>
            <a:ext cx="457200" cy="457200"/>
          </a:xfrm>
          <a:prstGeom prst="ellipse">
            <a:avLst/>
          </a:prstGeom>
          <a:solidFill>
            <a:srgbClr val="E4F0F2"/>
          </a:solidFill>
          <a:ln w="12700">
            <a:solidFill>
              <a:srgbClr val="E4F0F2"/>
            </a:solidFill>
            <a:prstDash val="solid"/>
          </a:ln>
        </p:spPr>
      </p:sp>
      <p:pic>
        <p:nvPicPr>
          <p:cNvPr id="9" name="Image 1" descr="preencoded.png">    </p:cNvPr>
          <p:cNvPicPr>
            <a:picLocks noChangeAspect="1"/>
          </p:cNvPicPr>
          <p:nvPr/>
        </p:nvPicPr>
        <p:blipFill>
          <a:blip r:embed="rId2"/>
          <a:stretch>
            <a:fillRect/>
          </a:stretch>
        </p:blipFill>
        <p:spPr>
          <a:xfrm>
            <a:off x="822960" y="2423160"/>
            <a:ext cx="219456" cy="219456"/>
          </a:xfrm>
          <a:prstGeom prst="rect">
            <a:avLst/>
          </a:prstGeom>
        </p:spPr>
      </p:pic>
      <p:sp>
        <p:nvSpPr>
          <p:cNvPr id="10" name="Text 6"/>
          <p:cNvSpPr txBox="1"/>
          <p:nvPr/>
        </p:nvSpPr>
        <p:spPr>
          <a:xfrm>
            <a:off x="1280160" y="2304288"/>
            <a:ext cx="2585618"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SLA Gold 2026–2027</a:t>
            </a:r>
            <a:endParaRPr lang="en-US" sz="1100" dirty="0"/>
          </a:p>
        </p:txBody>
      </p:sp>
      <p:sp>
        <p:nvSpPr>
          <p:cNvPr id="11" name="Text 7"/>
          <p:cNvSpPr txBox="1"/>
          <p:nvPr/>
        </p:nvSpPr>
        <p:spPr>
          <a:xfrm>
            <a:off x="704088" y="2816352"/>
            <a:ext cx="3143402" cy="502920"/>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7,9 h / 50 h</a:t>
            </a:r>
            <a:endParaRPr lang="en-US" sz="2600" dirty="0"/>
          </a:p>
        </p:txBody>
      </p:sp>
      <p:sp>
        <p:nvSpPr>
          <p:cNvPr id="12" name="Text 8"/>
          <p:cNvSpPr txBox="1"/>
          <p:nvPr/>
        </p:nvSpPr>
        <p:spPr>
          <a:xfrm>
            <a:off x="704088" y="3319272"/>
            <a:ext cx="3143402" cy="228600"/>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16 % du forfait consommé · 42,1 h disponibles</a:t>
            </a:r>
            <a:endParaRPr lang="en-US" sz="1000" dirty="0"/>
          </a:p>
        </p:txBody>
      </p:sp>
      <p:sp>
        <p:nvSpPr>
          <p:cNvPr id="13" name="Shape 9"/>
          <p:cNvSpPr/>
          <p:nvPr/>
        </p:nvSpPr>
        <p:spPr>
          <a:xfrm>
            <a:off x="704088" y="3566160"/>
            <a:ext cx="2194560" cy="237744"/>
          </a:xfrm>
          <a:prstGeom prst="roundRect">
            <a:avLst>
              <a:gd name="adj" fmla="val 50000"/>
            </a:avLst>
          </a:prstGeom>
          <a:solidFill>
            <a:srgbClr val="E3F3EA"/>
          </a:solidFill>
          <a:ln w="12700">
            <a:solidFill>
              <a:srgbClr val="E3F3EA"/>
            </a:solidFill>
            <a:prstDash val="solid"/>
          </a:ln>
        </p:spPr>
      </p:sp>
      <p:sp>
        <p:nvSpPr>
          <p:cNvPr id="14" name="Text 10"/>
          <p:cNvSpPr txBox="1"/>
          <p:nvPr/>
        </p:nvSpPr>
        <p:spPr>
          <a:xfrm>
            <a:off x="704088" y="3566160"/>
            <a:ext cx="2194560" cy="237744"/>
          </a:xfrm>
          <a:prstGeom prst="rect">
            <a:avLst/>
          </a:prstGeom>
          <a:noFill/>
          <a:ln/>
        </p:spPr>
        <p:txBody>
          <a:bodyPr wrap="square" lIns="0" tIns="0" rIns="0" bIns="0" rtlCol="0" anchor="ctr"/>
          <a:lstStyle/>
          <a:p>
            <a:pPr algn="ctr" indent="0" marL="0">
              <a:buNone/>
            </a:pPr>
            <a:r>
              <a:rPr lang="en-US" sz="850" b="1" spc="100" kern="0" dirty="0">
                <a:solidFill>
                  <a:srgbClr val="2E8B57"/>
                </a:solidFill>
                <a:latin typeface="Calibri" pitchFamily="34" charset="0"/>
                <a:ea typeface="Calibri" pitchFamily="34" charset="-122"/>
                <a:cs typeface="Calibri" pitchFamily="34" charset="-120"/>
              </a:rPr>
              <a:t>SOUS CONTRÔLE</a:t>
            </a:r>
            <a:endParaRPr lang="en-US" sz="850" dirty="0"/>
          </a:p>
        </p:txBody>
      </p:sp>
      <p:sp>
        <p:nvSpPr>
          <p:cNvPr id="15" name="Shape 11"/>
          <p:cNvSpPr/>
          <p:nvPr/>
        </p:nvSpPr>
        <p:spPr>
          <a:xfrm>
            <a:off x="4322978" y="2103120"/>
            <a:ext cx="3545738" cy="182880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6" name="Shape 12"/>
          <p:cNvSpPr/>
          <p:nvPr/>
        </p:nvSpPr>
        <p:spPr>
          <a:xfrm>
            <a:off x="4524146" y="2304288"/>
            <a:ext cx="457200" cy="457200"/>
          </a:xfrm>
          <a:prstGeom prst="ellipse">
            <a:avLst/>
          </a:prstGeom>
          <a:solidFill>
            <a:srgbClr val="E4F0F2"/>
          </a:solidFill>
          <a:ln w="12700">
            <a:solidFill>
              <a:srgbClr val="E4F0F2"/>
            </a:solidFill>
            <a:prstDash val="solid"/>
          </a:ln>
        </p:spPr>
      </p:sp>
      <p:pic>
        <p:nvPicPr>
          <p:cNvPr id="17" name="Image 2" descr="preencoded.png">    </p:cNvPr>
          <p:cNvPicPr>
            <a:picLocks noChangeAspect="1"/>
          </p:cNvPicPr>
          <p:nvPr/>
        </p:nvPicPr>
        <p:blipFill>
          <a:blip r:embed="rId3"/>
          <a:stretch>
            <a:fillRect/>
          </a:stretch>
        </p:blipFill>
        <p:spPr>
          <a:xfrm>
            <a:off x="4643018" y="2423160"/>
            <a:ext cx="219456" cy="219456"/>
          </a:xfrm>
          <a:prstGeom prst="rect">
            <a:avLst/>
          </a:prstGeom>
        </p:spPr>
      </p:pic>
      <p:sp>
        <p:nvSpPr>
          <p:cNvPr id="18" name="Text 13"/>
          <p:cNvSpPr txBox="1"/>
          <p:nvPr/>
        </p:nvSpPr>
        <p:spPr>
          <a:xfrm>
            <a:off x="5100218" y="2304288"/>
            <a:ext cx="2585618"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Base de données</a:t>
            </a:r>
            <a:endParaRPr lang="en-US" sz="1100" dirty="0"/>
          </a:p>
        </p:txBody>
      </p:sp>
      <p:sp>
        <p:nvSpPr>
          <p:cNvPr id="19" name="Text 14"/>
          <p:cNvSpPr txBox="1"/>
          <p:nvPr/>
        </p:nvSpPr>
        <p:spPr>
          <a:xfrm>
            <a:off x="4524146" y="2816352"/>
            <a:ext cx="3143402" cy="502920"/>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47 / 50 GB</a:t>
            </a:r>
            <a:endParaRPr lang="en-US" sz="2600" dirty="0"/>
          </a:p>
        </p:txBody>
      </p:sp>
      <p:sp>
        <p:nvSpPr>
          <p:cNvPr id="20" name="Text 15"/>
          <p:cNvSpPr txBox="1"/>
          <p:nvPr/>
        </p:nvSpPr>
        <p:spPr>
          <a:xfrm>
            <a:off x="4524146" y="3319272"/>
            <a:ext cx="3143402" cy="228600"/>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94 % de la capacité · +3 GB en six mois · au 24/08</a:t>
            </a:r>
            <a:endParaRPr lang="en-US" sz="1000" dirty="0"/>
          </a:p>
        </p:txBody>
      </p:sp>
      <p:sp>
        <p:nvSpPr>
          <p:cNvPr id="21" name="Shape 16"/>
          <p:cNvSpPr/>
          <p:nvPr/>
        </p:nvSpPr>
        <p:spPr>
          <a:xfrm>
            <a:off x="4524146" y="3566160"/>
            <a:ext cx="2194560" cy="237744"/>
          </a:xfrm>
          <a:prstGeom prst="roundRect">
            <a:avLst>
              <a:gd name="adj" fmla="val 50000"/>
            </a:avLst>
          </a:prstGeom>
          <a:solidFill>
            <a:srgbClr val="FFF3D6"/>
          </a:solidFill>
          <a:ln w="12700">
            <a:solidFill>
              <a:srgbClr val="FFF3D6"/>
            </a:solidFill>
            <a:prstDash val="solid"/>
          </a:ln>
        </p:spPr>
      </p:sp>
      <p:sp>
        <p:nvSpPr>
          <p:cNvPr id="22" name="Text 17"/>
          <p:cNvSpPr txBox="1"/>
          <p:nvPr/>
        </p:nvSpPr>
        <p:spPr>
          <a:xfrm>
            <a:off x="4524146" y="3566160"/>
            <a:ext cx="2194560" cy="237744"/>
          </a:xfrm>
          <a:prstGeom prst="rect">
            <a:avLst/>
          </a:prstGeom>
          <a:noFill/>
          <a:ln/>
        </p:spPr>
        <p:txBody>
          <a:bodyPr wrap="square" lIns="0" tIns="0" rIns="0" bIns="0" rtlCol="0" anchor="ctr"/>
          <a:lstStyle/>
          <a:p>
            <a:pPr algn="ctr" indent="0" marL="0">
              <a:buNone/>
            </a:pPr>
            <a:r>
              <a:rPr lang="en-US" sz="850" b="1" spc="100" kern="0" dirty="0">
                <a:solidFill>
                  <a:srgbClr val="D99A00"/>
                </a:solidFill>
                <a:latin typeface="Calibri" pitchFamily="34" charset="0"/>
                <a:ea typeface="Calibri" pitchFamily="34" charset="-122"/>
                <a:cs typeface="Calibri" pitchFamily="34" charset="-120"/>
              </a:rPr>
              <a:t>À ANTICIPER</a:t>
            </a:r>
            <a:endParaRPr lang="en-US" sz="850" dirty="0"/>
          </a:p>
        </p:txBody>
      </p:sp>
      <p:sp>
        <p:nvSpPr>
          <p:cNvPr id="23" name="Shape 18"/>
          <p:cNvSpPr/>
          <p:nvPr/>
        </p:nvSpPr>
        <p:spPr>
          <a:xfrm>
            <a:off x="8143037" y="2103120"/>
            <a:ext cx="3545738" cy="182880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4" name="Shape 19"/>
          <p:cNvSpPr/>
          <p:nvPr/>
        </p:nvSpPr>
        <p:spPr>
          <a:xfrm>
            <a:off x="8344205" y="2304288"/>
            <a:ext cx="457200" cy="457200"/>
          </a:xfrm>
          <a:prstGeom prst="ellipse">
            <a:avLst/>
          </a:prstGeom>
          <a:solidFill>
            <a:srgbClr val="E4F0F2"/>
          </a:solidFill>
          <a:ln w="12700">
            <a:solidFill>
              <a:srgbClr val="E4F0F2"/>
            </a:solidFill>
            <a:prstDash val="solid"/>
          </a:ln>
        </p:spPr>
      </p:sp>
      <p:pic>
        <p:nvPicPr>
          <p:cNvPr id="25" name="Image 3" descr="preencoded.png">    </p:cNvPr>
          <p:cNvPicPr>
            <a:picLocks noChangeAspect="1"/>
          </p:cNvPicPr>
          <p:nvPr/>
        </p:nvPicPr>
        <p:blipFill>
          <a:blip r:embed="rId4"/>
          <a:stretch>
            <a:fillRect/>
          </a:stretch>
        </p:blipFill>
        <p:spPr>
          <a:xfrm>
            <a:off x="8463077" y="2423160"/>
            <a:ext cx="219456" cy="219456"/>
          </a:xfrm>
          <a:prstGeom prst="rect">
            <a:avLst/>
          </a:prstGeom>
        </p:spPr>
      </p:pic>
      <p:sp>
        <p:nvSpPr>
          <p:cNvPr id="26" name="Text 20"/>
          <p:cNvSpPr txBox="1"/>
          <p:nvPr/>
        </p:nvSpPr>
        <p:spPr>
          <a:xfrm>
            <a:off x="8920277" y="2304288"/>
            <a:ext cx="2585618"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Audience unique (Ucount)</a:t>
            </a:r>
            <a:endParaRPr lang="en-US" sz="1100" dirty="0"/>
          </a:p>
        </p:txBody>
      </p:sp>
      <p:sp>
        <p:nvSpPr>
          <p:cNvPr id="27" name="Text 21"/>
          <p:cNvSpPr txBox="1"/>
          <p:nvPr/>
        </p:nvSpPr>
        <p:spPr>
          <a:xfrm>
            <a:off x="8344205" y="2816352"/>
            <a:ext cx="3143402" cy="502920"/>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824 913</a:t>
            </a:r>
            <a:endParaRPr lang="en-US" sz="2600" dirty="0"/>
          </a:p>
        </p:txBody>
      </p:sp>
      <p:sp>
        <p:nvSpPr>
          <p:cNvPr id="28" name="Text 22"/>
          <p:cNvSpPr txBox="1"/>
          <p:nvPr/>
        </p:nvSpPr>
        <p:spPr>
          <a:xfrm>
            <a:off x="8344205" y="3319272"/>
            <a:ext cx="3143402" cy="228600"/>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contacts en août 2026 · +20 % sur un an</a:t>
            </a:r>
            <a:endParaRPr lang="en-US" sz="1000" dirty="0"/>
          </a:p>
        </p:txBody>
      </p:sp>
      <p:sp>
        <p:nvSpPr>
          <p:cNvPr id="29" name="Shape 23"/>
          <p:cNvSpPr/>
          <p:nvPr/>
        </p:nvSpPr>
        <p:spPr>
          <a:xfrm>
            <a:off x="8344205" y="3566160"/>
            <a:ext cx="2194560" cy="237744"/>
          </a:xfrm>
          <a:prstGeom prst="roundRect">
            <a:avLst>
              <a:gd name="adj" fmla="val 50000"/>
            </a:avLst>
          </a:prstGeom>
          <a:solidFill>
            <a:srgbClr val="E4F0F2"/>
          </a:solidFill>
          <a:ln w="12700">
            <a:solidFill>
              <a:srgbClr val="E4F0F2"/>
            </a:solidFill>
            <a:prstDash val="solid"/>
          </a:ln>
        </p:spPr>
      </p:sp>
      <p:sp>
        <p:nvSpPr>
          <p:cNvPr id="30" name="Text 24"/>
          <p:cNvSpPr txBox="1"/>
          <p:nvPr/>
        </p:nvSpPr>
        <p:spPr>
          <a:xfrm>
            <a:off x="8344205" y="3566160"/>
            <a:ext cx="2194560" cy="237744"/>
          </a:xfrm>
          <a:prstGeom prst="rect">
            <a:avLst/>
          </a:prstGeom>
          <a:noFill/>
          <a:ln/>
        </p:spPr>
        <p:txBody>
          <a:bodyPr wrap="square" lIns="0" tIns="0" rIns="0" bIns="0" rtlCol="0" anchor="ctr"/>
          <a:lstStyle/>
          <a:p>
            <a:pPr algn="ctr" indent="0" marL="0">
              <a:buNone/>
            </a:pPr>
            <a:r>
              <a:rPr lang="en-US" sz="850" b="1" spc="100" kern="0" dirty="0">
                <a:solidFill>
                  <a:srgbClr val="06404F"/>
                </a:solidFill>
                <a:latin typeface="Calibri" pitchFamily="34" charset="0"/>
                <a:ea typeface="Calibri" pitchFamily="34" charset="-122"/>
                <a:cs typeface="Calibri" pitchFamily="34" charset="-120"/>
              </a:rPr>
              <a:t>PALIER EN VÉRIFICATION</a:t>
            </a:r>
            <a:endParaRPr lang="en-US" sz="850" dirty="0"/>
          </a:p>
        </p:txBody>
      </p:sp>
      <p:sp>
        <p:nvSpPr>
          <p:cNvPr id="31" name="Text 25"/>
          <p:cNvSpPr txBox="1"/>
          <p:nvPr/>
        </p:nvSpPr>
        <p:spPr>
          <a:xfrm>
            <a:off x="502920" y="4160520"/>
            <a:ext cx="7315200" cy="228600"/>
          </a:xfrm>
          <a:prstGeom prst="rect">
            <a:avLst/>
          </a:prstGeom>
          <a:noFill/>
          <a:ln/>
        </p:spPr>
        <p:txBody>
          <a:bodyPr wrap="square" lIns="0" tIns="0" rIns="0" bIns="0" rtlCol="0" anchor="ctr"/>
          <a:lstStyle/>
          <a:p>
            <a:pPr indent="0" marL="0">
              <a:buNone/>
            </a:pPr>
            <a:r>
              <a:rPr lang="en-US" sz="900" b="1" spc="200" kern="0" dirty="0">
                <a:solidFill>
                  <a:srgbClr val="6B7B83"/>
                </a:solidFill>
                <a:latin typeface="Calibri" pitchFamily="34" charset="0"/>
                <a:ea typeface="Calibri" pitchFamily="34" charset="-122"/>
                <a:cs typeface="Calibri" pitchFamily="34" charset="-120"/>
              </a:rPr>
              <a:t>ACTIVITÉ DU SEMESTRE (25 FÉVRIER → 23 AOÛT 2026)</a:t>
            </a:r>
            <a:endParaRPr lang="en-US" sz="900" dirty="0"/>
          </a:p>
        </p:txBody>
      </p:sp>
      <p:sp>
        <p:nvSpPr>
          <p:cNvPr id="32" name="Shape 26"/>
          <p:cNvSpPr/>
          <p:nvPr/>
        </p:nvSpPr>
        <p:spPr>
          <a:xfrm>
            <a:off x="502920" y="4434840"/>
            <a:ext cx="3545738" cy="182880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33" name="Shape 27"/>
          <p:cNvSpPr/>
          <p:nvPr/>
        </p:nvSpPr>
        <p:spPr>
          <a:xfrm>
            <a:off x="704088" y="4636008"/>
            <a:ext cx="457200" cy="457200"/>
          </a:xfrm>
          <a:prstGeom prst="ellipse">
            <a:avLst/>
          </a:prstGeom>
          <a:solidFill>
            <a:srgbClr val="E4F0F2"/>
          </a:solidFill>
          <a:ln w="12700">
            <a:solidFill>
              <a:srgbClr val="E4F0F2"/>
            </a:solidFill>
            <a:prstDash val="solid"/>
          </a:ln>
        </p:spPr>
      </p:sp>
      <p:pic>
        <p:nvPicPr>
          <p:cNvPr id="34" name="Image 4" descr="preencoded.png">    </p:cNvPr>
          <p:cNvPicPr>
            <a:picLocks noChangeAspect="1"/>
          </p:cNvPicPr>
          <p:nvPr/>
        </p:nvPicPr>
        <p:blipFill>
          <a:blip r:embed="rId5"/>
          <a:stretch>
            <a:fillRect/>
          </a:stretch>
        </p:blipFill>
        <p:spPr>
          <a:xfrm>
            <a:off x="822960" y="4754880"/>
            <a:ext cx="219456" cy="219456"/>
          </a:xfrm>
          <a:prstGeom prst="rect">
            <a:avLst/>
          </a:prstGeom>
        </p:spPr>
      </p:pic>
      <p:sp>
        <p:nvSpPr>
          <p:cNvPr id="35" name="Text 28"/>
          <p:cNvSpPr txBox="1"/>
          <p:nvPr/>
        </p:nvSpPr>
        <p:spPr>
          <a:xfrm>
            <a:off x="1280160" y="4636008"/>
            <a:ext cx="2585618"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Emails délivrés</a:t>
            </a:r>
            <a:endParaRPr lang="en-US" sz="1100" dirty="0"/>
          </a:p>
        </p:txBody>
      </p:sp>
      <p:sp>
        <p:nvSpPr>
          <p:cNvPr id="36" name="Text 29"/>
          <p:cNvSpPr txBox="1"/>
          <p:nvPr/>
        </p:nvSpPr>
        <p:spPr>
          <a:xfrm>
            <a:off x="704088" y="5148072"/>
            <a:ext cx="3143402" cy="502920"/>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1,55 M</a:t>
            </a:r>
            <a:endParaRPr lang="en-US" sz="2600" dirty="0"/>
          </a:p>
        </p:txBody>
      </p:sp>
      <p:sp>
        <p:nvSpPr>
          <p:cNvPr id="37" name="Text 30"/>
          <p:cNvSpPr txBox="1"/>
          <p:nvPr/>
        </p:nvSpPr>
        <p:spPr>
          <a:xfrm>
            <a:off x="704088" y="5650992"/>
            <a:ext cx="3143402" cy="475488"/>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délivrabilité 99,4 % (secteur 98,7 %)</a:t>
            </a:r>
            <a:endParaRPr lang="en-US" sz="1000" dirty="0"/>
          </a:p>
        </p:txBody>
      </p:sp>
      <p:sp>
        <p:nvSpPr>
          <p:cNvPr id="38" name="Shape 31"/>
          <p:cNvSpPr/>
          <p:nvPr/>
        </p:nvSpPr>
        <p:spPr>
          <a:xfrm>
            <a:off x="4322978" y="4434840"/>
            <a:ext cx="3545738" cy="182880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39" name="Shape 32"/>
          <p:cNvSpPr/>
          <p:nvPr/>
        </p:nvSpPr>
        <p:spPr>
          <a:xfrm>
            <a:off x="4524146" y="4636008"/>
            <a:ext cx="457200" cy="457200"/>
          </a:xfrm>
          <a:prstGeom prst="ellipse">
            <a:avLst/>
          </a:prstGeom>
          <a:solidFill>
            <a:srgbClr val="E4F0F2"/>
          </a:solidFill>
          <a:ln w="12700">
            <a:solidFill>
              <a:srgbClr val="E4F0F2"/>
            </a:solidFill>
            <a:prstDash val="solid"/>
          </a:ln>
        </p:spPr>
      </p:sp>
      <p:pic>
        <p:nvPicPr>
          <p:cNvPr id="40" name="Image 5" descr="preencoded.png">    </p:cNvPr>
          <p:cNvPicPr>
            <a:picLocks noChangeAspect="1"/>
          </p:cNvPicPr>
          <p:nvPr/>
        </p:nvPicPr>
        <p:blipFill>
          <a:blip r:embed="rId6"/>
          <a:stretch>
            <a:fillRect/>
          </a:stretch>
        </p:blipFill>
        <p:spPr>
          <a:xfrm>
            <a:off x="4643018" y="4754880"/>
            <a:ext cx="219456" cy="219456"/>
          </a:xfrm>
          <a:prstGeom prst="rect">
            <a:avLst/>
          </a:prstGeom>
        </p:spPr>
      </p:pic>
      <p:sp>
        <p:nvSpPr>
          <p:cNvPr id="41" name="Text 33"/>
          <p:cNvSpPr txBox="1"/>
          <p:nvPr/>
        </p:nvSpPr>
        <p:spPr>
          <a:xfrm>
            <a:off x="5100218" y="4636008"/>
            <a:ext cx="2585618"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Taux de clics email</a:t>
            </a:r>
            <a:endParaRPr lang="en-US" sz="1100" dirty="0"/>
          </a:p>
        </p:txBody>
      </p:sp>
      <p:sp>
        <p:nvSpPr>
          <p:cNvPr id="42" name="Text 34"/>
          <p:cNvSpPr txBox="1"/>
          <p:nvPr/>
        </p:nvSpPr>
        <p:spPr>
          <a:xfrm>
            <a:off x="4524146" y="5148072"/>
            <a:ext cx="3143402" cy="502920"/>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1,9 %</a:t>
            </a:r>
            <a:endParaRPr lang="en-US" sz="2600" dirty="0"/>
          </a:p>
        </p:txBody>
      </p:sp>
      <p:sp>
        <p:nvSpPr>
          <p:cNvPr id="43" name="Text 35"/>
          <p:cNvSpPr txBox="1"/>
          <p:nvPr/>
        </p:nvSpPr>
        <p:spPr>
          <a:xfrm>
            <a:off x="4524146" y="5650992"/>
            <a:ext cx="3143402" cy="475488"/>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secteur 3,1 % · ouverture 46,7 % (secteur 27,3 %)</a:t>
            </a:r>
            <a:endParaRPr lang="en-US" sz="1000" dirty="0"/>
          </a:p>
        </p:txBody>
      </p:sp>
      <p:sp>
        <p:nvSpPr>
          <p:cNvPr id="44" name="Shape 36"/>
          <p:cNvSpPr/>
          <p:nvPr/>
        </p:nvSpPr>
        <p:spPr>
          <a:xfrm>
            <a:off x="8143037" y="4434840"/>
            <a:ext cx="3545738" cy="182880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45" name="Shape 37"/>
          <p:cNvSpPr/>
          <p:nvPr/>
        </p:nvSpPr>
        <p:spPr>
          <a:xfrm>
            <a:off x="8344205" y="4636008"/>
            <a:ext cx="457200" cy="457200"/>
          </a:xfrm>
          <a:prstGeom prst="ellipse">
            <a:avLst/>
          </a:prstGeom>
          <a:solidFill>
            <a:srgbClr val="E4F0F2"/>
          </a:solidFill>
          <a:ln w="12700">
            <a:solidFill>
              <a:srgbClr val="E4F0F2"/>
            </a:solidFill>
            <a:prstDash val="solid"/>
          </a:ln>
        </p:spPr>
      </p:sp>
      <p:pic>
        <p:nvPicPr>
          <p:cNvPr id="46" name="Image 6" descr="preencoded.png">    </p:cNvPr>
          <p:cNvPicPr>
            <a:picLocks noChangeAspect="1"/>
          </p:cNvPicPr>
          <p:nvPr/>
        </p:nvPicPr>
        <p:blipFill>
          <a:blip r:embed="rId7"/>
          <a:stretch>
            <a:fillRect/>
          </a:stretch>
        </p:blipFill>
        <p:spPr>
          <a:xfrm>
            <a:off x="8463077" y="4754880"/>
            <a:ext cx="219456" cy="219456"/>
          </a:xfrm>
          <a:prstGeom prst="rect">
            <a:avLst/>
          </a:prstGeom>
        </p:spPr>
      </p:pic>
      <p:sp>
        <p:nvSpPr>
          <p:cNvPr id="47" name="Text 38"/>
          <p:cNvSpPr txBox="1"/>
          <p:nvPr/>
        </p:nvSpPr>
        <p:spPr>
          <a:xfrm>
            <a:off x="8920277" y="4636008"/>
            <a:ext cx="2585618"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SMS délivrés</a:t>
            </a:r>
            <a:endParaRPr lang="en-US" sz="1100" dirty="0"/>
          </a:p>
        </p:txBody>
      </p:sp>
      <p:sp>
        <p:nvSpPr>
          <p:cNvPr id="48" name="Text 39"/>
          <p:cNvSpPr txBox="1"/>
          <p:nvPr/>
        </p:nvSpPr>
        <p:spPr>
          <a:xfrm>
            <a:off x="8344205" y="5148072"/>
            <a:ext cx="3143402" cy="502920"/>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 2–3 k / mois</a:t>
            </a:r>
            <a:endParaRPr lang="en-US" sz="2600" dirty="0"/>
          </a:p>
        </p:txBody>
      </p:sp>
      <p:sp>
        <p:nvSpPr>
          <p:cNvPr id="49" name="Text 40"/>
          <p:cNvSpPr txBox="1"/>
          <p:nvPr/>
        </p:nvSpPr>
        <p:spPr>
          <a:xfrm>
            <a:off x="8344205" y="5650992"/>
            <a:ext cx="3143402" cy="475488"/>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depuis juin 2025 · ≈ 22 k / mois auparavant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404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white.png">    </p:cNvPr>
          <p:cNvPicPr>
            <a:picLocks noChangeAspect="1"/>
          </p:cNvPicPr>
          <p:nvPr/>
        </p:nvPicPr>
        <p:blipFill>
          <a:blip r:embed="rId1"/>
          <a:stretch>
            <a:fillRect/>
          </a:stretch>
        </p:blipFill>
        <p:spPr>
          <a:xfrm>
            <a:off x="502920" y="347472"/>
            <a:ext cx="1463040" cy="526895"/>
          </a:xfrm>
          <a:prstGeom prst="rect">
            <a:avLst/>
          </a:prstGeom>
        </p:spPr>
      </p:pic>
      <p:sp>
        <p:nvSpPr>
          <p:cNvPr id="3" name="Shape 0"/>
          <p:cNvSpPr/>
          <p:nvPr/>
        </p:nvSpPr>
        <p:spPr>
          <a:xfrm>
            <a:off x="8778240" y="1097280"/>
            <a:ext cx="4754880" cy="4754880"/>
          </a:xfrm>
          <a:prstGeom prst="ellipse">
            <a:avLst/>
          </a:prstGeom>
          <a:solidFill>
            <a:srgbClr val="0F6B7A">
              <a:alpha val="45000"/>
            </a:srgbClr>
          </a:solidFill>
          <a:ln w="12700">
            <a:solidFill>
              <a:srgbClr val="0F6B7A"/>
            </a:solidFill>
            <a:prstDash val="solid"/>
          </a:ln>
        </p:spPr>
      </p:sp>
      <p:sp>
        <p:nvSpPr>
          <p:cNvPr id="4" name="Shape 1"/>
          <p:cNvSpPr/>
          <p:nvPr/>
        </p:nvSpPr>
        <p:spPr>
          <a:xfrm>
            <a:off x="8138160" y="4206240"/>
            <a:ext cx="1463040" cy="1463040"/>
          </a:xfrm>
          <a:prstGeom prst="ellipse">
            <a:avLst/>
          </a:prstGeom>
          <a:solidFill>
            <a:srgbClr val="F28C28">
              <a:alpha val="85000"/>
            </a:srgbClr>
          </a:solidFill>
          <a:ln w="12700">
            <a:solidFill>
              <a:srgbClr val="F28C28"/>
            </a:solidFill>
            <a:prstDash val="solid"/>
          </a:ln>
        </p:spPr>
      </p:sp>
      <p:sp>
        <p:nvSpPr>
          <p:cNvPr id="5" name="Text 2"/>
          <p:cNvSpPr txBox="1"/>
          <p:nvPr/>
        </p:nvSpPr>
        <p:spPr>
          <a:xfrm>
            <a:off x="502920" y="1417320"/>
            <a:ext cx="2743200" cy="822960"/>
          </a:xfrm>
          <a:prstGeom prst="rect">
            <a:avLst/>
          </a:prstGeom>
          <a:noFill/>
          <a:ln/>
        </p:spPr>
        <p:txBody>
          <a:bodyPr wrap="square" lIns="0" tIns="0" rIns="0" bIns="0" rtlCol="0" anchor="ctr"/>
          <a:lstStyle/>
          <a:p>
            <a:pPr indent="0" marL="0">
              <a:buNone/>
            </a:pPr>
            <a:r>
              <a:rPr lang="en-US" sz="5600" b="1" dirty="0">
                <a:solidFill>
                  <a:srgbClr val="F28C28"/>
                </a:solidFill>
                <a:latin typeface="Calibri" pitchFamily="34" charset="0"/>
                <a:ea typeface="Calibri" pitchFamily="34" charset="-122"/>
                <a:cs typeface="Calibri" pitchFamily="34" charset="-120"/>
              </a:rPr>
              <a:t>01</a:t>
            </a:r>
            <a:endParaRPr lang="en-US" sz="5600" dirty="0"/>
          </a:p>
        </p:txBody>
      </p:sp>
      <p:sp>
        <p:nvSpPr>
          <p:cNvPr id="6" name="Text 3"/>
          <p:cNvSpPr txBox="1"/>
          <p:nvPr/>
        </p:nvSpPr>
        <p:spPr>
          <a:xfrm>
            <a:off x="502920" y="2240280"/>
            <a:ext cx="8503920" cy="12344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CDM — votre CRM</a:t>
            </a:r>
            <a:endParaRPr lang="en-US" sz="3600" dirty="0"/>
          </a:p>
        </p:txBody>
      </p:sp>
      <p:sp>
        <p:nvSpPr>
          <p:cNvPr id="7" name="Text 4"/>
          <p:cNvSpPr txBox="1"/>
          <p:nvPr/>
        </p:nvSpPr>
        <p:spPr>
          <a:xfrm>
            <a:off x="502920" y="3520440"/>
            <a:ext cx="8503920" cy="411480"/>
          </a:xfrm>
          <a:prstGeom prst="rect">
            <a:avLst/>
          </a:prstGeom>
          <a:noFill/>
          <a:ln/>
        </p:spPr>
        <p:txBody>
          <a:bodyPr wrap="square" lIns="0" tIns="0" rIns="0" bIns="0" rtlCol="0" anchor="ctr"/>
          <a:lstStyle/>
          <a:p>
            <a:pPr indent="0" marL="0">
              <a:buNone/>
            </a:pPr>
            <a:r>
              <a:rPr lang="en-US" sz="1800" dirty="0">
                <a:solidFill>
                  <a:srgbClr val="CFE3E7"/>
                </a:solidFill>
                <a:latin typeface="Calibri" pitchFamily="34" charset="0"/>
                <a:ea typeface="Calibri" pitchFamily="34" charset="-122"/>
                <a:cs typeface="Calibri" pitchFamily="34" charset="-120"/>
              </a:rPr>
              <a:t>Exploitation, capacité, sécurité et trajectoire produit</a:t>
            </a:r>
            <a:endParaRPr lang="en-US" sz="1800" dirty="0"/>
          </a:p>
        </p:txBody>
      </p:sp>
      <p:sp>
        <p:nvSpPr>
          <p:cNvPr id="8" name="Text 5"/>
          <p:cNvSpPr txBox="1"/>
          <p:nvPr/>
        </p:nvSpPr>
        <p:spPr>
          <a:xfrm>
            <a:off x="502920" y="4160520"/>
            <a:ext cx="6858000" cy="1737360"/>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SLA Gold : consommation et règle de décompte</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Capacité de la base de données</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Audience unique et licence</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Sécurisation de la configuration et patch du 10/09</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Orientations roadmap 2026–2027</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CDM</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Support : 8 h consommées sur 50, un rythme maîtrisé</a:t>
            </a:r>
            <a:endParaRPr lang="en-US" sz="26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SLA Gold 50 h · 36,7 h de temps de support, dont 7,9 h décomptées de votre forfait · 42,1 h restent disponibles.</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5</a:t>
            </a:r>
            <a:endParaRPr lang="en-US" sz="900" dirty="0"/>
          </a:p>
        </p:txBody>
      </p:sp>
      <p:sp>
        <p:nvSpPr>
          <p:cNvPr id="8" name="Shape 5"/>
          <p:cNvSpPr/>
          <p:nvPr/>
        </p:nvSpPr>
        <p:spPr>
          <a:xfrm>
            <a:off x="502920" y="1965960"/>
            <a:ext cx="3291840" cy="4251960"/>
          </a:xfrm>
          <a:prstGeom prst="roundRect">
            <a:avLst>
              <a:gd name="adj" fmla="val 333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9" name="Text 6"/>
          <p:cNvSpPr txBox="1"/>
          <p:nvPr/>
        </p:nvSpPr>
        <p:spPr>
          <a:xfrm>
            <a:off x="731520" y="2148840"/>
            <a:ext cx="2834640" cy="274320"/>
          </a:xfrm>
          <a:prstGeom prst="rect">
            <a:avLst/>
          </a:prstGeom>
          <a:noFill/>
          <a:ln/>
        </p:spPr>
        <p:txBody>
          <a:bodyPr wrap="square" lIns="0" tIns="0" rIns="0" bIns="0" rtlCol="0" anchor="t"/>
          <a:lstStyle/>
          <a:p>
            <a:pPr indent="0" marL="0">
              <a:buNone/>
            </a:pPr>
            <a:r>
              <a:rPr lang="en-US" sz="1100" b="1" dirty="0">
                <a:solidFill>
                  <a:srgbClr val="6B7B83"/>
                </a:solidFill>
                <a:latin typeface="Calibri" pitchFamily="34" charset="0"/>
                <a:ea typeface="Calibri" pitchFamily="34" charset="-122"/>
                <a:cs typeface="Calibri" pitchFamily="34" charset="-120"/>
              </a:rPr>
              <a:t>Forfait SLA consommé</a:t>
            </a:r>
            <a:endParaRPr lang="en-US" sz="1100" dirty="0"/>
          </a:p>
        </p:txBody>
      </p:sp>
      <p:graphicFrame>
        <p:nvGraphicFramePr>
          <p:cNvPr id="10" name="Chart 0" descr=""/>
          <p:cNvGraphicFramePr/>
          <p:nvPr/>
        </p:nvGraphicFramePr>
        <p:xfrm>
          <a:off x="822960" y="2468880"/>
          <a:ext cx="2651760" cy="265176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822960" y="3383280"/>
            <a:ext cx="2651760" cy="548640"/>
          </a:xfrm>
          <a:prstGeom prst="rect">
            <a:avLst/>
          </a:prstGeom>
          <a:noFill/>
          <a:ln/>
        </p:spPr>
        <p:txBody>
          <a:bodyPr wrap="square" lIns="0" tIns="0" rIns="0" bIns="0" rtlCol="0" anchor="ctr"/>
          <a:lstStyle/>
          <a:p>
            <a:pPr algn="ctr" indent="0" marL="0">
              <a:buNone/>
            </a:pPr>
            <a:r>
              <a:rPr lang="en-US" sz="3200" b="1" dirty="0">
                <a:solidFill>
                  <a:srgbClr val="06404F"/>
                </a:solidFill>
                <a:latin typeface="Calibri" pitchFamily="34" charset="0"/>
                <a:ea typeface="Calibri" pitchFamily="34" charset="-122"/>
                <a:cs typeface="Calibri" pitchFamily="34" charset="-120"/>
              </a:rPr>
              <a:t>16 %</a:t>
            </a:r>
            <a:endParaRPr lang="en-US" sz="3200" dirty="0"/>
          </a:p>
        </p:txBody>
      </p:sp>
      <p:sp>
        <p:nvSpPr>
          <p:cNvPr id="12" name="Text 8"/>
          <p:cNvSpPr txBox="1"/>
          <p:nvPr/>
        </p:nvSpPr>
        <p:spPr>
          <a:xfrm>
            <a:off x="822960" y="3913632"/>
            <a:ext cx="2651760" cy="274320"/>
          </a:xfrm>
          <a:prstGeom prst="rect">
            <a:avLst/>
          </a:prstGeom>
          <a:noFill/>
          <a:ln/>
        </p:spPr>
        <p:txBody>
          <a:bodyPr wrap="square" lIns="0" tIns="0" rIns="0" bIns="0" rtlCol="0" anchor="t"/>
          <a:lstStyle/>
          <a:p>
            <a:pPr algn="ctr" indent="0" marL="0">
              <a:buNone/>
            </a:pPr>
            <a:r>
              <a:rPr lang="en-US" sz="1100" dirty="0">
                <a:solidFill>
                  <a:srgbClr val="6B7B83"/>
                </a:solidFill>
                <a:latin typeface="Calibri" pitchFamily="34" charset="0"/>
                <a:ea typeface="Calibri" pitchFamily="34" charset="-122"/>
                <a:cs typeface="Calibri" pitchFamily="34" charset="-120"/>
              </a:rPr>
              <a:t>7,9 h sur 50 h</a:t>
            </a:r>
            <a:endParaRPr lang="en-US" sz="1100" dirty="0"/>
          </a:p>
        </p:txBody>
      </p:sp>
      <p:sp>
        <p:nvSpPr>
          <p:cNvPr id="13" name="Text 9"/>
          <p:cNvSpPr txBox="1"/>
          <p:nvPr/>
        </p:nvSpPr>
        <p:spPr>
          <a:xfrm>
            <a:off x="731520" y="5303520"/>
            <a:ext cx="2834640" cy="731520"/>
          </a:xfrm>
          <a:prstGeom prst="rect">
            <a:avLst/>
          </a:prstGeom>
          <a:noFill/>
          <a:ln/>
        </p:spPr>
        <p:txBody>
          <a:bodyPr wrap="square" lIns="0" tIns="0" rIns="0" bIns="0" rtlCol="0" anchor="ctr"/>
          <a:lstStyle/>
          <a:p>
            <a:pPr algn="ctr" indent="0" marL="0">
              <a:buNone/>
            </a:pPr>
            <a:r>
              <a:rPr lang="en-US" sz="1150" b="1" dirty="0">
                <a:solidFill>
                  <a:srgbClr val="06404F"/>
                </a:solidFill>
                <a:latin typeface="Calibri" pitchFamily="34" charset="0"/>
                <a:ea typeface="Calibri" pitchFamily="34" charset="-122"/>
                <a:cs typeface="Calibri" pitchFamily="34" charset="-120"/>
              </a:rPr>
              <a:t>42,1 h </a:t>
            </a:r>
            <a:pPr algn="ctr" indent="0" marL="0">
              <a:buNone/>
            </a:pPr>
            <a:r>
              <a:rPr lang="en-US" sz="1150" dirty="0">
                <a:solidFill>
                  <a:srgbClr val="1F2A30"/>
                </a:solidFill>
                <a:latin typeface="Calibri" pitchFamily="34" charset="0"/>
                <a:ea typeface="Calibri" pitchFamily="34" charset="-122"/>
                <a:cs typeface="Calibri" pitchFamily="34" charset="-120"/>
              </a:rPr>
              <a:t>restent disponibles sur votre forfait</a:t>
            </a:r>
            <a:endParaRPr lang="en-US" sz="1150" dirty="0"/>
          </a:p>
        </p:txBody>
      </p:sp>
      <p:sp>
        <p:nvSpPr>
          <p:cNvPr id="14" name="Shape 10"/>
          <p:cNvSpPr/>
          <p:nvPr/>
        </p:nvSpPr>
        <p:spPr>
          <a:xfrm>
            <a:off x="4069080" y="1965960"/>
            <a:ext cx="4754880" cy="4251960"/>
          </a:xfrm>
          <a:prstGeom prst="roundRect">
            <a:avLst>
              <a:gd name="adj" fmla="val 2581"/>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5" name="Text 11"/>
          <p:cNvSpPr txBox="1"/>
          <p:nvPr/>
        </p:nvSpPr>
        <p:spPr>
          <a:xfrm>
            <a:off x="4297680" y="2148840"/>
            <a:ext cx="4297680" cy="274320"/>
          </a:xfrm>
          <a:prstGeom prst="rect">
            <a:avLst/>
          </a:prstGeom>
          <a:noFill/>
          <a:ln/>
        </p:spPr>
        <p:txBody>
          <a:bodyPr wrap="square" lIns="0" tIns="0" rIns="0" bIns="0" rtlCol="0" anchor="t"/>
          <a:lstStyle/>
          <a:p>
            <a:pPr indent="0" marL="0">
              <a:buNone/>
            </a:pPr>
            <a:r>
              <a:rPr lang="en-US" sz="1100" b="1" dirty="0">
                <a:solidFill>
                  <a:srgbClr val="6B7B83"/>
                </a:solidFill>
                <a:latin typeface="Calibri" pitchFamily="34" charset="0"/>
                <a:ea typeface="Calibri" pitchFamily="34" charset="-122"/>
                <a:cs typeface="Calibri" pitchFamily="34" charset="-120"/>
              </a:rPr>
              <a:t>Répartition du temps de support — 36,7 h</a:t>
            </a:r>
            <a:endParaRPr lang="en-US" sz="1100" dirty="0"/>
          </a:p>
        </p:txBody>
      </p:sp>
      <p:sp>
        <p:nvSpPr>
          <p:cNvPr id="16" name="Text 12"/>
          <p:cNvSpPr txBox="1"/>
          <p:nvPr/>
        </p:nvSpPr>
        <p:spPr>
          <a:xfrm>
            <a:off x="4297680" y="2606040"/>
            <a:ext cx="4297680" cy="256032"/>
          </a:xfrm>
          <a:prstGeom prst="rect">
            <a:avLst/>
          </a:prstGeom>
          <a:noFill/>
          <a:ln/>
        </p:spPr>
        <p:txBody>
          <a:bodyPr wrap="square" lIns="0" tIns="0" rIns="0" bIns="0" rtlCol="0" anchor="ctr"/>
          <a:lstStyle/>
          <a:p>
            <a:pPr indent="0" marL="0">
              <a:buNone/>
            </a:pPr>
            <a:r>
              <a:rPr lang="en-US" sz="1100" b="1" dirty="0">
                <a:solidFill>
                  <a:srgbClr val="1F2A30"/>
                </a:solidFill>
                <a:latin typeface="Calibri" pitchFamily="34" charset="0"/>
                <a:ea typeface="Calibri" pitchFamily="34" charset="-122"/>
                <a:cs typeface="Calibri" pitchFamily="34" charset="-120"/>
              </a:rPr>
              <a:t>Décompté de votre forfait</a:t>
            </a:r>
            <a:pPr indent="0" marL="0">
              <a:buNone/>
            </a:pPr>
            <a:r>
              <a:rPr lang="en-US" sz="1100" dirty="0">
                <a:solidFill>
                  <a:srgbClr val="6B7B83"/>
                </a:solidFill>
                <a:latin typeface="Calibri" pitchFamily="34" charset="0"/>
                <a:ea typeface="Calibri" pitchFamily="34" charset="-122"/>
                <a:cs typeface="Calibri" pitchFamily="34" charset="-120"/>
              </a:rPr>
              <a:t>  ·  demandes de service</a:t>
            </a:r>
            <a:endParaRPr lang="en-US" sz="1100" dirty="0"/>
          </a:p>
        </p:txBody>
      </p:sp>
      <p:sp>
        <p:nvSpPr>
          <p:cNvPr id="17" name="Shape 13"/>
          <p:cNvSpPr/>
          <p:nvPr/>
        </p:nvSpPr>
        <p:spPr>
          <a:xfrm>
            <a:off x="4297680" y="2916936"/>
            <a:ext cx="3383280" cy="329184"/>
          </a:xfrm>
          <a:prstGeom prst="roundRect">
            <a:avLst>
              <a:gd name="adj" fmla="val 16667"/>
            </a:avLst>
          </a:prstGeom>
          <a:solidFill>
            <a:srgbClr val="EEF3F5"/>
          </a:solidFill>
          <a:ln w="12700">
            <a:solidFill>
              <a:srgbClr val="EEF3F5"/>
            </a:solidFill>
            <a:prstDash val="solid"/>
          </a:ln>
        </p:spPr>
      </p:sp>
      <p:sp>
        <p:nvSpPr>
          <p:cNvPr id="18" name="Shape 14"/>
          <p:cNvSpPr/>
          <p:nvPr/>
        </p:nvSpPr>
        <p:spPr>
          <a:xfrm>
            <a:off x="4297680" y="2916936"/>
            <a:ext cx="730125" cy="329184"/>
          </a:xfrm>
          <a:prstGeom prst="roundRect">
            <a:avLst>
              <a:gd name="adj" fmla="val 16667"/>
            </a:avLst>
          </a:prstGeom>
          <a:solidFill>
            <a:srgbClr val="F28C28"/>
          </a:solidFill>
          <a:ln w="12700">
            <a:solidFill>
              <a:srgbClr val="F28C28"/>
            </a:solidFill>
            <a:prstDash val="solid"/>
          </a:ln>
        </p:spPr>
      </p:sp>
      <p:sp>
        <p:nvSpPr>
          <p:cNvPr id="19" name="Text 15"/>
          <p:cNvSpPr txBox="1"/>
          <p:nvPr/>
        </p:nvSpPr>
        <p:spPr>
          <a:xfrm>
            <a:off x="7772400" y="2916936"/>
            <a:ext cx="822960" cy="329184"/>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7,9 h</a:t>
            </a:r>
            <a:endParaRPr lang="en-US" sz="1200" dirty="0"/>
          </a:p>
        </p:txBody>
      </p:sp>
      <p:sp>
        <p:nvSpPr>
          <p:cNvPr id="20" name="Text 16"/>
          <p:cNvSpPr txBox="1"/>
          <p:nvPr/>
        </p:nvSpPr>
        <p:spPr>
          <a:xfrm>
            <a:off x="4297680" y="3566160"/>
            <a:ext cx="4297680" cy="256032"/>
          </a:xfrm>
          <a:prstGeom prst="rect">
            <a:avLst/>
          </a:prstGeom>
          <a:noFill/>
          <a:ln/>
        </p:spPr>
        <p:txBody>
          <a:bodyPr wrap="square" lIns="0" tIns="0" rIns="0" bIns="0" rtlCol="0" anchor="ctr"/>
          <a:lstStyle/>
          <a:p>
            <a:pPr indent="0" marL="0">
              <a:buNone/>
            </a:pPr>
            <a:r>
              <a:rPr lang="en-US" sz="1100" b="1" dirty="0">
                <a:solidFill>
                  <a:srgbClr val="1F2A30"/>
                </a:solidFill>
                <a:latin typeface="Calibri" pitchFamily="34" charset="0"/>
                <a:ea typeface="Calibri" pitchFamily="34" charset="-122"/>
                <a:cs typeface="Calibri" pitchFamily="34" charset="-120"/>
              </a:rPr>
              <a:t>Pris en charge par Selligent</a:t>
            </a:r>
            <a:pPr indent="0" marL="0">
              <a:buNone/>
            </a:pPr>
            <a:r>
              <a:rPr lang="en-US" sz="1100" dirty="0">
                <a:solidFill>
                  <a:srgbClr val="6B7B83"/>
                </a:solidFill>
                <a:latin typeface="Calibri" pitchFamily="34" charset="0"/>
                <a:ea typeface="Calibri" pitchFamily="34" charset="-122"/>
                <a:cs typeface="Calibri" pitchFamily="34" charset="-120"/>
              </a:rPr>
              <a:t>  ·  anomalies produit, questions, suivi</a:t>
            </a:r>
            <a:endParaRPr lang="en-US" sz="1100" dirty="0"/>
          </a:p>
        </p:txBody>
      </p:sp>
      <p:sp>
        <p:nvSpPr>
          <p:cNvPr id="21" name="Shape 17"/>
          <p:cNvSpPr/>
          <p:nvPr/>
        </p:nvSpPr>
        <p:spPr>
          <a:xfrm>
            <a:off x="4297680" y="3877056"/>
            <a:ext cx="3383280" cy="329184"/>
          </a:xfrm>
          <a:prstGeom prst="roundRect">
            <a:avLst>
              <a:gd name="adj" fmla="val 16667"/>
            </a:avLst>
          </a:prstGeom>
          <a:solidFill>
            <a:srgbClr val="EEF3F5"/>
          </a:solidFill>
          <a:ln w="12700">
            <a:solidFill>
              <a:srgbClr val="EEF3F5"/>
            </a:solidFill>
            <a:prstDash val="solid"/>
          </a:ln>
        </p:spPr>
      </p:sp>
      <p:sp>
        <p:nvSpPr>
          <p:cNvPr id="22" name="Shape 18"/>
          <p:cNvSpPr/>
          <p:nvPr/>
        </p:nvSpPr>
        <p:spPr>
          <a:xfrm>
            <a:off x="4297680" y="3877056"/>
            <a:ext cx="2650390" cy="329184"/>
          </a:xfrm>
          <a:prstGeom prst="roundRect">
            <a:avLst>
              <a:gd name="adj" fmla="val 16667"/>
            </a:avLst>
          </a:prstGeom>
          <a:solidFill>
            <a:srgbClr val="3D8E9C"/>
          </a:solidFill>
          <a:ln w="12700">
            <a:solidFill>
              <a:srgbClr val="3D8E9C"/>
            </a:solidFill>
            <a:prstDash val="solid"/>
          </a:ln>
        </p:spPr>
      </p:sp>
      <p:sp>
        <p:nvSpPr>
          <p:cNvPr id="23" name="Text 19"/>
          <p:cNvSpPr txBox="1"/>
          <p:nvPr/>
        </p:nvSpPr>
        <p:spPr>
          <a:xfrm>
            <a:off x="7772400" y="3877056"/>
            <a:ext cx="822960" cy="329184"/>
          </a:xfrm>
          <a:prstGeom prst="rect">
            <a:avLst/>
          </a:prstGeom>
          <a:noFill/>
          <a:ln/>
        </p:spPr>
        <p:txBody>
          <a:bodyPr wrap="square" lIns="0" tIns="0" rIns="0" bIns="0" rtlCol="0" anchor="ctr"/>
          <a:lstStyle/>
          <a:p>
            <a:pPr indent="0" marL="0">
              <a:buNone/>
            </a:pPr>
            <a:r>
              <a:rPr lang="en-US" sz="1200" b="1" dirty="0">
                <a:solidFill>
                  <a:srgbClr val="06404F"/>
                </a:solidFill>
                <a:latin typeface="Calibri" pitchFamily="34" charset="0"/>
                <a:ea typeface="Calibri" pitchFamily="34" charset="-122"/>
                <a:cs typeface="Calibri" pitchFamily="34" charset="-120"/>
              </a:rPr>
              <a:t>28,8 h</a:t>
            </a:r>
            <a:endParaRPr lang="en-US" sz="1200" dirty="0"/>
          </a:p>
        </p:txBody>
      </p:sp>
      <p:sp>
        <p:nvSpPr>
          <p:cNvPr id="24" name="Shape 20"/>
          <p:cNvSpPr/>
          <p:nvPr/>
        </p:nvSpPr>
        <p:spPr>
          <a:xfrm>
            <a:off x="4297680" y="4709160"/>
            <a:ext cx="4297680" cy="0"/>
          </a:xfrm>
          <a:prstGeom prst="line">
            <a:avLst/>
          </a:prstGeom>
          <a:noFill/>
          <a:ln w="9525">
            <a:solidFill>
              <a:srgbClr val="D6E0E3"/>
            </a:solidFill>
            <a:prstDash val="solid"/>
          </a:ln>
        </p:spPr>
      </p:sp>
      <p:sp>
        <p:nvSpPr>
          <p:cNvPr id="25" name="Text 21"/>
          <p:cNvSpPr txBox="1"/>
          <p:nvPr/>
        </p:nvSpPr>
        <p:spPr>
          <a:xfrm>
            <a:off x="4297680" y="4846320"/>
            <a:ext cx="4297680" cy="27432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Nature des demandes traitées depuis juillet</a:t>
            </a:r>
            <a:endParaRPr lang="en-US" sz="1100" dirty="0"/>
          </a:p>
        </p:txBody>
      </p:sp>
      <p:sp>
        <p:nvSpPr>
          <p:cNvPr id="26" name="Shape 22"/>
          <p:cNvSpPr/>
          <p:nvPr/>
        </p:nvSpPr>
        <p:spPr>
          <a:xfrm>
            <a:off x="4297680" y="5257800"/>
            <a:ext cx="274320" cy="274320"/>
          </a:xfrm>
          <a:prstGeom prst="ellipse">
            <a:avLst/>
          </a:prstGeom>
          <a:solidFill>
            <a:srgbClr val="E4F0F2"/>
          </a:solidFill>
          <a:ln w="12700">
            <a:solidFill>
              <a:srgbClr val="E4F0F2"/>
            </a:solidFill>
            <a:prstDash val="solid"/>
          </a:ln>
        </p:spPr>
      </p:sp>
      <p:sp>
        <p:nvSpPr>
          <p:cNvPr id="27" name="Text 23"/>
          <p:cNvSpPr txBox="1"/>
          <p:nvPr/>
        </p:nvSpPr>
        <p:spPr>
          <a:xfrm>
            <a:off x="4297680" y="5257800"/>
            <a:ext cx="274320" cy="274320"/>
          </a:xfrm>
          <a:prstGeom prst="rect">
            <a:avLst/>
          </a:prstGeom>
          <a:noFill/>
          <a:ln/>
        </p:spPr>
        <p:txBody>
          <a:bodyPr wrap="square" lIns="0" tIns="0" rIns="0" bIns="0" rtlCol="0" anchor="ctr"/>
          <a:lstStyle/>
          <a:p>
            <a:pPr algn="ctr" indent="0" marL="0">
              <a:buNone/>
            </a:pPr>
            <a:r>
              <a:rPr lang="en-US" sz="1100" b="1" dirty="0">
                <a:solidFill>
                  <a:srgbClr val="06404F"/>
                </a:solidFill>
                <a:latin typeface="Calibri" pitchFamily="34" charset="0"/>
                <a:ea typeface="Calibri" pitchFamily="34" charset="-122"/>
                <a:cs typeface="Calibri" pitchFamily="34" charset="-120"/>
              </a:rPr>
              <a:t>5</a:t>
            </a:r>
            <a:endParaRPr lang="en-US" sz="1100" dirty="0"/>
          </a:p>
        </p:txBody>
      </p:sp>
      <p:sp>
        <p:nvSpPr>
          <p:cNvPr id="28" name="Text 24"/>
          <p:cNvSpPr txBox="1"/>
          <p:nvPr/>
        </p:nvSpPr>
        <p:spPr>
          <a:xfrm>
            <a:off x="4663440" y="5212080"/>
            <a:ext cx="1691640" cy="365760"/>
          </a:xfrm>
          <a:prstGeom prst="rect">
            <a:avLst/>
          </a:prstGeom>
          <a:noFill/>
          <a:ln/>
        </p:spPr>
        <p:txBody>
          <a:bodyPr wrap="square" lIns="0" tIns="0" rIns="0" bIns="0" rtlCol="0" anchor="ctr"/>
          <a:lstStyle/>
          <a:p>
            <a:pPr indent="0" marL="0">
              <a:buNone/>
            </a:pPr>
            <a:r>
              <a:rPr lang="en-US" sz="1050" dirty="0">
                <a:solidFill>
                  <a:srgbClr val="1F2A30"/>
                </a:solidFill>
                <a:latin typeface="Calibri" pitchFamily="34" charset="0"/>
                <a:ea typeface="Calibri" pitchFamily="34" charset="-122"/>
                <a:cs typeface="Calibri" pitchFamily="34" charset="-120"/>
              </a:rPr>
              <a:t>Anomalies produit</a:t>
            </a:r>
            <a:endParaRPr lang="en-US" sz="1050" dirty="0"/>
          </a:p>
        </p:txBody>
      </p:sp>
      <p:sp>
        <p:nvSpPr>
          <p:cNvPr id="29" name="Shape 25"/>
          <p:cNvSpPr/>
          <p:nvPr/>
        </p:nvSpPr>
        <p:spPr>
          <a:xfrm>
            <a:off x="6446520" y="5257800"/>
            <a:ext cx="274320" cy="274320"/>
          </a:xfrm>
          <a:prstGeom prst="ellipse">
            <a:avLst/>
          </a:prstGeom>
          <a:solidFill>
            <a:srgbClr val="F28C28"/>
          </a:solidFill>
          <a:ln w="12700">
            <a:solidFill>
              <a:srgbClr val="F28C28"/>
            </a:solidFill>
            <a:prstDash val="solid"/>
          </a:ln>
        </p:spPr>
      </p:sp>
      <p:sp>
        <p:nvSpPr>
          <p:cNvPr id="30" name="Text 26"/>
          <p:cNvSpPr txBox="1"/>
          <p:nvPr/>
        </p:nvSpPr>
        <p:spPr>
          <a:xfrm>
            <a:off x="6446520" y="52578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1" name="Text 27"/>
          <p:cNvSpPr txBox="1"/>
          <p:nvPr/>
        </p:nvSpPr>
        <p:spPr>
          <a:xfrm>
            <a:off x="6812280" y="5212080"/>
            <a:ext cx="1691640" cy="365760"/>
          </a:xfrm>
          <a:prstGeom prst="rect">
            <a:avLst/>
          </a:prstGeom>
          <a:noFill/>
          <a:ln/>
        </p:spPr>
        <p:txBody>
          <a:bodyPr wrap="square" lIns="0" tIns="0" rIns="0" bIns="0" rtlCol="0" anchor="ctr"/>
          <a:lstStyle/>
          <a:p>
            <a:pPr indent="0" marL="0">
              <a:buNone/>
            </a:pPr>
            <a:r>
              <a:rPr lang="en-US" sz="1050" dirty="0">
                <a:solidFill>
                  <a:srgbClr val="1F2A30"/>
                </a:solidFill>
                <a:latin typeface="Calibri" pitchFamily="34" charset="0"/>
                <a:ea typeface="Calibri" pitchFamily="34" charset="-122"/>
                <a:cs typeface="Calibri" pitchFamily="34" charset="-120"/>
              </a:rPr>
              <a:t>Demandes de service</a:t>
            </a:r>
            <a:endParaRPr lang="en-US" sz="1050" dirty="0"/>
          </a:p>
        </p:txBody>
      </p:sp>
      <p:sp>
        <p:nvSpPr>
          <p:cNvPr id="32" name="Shape 28"/>
          <p:cNvSpPr/>
          <p:nvPr/>
        </p:nvSpPr>
        <p:spPr>
          <a:xfrm>
            <a:off x="4297680" y="5669280"/>
            <a:ext cx="274320" cy="274320"/>
          </a:xfrm>
          <a:prstGeom prst="ellipse">
            <a:avLst/>
          </a:prstGeom>
          <a:solidFill>
            <a:srgbClr val="E4F0F2"/>
          </a:solidFill>
          <a:ln w="12700">
            <a:solidFill>
              <a:srgbClr val="E4F0F2"/>
            </a:solidFill>
            <a:prstDash val="solid"/>
          </a:ln>
        </p:spPr>
      </p:sp>
      <p:sp>
        <p:nvSpPr>
          <p:cNvPr id="33" name="Text 29"/>
          <p:cNvSpPr txBox="1"/>
          <p:nvPr/>
        </p:nvSpPr>
        <p:spPr>
          <a:xfrm>
            <a:off x="4297680" y="5669280"/>
            <a:ext cx="274320" cy="274320"/>
          </a:xfrm>
          <a:prstGeom prst="rect">
            <a:avLst/>
          </a:prstGeom>
          <a:noFill/>
          <a:ln/>
        </p:spPr>
        <p:txBody>
          <a:bodyPr wrap="square" lIns="0" tIns="0" rIns="0" bIns="0" rtlCol="0" anchor="ctr"/>
          <a:lstStyle/>
          <a:p>
            <a:pPr algn="ctr" indent="0" marL="0">
              <a:buNone/>
            </a:pPr>
            <a:r>
              <a:rPr lang="en-US" sz="1100" b="1" dirty="0">
                <a:solidFill>
                  <a:srgbClr val="06404F"/>
                </a:solidFill>
                <a:latin typeface="Calibri" pitchFamily="34" charset="0"/>
                <a:ea typeface="Calibri" pitchFamily="34" charset="-122"/>
                <a:cs typeface="Calibri" pitchFamily="34" charset="-120"/>
              </a:rPr>
              <a:t>2</a:t>
            </a:r>
            <a:endParaRPr lang="en-US" sz="1100" dirty="0"/>
          </a:p>
        </p:txBody>
      </p:sp>
      <p:sp>
        <p:nvSpPr>
          <p:cNvPr id="34" name="Text 30"/>
          <p:cNvSpPr txBox="1"/>
          <p:nvPr/>
        </p:nvSpPr>
        <p:spPr>
          <a:xfrm>
            <a:off x="4663440" y="5623560"/>
            <a:ext cx="1691640" cy="365760"/>
          </a:xfrm>
          <a:prstGeom prst="rect">
            <a:avLst/>
          </a:prstGeom>
          <a:noFill/>
          <a:ln/>
        </p:spPr>
        <p:txBody>
          <a:bodyPr wrap="square" lIns="0" tIns="0" rIns="0" bIns="0" rtlCol="0" anchor="ctr"/>
          <a:lstStyle/>
          <a:p>
            <a:pPr indent="0" marL="0">
              <a:buNone/>
            </a:pPr>
            <a:r>
              <a:rPr lang="en-US" sz="1050" dirty="0">
                <a:solidFill>
                  <a:srgbClr val="1F2A30"/>
                </a:solidFill>
                <a:latin typeface="Calibri" pitchFamily="34" charset="0"/>
                <a:ea typeface="Calibri" pitchFamily="34" charset="-122"/>
                <a:cs typeface="Calibri" pitchFamily="34" charset="-120"/>
              </a:rPr>
              <a:t>Questions d’usage</a:t>
            </a:r>
            <a:endParaRPr lang="en-US" sz="1050" dirty="0"/>
          </a:p>
        </p:txBody>
      </p:sp>
      <p:sp>
        <p:nvSpPr>
          <p:cNvPr id="35" name="Shape 31"/>
          <p:cNvSpPr/>
          <p:nvPr/>
        </p:nvSpPr>
        <p:spPr>
          <a:xfrm>
            <a:off x="6446520" y="5669280"/>
            <a:ext cx="274320" cy="274320"/>
          </a:xfrm>
          <a:prstGeom prst="ellipse">
            <a:avLst/>
          </a:prstGeom>
          <a:solidFill>
            <a:srgbClr val="E4F0F2"/>
          </a:solidFill>
          <a:ln w="12700">
            <a:solidFill>
              <a:srgbClr val="E4F0F2"/>
            </a:solidFill>
            <a:prstDash val="solid"/>
          </a:ln>
        </p:spPr>
      </p:sp>
      <p:sp>
        <p:nvSpPr>
          <p:cNvPr id="36" name="Text 32"/>
          <p:cNvSpPr txBox="1"/>
          <p:nvPr/>
        </p:nvSpPr>
        <p:spPr>
          <a:xfrm>
            <a:off x="6446520" y="5669280"/>
            <a:ext cx="274320" cy="274320"/>
          </a:xfrm>
          <a:prstGeom prst="rect">
            <a:avLst/>
          </a:prstGeom>
          <a:noFill/>
          <a:ln/>
        </p:spPr>
        <p:txBody>
          <a:bodyPr wrap="square" lIns="0" tIns="0" rIns="0" bIns="0" rtlCol="0" anchor="ctr"/>
          <a:lstStyle/>
          <a:p>
            <a:pPr algn="ctr" indent="0" marL="0">
              <a:buNone/>
            </a:pPr>
            <a:r>
              <a:rPr lang="en-US" sz="1100" b="1" dirty="0">
                <a:solidFill>
                  <a:srgbClr val="06404F"/>
                </a:solidFill>
                <a:latin typeface="Calibri" pitchFamily="34" charset="0"/>
                <a:ea typeface="Calibri" pitchFamily="34" charset="-122"/>
                <a:cs typeface="Calibri" pitchFamily="34" charset="-120"/>
              </a:rPr>
              <a:t>4</a:t>
            </a:r>
            <a:endParaRPr lang="en-US" sz="1100" dirty="0"/>
          </a:p>
        </p:txBody>
      </p:sp>
      <p:sp>
        <p:nvSpPr>
          <p:cNvPr id="37" name="Text 33"/>
          <p:cNvSpPr txBox="1"/>
          <p:nvPr/>
        </p:nvSpPr>
        <p:spPr>
          <a:xfrm>
            <a:off x="6812280" y="5623560"/>
            <a:ext cx="1691640" cy="365760"/>
          </a:xfrm>
          <a:prstGeom prst="rect">
            <a:avLst/>
          </a:prstGeom>
          <a:noFill/>
          <a:ln/>
        </p:spPr>
        <p:txBody>
          <a:bodyPr wrap="square" lIns="0" tIns="0" rIns="0" bIns="0" rtlCol="0" anchor="ctr"/>
          <a:lstStyle/>
          <a:p>
            <a:pPr indent="0" marL="0">
              <a:buNone/>
            </a:pPr>
            <a:r>
              <a:rPr lang="en-US" sz="1050" dirty="0">
                <a:solidFill>
                  <a:srgbClr val="1F2A30"/>
                </a:solidFill>
                <a:latin typeface="Calibri" pitchFamily="34" charset="0"/>
                <a:ea typeface="Calibri" pitchFamily="34" charset="-122"/>
                <a:cs typeface="Calibri" pitchFamily="34" charset="-120"/>
              </a:rPr>
              <a:t>Suivi et divers</a:t>
            </a:r>
            <a:endParaRPr lang="en-US" sz="1050" dirty="0"/>
          </a:p>
        </p:txBody>
      </p:sp>
      <p:sp>
        <p:nvSpPr>
          <p:cNvPr id="38" name="Shape 34"/>
          <p:cNvSpPr/>
          <p:nvPr/>
        </p:nvSpPr>
        <p:spPr>
          <a:xfrm>
            <a:off x="9098280" y="1965960"/>
            <a:ext cx="2590495" cy="2606040"/>
          </a:xfrm>
          <a:prstGeom prst="roundRect">
            <a:avLst>
              <a:gd name="adj" fmla="val 4236"/>
            </a:avLst>
          </a:prstGeom>
          <a:solidFill>
            <a:srgbClr val="F2F8F9"/>
          </a:solidFill>
          <a:ln w="12700">
            <a:solidFill>
              <a:srgbClr val="F2F8F9"/>
            </a:solidFill>
            <a:prstDash val="solid"/>
          </a:ln>
        </p:spPr>
      </p:sp>
      <p:sp>
        <p:nvSpPr>
          <p:cNvPr id="39" name="Shape 35"/>
          <p:cNvSpPr/>
          <p:nvPr/>
        </p:nvSpPr>
        <p:spPr>
          <a:xfrm>
            <a:off x="9281160" y="2148840"/>
            <a:ext cx="384048" cy="384048"/>
          </a:xfrm>
          <a:prstGeom prst="ellipse">
            <a:avLst/>
          </a:prstGeom>
          <a:solidFill>
            <a:srgbClr val="06404F"/>
          </a:solidFill>
          <a:ln w="12700">
            <a:solidFill>
              <a:srgbClr val="06404F"/>
            </a:solidFill>
            <a:prstDash val="solid"/>
          </a:ln>
        </p:spPr>
      </p:sp>
      <p:pic>
        <p:nvPicPr>
          <p:cNvPr id="40" name="Image 1" descr="preencoded.png">    </p:cNvPr>
          <p:cNvPicPr>
            <a:picLocks noChangeAspect="1"/>
          </p:cNvPicPr>
          <p:nvPr/>
        </p:nvPicPr>
        <p:blipFill>
          <a:blip r:embed="rId3"/>
          <a:stretch>
            <a:fillRect/>
          </a:stretch>
        </p:blipFill>
        <p:spPr>
          <a:xfrm>
            <a:off x="9381012" y="2248692"/>
            <a:ext cx="184343" cy="184343"/>
          </a:xfrm>
          <a:prstGeom prst="rect">
            <a:avLst/>
          </a:prstGeom>
        </p:spPr>
      </p:pic>
      <p:sp>
        <p:nvSpPr>
          <p:cNvPr id="41" name="Text 36"/>
          <p:cNvSpPr txBox="1"/>
          <p:nvPr/>
        </p:nvSpPr>
        <p:spPr>
          <a:xfrm>
            <a:off x="9784080" y="2148840"/>
            <a:ext cx="1721815" cy="384048"/>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Règle de décompte</a:t>
            </a:r>
            <a:endParaRPr lang="en-US" sz="1250" dirty="0"/>
          </a:p>
        </p:txBody>
      </p:sp>
      <p:sp>
        <p:nvSpPr>
          <p:cNvPr id="42" name="Text 37"/>
          <p:cNvSpPr txBox="1"/>
          <p:nvPr/>
        </p:nvSpPr>
        <p:spPr>
          <a:xfrm>
            <a:off x="9326880" y="2606040"/>
            <a:ext cx="2133295" cy="18288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Seules les demandes de service sont décomptées des 50 h de votre forfait.</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Anomalies produit, questions d’usage et suivi sont pris en charge par Selligent, hors forfait.</a:t>
            </a:r>
            <a:endParaRPr lang="en-US" sz="1050" dirty="0"/>
          </a:p>
        </p:txBody>
      </p:sp>
      <p:sp>
        <p:nvSpPr>
          <p:cNvPr id="43" name="Shape 38"/>
          <p:cNvSpPr/>
          <p:nvPr/>
        </p:nvSpPr>
        <p:spPr>
          <a:xfrm>
            <a:off x="9098280" y="4709160"/>
            <a:ext cx="2590495" cy="1508760"/>
          </a:xfrm>
          <a:prstGeom prst="roundRect">
            <a:avLst>
              <a:gd name="adj" fmla="val 7273"/>
            </a:avLst>
          </a:prstGeom>
          <a:solidFill>
            <a:srgbClr val="E3F3EA"/>
          </a:solidFill>
          <a:ln w="12700">
            <a:solidFill>
              <a:srgbClr val="E3F3EA"/>
            </a:solidFill>
            <a:prstDash val="solid"/>
          </a:ln>
        </p:spPr>
      </p:sp>
      <p:sp>
        <p:nvSpPr>
          <p:cNvPr id="44" name="Shape 39"/>
          <p:cNvSpPr/>
          <p:nvPr/>
        </p:nvSpPr>
        <p:spPr>
          <a:xfrm>
            <a:off x="9281160" y="4892040"/>
            <a:ext cx="384048" cy="384048"/>
          </a:xfrm>
          <a:prstGeom prst="ellipse">
            <a:avLst/>
          </a:prstGeom>
          <a:solidFill>
            <a:srgbClr val="2E8B57"/>
          </a:solidFill>
          <a:ln w="12700">
            <a:solidFill>
              <a:srgbClr val="2E8B57"/>
            </a:solidFill>
            <a:prstDash val="solid"/>
          </a:ln>
        </p:spPr>
      </p:sp>
      <p:pic>
        <p:nvPicPr>
          <p:cNvPr id="45" name="Image 2" descr="preencoded.png">    </p:cNvPr>
          <p:cNvPicPr>
            <a:picLocks noChangeAspect="1"/>
          </p:cNvPicPr>
          <p:nvPr/>
        </p:nvPicPr>
        <p:blipFill>
          <a:blip r:embed="rId4"/>
          <a:stretch>
            <a:fillRect/>
          </a:stretch>
        </p:blipFill>
        <p:spPr>
          <a:xfrm>
            <a:off x="9381012" y="4991892"/>
            <a:ext cx="184343" cy="184343"/>
          </a:xfrm>
          <a:prstGeom prst="rect">
            <a:avLst/>
          </a:prstGeom>
        </p:spPr>
      </p:pic>
      <p:sp>
        <p:nvSpPr>
          <p:cNvPr id="46" name="Text 40"/>
          <p:cNvSpPr txBox="1"/>
          <p:nvPr/>
        </p:nvSpPr>
        <p:spPr>
          <a:xfrm>
            <a:off x="9784080" y="4892040"/>
            <a:ext cx="1721815" cy="384048"/>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Suivi</a:t>
            </a:r>
            <a:endParaRPr lang="en-US" sz="1250" dirty="0"/>
          </a:p>
        </p:txBody>
      </p:sp>
      <p:sp>
        <p:nvSpPr>
          <p:cNvPr id="47" name="Text 41"/>
          <p:cNvSpPr txBox="1"/>
          <p:nvPr/>
        </p:nvSpPr>
        <p:spPr>
          <a:xfrm>
            <a:off x="9326880" y="5349240"/>
            <a:ext cx="2133295" cy="7315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Point SLA mensuel dans votre reporting.</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Alerte dès 60 % de consommation.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CDM</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Base de données : 47 GB sur 50, anticipons ensemble</a:t>
            </a:r>
            <a:endParaRPr lang="en-US" sz="26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+3 GB en six mois, par paliers, et un plateau à 47 GB depuis juin : 3 GB de marge, soit environ six mois si le rythme du premier semestre reprend.</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6</a:t>
            </a:r>
            <a:endParaRPr lang="en-US" sz="900" dirty="0"/>
          </a:p>
        </p:txBody>
      </p:sp>
      <p:sp>
        <p:nvSpPr>
          <p:cNvPr id="8" name="Shape 5"/>
          <p:cNvSpPr/>
          <p:nvPr/>
        </p:nvSpPr>
        <p:spPr>
          <a:xfrm>
            <a:off x="502920" y="1965960"/>
            <a:ext cx="6766560" cy="4251960"/>
          </a:xfrm>
          <a:prstGeom prst="roundRect">
            <a:avLst>
              <a:gd name="adj" fmla="val 2581"/>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9" name="Text 6"/>
          <p:cNvSpPr txBox="1"/>
          <p:nvPr/>
        </p:nvSpPr>
        <p:spPr>
          <a:xfrm>
            <a:off x="731520" y="2103120"/>
            <a:ext cx="6309360" cy="274320"/>
          </a:xfrm>
          <a:prstGeom prst="rect">
            <a:avLst/>
          </a:prstGeom>
          <a:noFill/>
          <a:ln/>
        </p:spPr>
        <p:txBody>
          <a:bodyPr wrap="square" lIns="0" tIns="0" rIns="0" bIns="0" rtlCol="0" anchor="t"/>
          <a:lstStyle/>
          <a:p>
            <a:pPr indent="0" marL="0">
              <a:buNone/>
            </a:pPr>
            <a:r>
              <a:rPr lang="en-US" sz="1100" b="1" dirty="0">
                <a:solidFill>
                  <a:srgbClr val="6B7B83"/>
                </a:solidFill>
                <a:latin typeface="Calibri" pitchFamily="34" charset="0"/>
                <a:ea typeface="Calibri" pitchFamily="34" charset="-122"/>
                <a:cs typeface="Calibri" pitchFamily="34" charset="-120"/>
              </a:rPr>
              <a:t>Taille de la base de données (GB, moyenne mensuelle) — mars à août 2026</a:t>
            </a:r>
            <a:endParaRPr lang="en-US" sz="1100" dirty="0"/>
          </a:p>
        </p:txBody>
      </p:sp>
      <p:graphicFrame>
        <p:nvGraphicFramePr>
          <p:cNvPr id="10" name="Chart 0" descr=""/>
          <p:cNvGraphicFramePr/>
          <p:nvPr/>
        </p:nvGraphicFramePr>
        <p:xfrm>
          <a:off x="685800" y="2423160"/>
          <a:ext cx="6400800" cy="338328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7543800" y="1965960"/>
            <a:ext cx="4144975"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2" name="Shape 8"/>
          <p:cNvSpPr/>
          <p:nvPr/>
        </p:nvSpPr>
        <p:spPr>
          <a:xfrm>
            <a:off x="7744968" y="2167128"/>
            <a:ext cx="457200" cy="457200"/>
          </a:xfrm>
          <a:prstGeom prst="ellipse">
            <a:avLst/>
          </a:prstGeom>
          <a:solidFill>
            <a:srgbClr val="E4F0F2"/>
          </a:solidFill>
          <a:ln w="12700">
            <a:solidFill>
              <a:srgbClr val="E4F0F2"/>
            </a:solidFill>
            <a:prstDash val="solid"/>
          </a:ln>
        </p:spPr>
      </p:sp>
      <p:pic>
        <p:nvPicPr>
          <p:cNvPr id="13" name="Image 1" descr="preencoded.png">    </p:cNvPr>
          <p:cNvPicPr>
            <a:picLocks noChangeAspect="1"/>
          </p:cNvPicPr>
          <p:nvPr/>
        </p:nvPicPr>
        <p:blipFill>
          <a:blip r:embed="rId3"/>
          <a:stretch>
            <a:fillRect/>
          </a:stretch>
        </p:blipFill>
        <p:spPr>
          <a:xfrm>
            <a:off x="7863840" y="2286000"/>
            <a:ext cx="219456" cy="219456"/>
          </a:xfrm>
          <a:prstGeom prst="rect">
            <a:avLst/>
          </a:prstGeom>
        </p:spPr>
      </p:pic>
      <p:sp>
        <p:nvSpPr>
          <p:cNvPr id="14" name="Text 9"/>
          <p:cNvSpPr txBox="1"/>
          <p:nvPr/>
        </p:nvSpPr>
        <p:spPr>
          <a:xfrm>
            <a:off x="8321040" y="2167128"/>
            <a:ext cx="3184855"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Marge restante</a:t>
            </a:r>
            <a:endParaRPr lang="en-US" sz="1100" dirty="0"/>
          </a:p>
        </p:txBody>
      </p:sp>
      <p:sp>
        <p:nvSpPr>
          <p:cNvPr id="15" name="Text 10"/>
          <p:cNvSpPr txBox="1"/>
          <p:nvPr/>
        </p:nvSpPr>
        <p:spPr>
          <a:xfrm>
            <a:off x="7744968" y="2679192"/>
            <a:ext cx="3742639" cy="502920"/>
          </a:xfrm>
          <a:prstGeom prst="rect">
            <a:avLst/>
          </a:prstGeom>
          <a:noFill/>
          <a:ln/>
        </p:spPr>
        <p:txBody>
          <a:bodyPr wrap="square" lIns="0" tIns="0" rIns="0" bIns="0" rtlCol="0" anchor="ctr"/>
          <a:lstStyle/>
          <a:p>
            <a:pPr indent="0" marL="0">
              <a:buNone/>
            </a:pPr>
            <a:r>
              <a:rPr lang="en-US" sz="2400" b="1" dirty="0">
                <a:solidFill>
                  <a:srgbClr val="06404F"/>
                </a:solidFill>
                <a:latin typeface="Calibri" pitchFamily="34" charset="0"/>
                <a:ea typeface="Calibri" pitchFamily="34" charset="-122"/>
                <a:cs typeface="Calibri" pitchFamily="34" charset="-120"/>
              </a:rPr>
              <a:t>3 GB (6 %)</a:t>
            </a:r>
            <a:endParaRPr lang="en-US" sz="2400" dirty="0"/>
          </a:p>
        </p:txBody>
      </p:sp>
      <p:sp>
        <p:nvSpPr>
          <p:cNvPr id="16" name="Text 11"/>
          <p:cNvSpPr txBox="1"/>
          <p:nvPr/>
        </p:nvSpPr>
        <p:spPr>
          <a:xfrm>
            <a:off x="7744968" y="3182112"/>
            <a:ext cx="3742639" cy="155448"/>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sur un seuil de 50 GB</a:t>
            </a:r>
            <a:endParaRPr lang="en-US" sz="1000" dirty="0"/>
          </a:p>
        </p:txBody>
      </p:sp>
      <p:sp>
        <p:nvSpPr>
          <p:cNvPr id="17" name="Shape 12"/>
          <p:cNvSpPr/>
          <p:nvPr/>
        </p:nvSpPr>
        <p:spPr>
          <a:xfrm>
            <a:off x="7543800" y="3611880"/>
            <a:ext cx="4144975"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8" name="Shape 13"/>
          <p:cNvSpPr/>
          <p:nvPr/>
        </p:nvSpPr>
        <p:spPr>
          <a:xfrm>
            <a:off x="7744968" y="3813048"/>
            <a:ext cx="457200" cy="457200"/>
          </a:xfrm>
          <a:prstGeom prst="ellipse">
            <a:avLst/>
          </a:prstGeom>
          <a:solidFill>
            <a:srgbClr val="E4F0F2"/>
          </a:solidFill>
          <a:ln w="12700">
            <a:solidFill>
              <a:srgbClr val="E4F0F2"/>
            </a:solidFill>
            <a:prstDash val="solid"/>
          </a:ln>
        </p:spPr>
      </p:sp>
      <p:pic>
        <p:nvPicPr>
          <p:cNvPr id="19" name="Image 2" descr="preencoded.png">    </p:cNvPr>
          <p:cNvPicPr>
            <a:picLocks noChangeAspect="1"/>
          </p:cNvPicPr>
          <p:nvPr/>
        </p:nvPicPr>
        <p:blipFill>
          <a:blip r:embed="rId4"/>
          <a:stretch>
            <a:fillRect/>
          </a:stretch>
        </p:blipFill>
        <p:spPr>
          <a:xfrm>
            <a:off x="7863840" y="3931920"/>
            <a:ext cx="219456" cy="219456"/>
          </a:xfrm>
          <a:prstGeom prst="rect">
            <a:avLst/>
          </a:prstGeom>
        </p:spPr>
      </p:pic>
      <p:sp>
        <p:nvSpPr>
          <p:cNvPr id="20" name="Text 14"/>
          <p:cNvSpPr txBox="1"/>
          <p:nvPr/>
        </p:nvSpPr>
        <p:spPr>
          <a:xfrm>
            <a:off x="8321040" y="3813048"/>
            <a:ext cx="3184855"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Redevance au-delà du seuil</a:t>
            </a:r>
            <a:endParaRPr lang="en-US" sz="1100" dirty="0"/>
          </a:p>
        </p:txBody>
      </p:sp>
      <p:sp>
        <p:nvSpPr>
          <p:cNvPr id="21" name="Text 15"/>
          <p:cNvSpPr txBox="1"/>
          <p:nvPr/>
        </p:nvSpPr>
        <p:spPr>
          <a:xfrm>
            <a:off x="7744968" y="4325112"/>
            <a:ext cx="3742639" cy="502920"/>
          </a:xfrm>
          <a:prstGeom prst="rect">
            <a:avLst/>
          </a:prstGeom>
          <a:noFill/>
          <a:ln/>
        </p:spPr>
        <p:txBody>
          <a:bodyPr wrap="square" lIns="0" tIns="0" rIns="0" bIns="0" rtlCol="0" anchor="ctr"/>
          <a:lstStyle/>
          <a:p>
            <a:pPr indent="0" marL="0">
              <a:buNone/>
            </a:pPr>
            <a:r>
              <a:rPr lang="en-US" sz="2200" b="1" dirty="0">
                <a:solidFill>
                  <a:srgbClr val="06404F"/>
                </a:solidFill>
                <a:latin typeface="Calibri" pitchFamily="34" charset="0"/>
                <a:ea typeface="Calibri" pitchFamily="34" charset="-122"/>
                <a:cs typeface="Calibri" pitchFamily="34" charset="-120"/>
              </a:rPr>
              <a:t>6 900 € / an</a:t>
            </a:r>
            <a:endParaRPr lang="en-US" sz="2200" dirty="0"/>
          </a:p>
        </p:txBody>
      </p:sp>
      <p:sp>
        <p:nvSpPr>
          <p:cNvPr id="22" name="Text 16"/>
          <p:cNvSpPr txBox="1"/>
          <p:nvPr/>
        </p:nvSpPr>
        <p:spPr>
          <a:xfrm>
            <a:off x="7744968" y="4828032"/>
            <a:ext cx="3742639" cy="155448"/>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par tranche de 100 GB, selon pricelist</a:t>
            </a:r>
            <a:endParaRPr lang="en-US" sz="1000" dirty="0"/>
          </a:p>
        </p:txBody>
      </p:sp>
      <p:sp>
        <p:nvSpPr>
          <p:cNvPr id="23" name="Shape 17"/>
          <p:cNvSpPr/>
          <p:nvPr/>
        </p:nvSpPr>
        <p:spPr>
          <a:xfrm>
            <a:off x="7543800" y="5257800"/>
            <a:ext cx="4144975" cy="960120"/>
          </a:xfrm>
          <a:prstGeom prst="roundRect">
            <a:avLst>
              <a:gd name="adj" fmla="val 11429"/>
            </a:avLst>
          </a:prstGeom>
          <a:solidFill>
            <a:srgbClr val="F2F8F9"/>
          </a:solidFill>
          <a:ln w="12700">
            <a:solidFill>
              <a:srgbClr val="F2F8F9"/>
            </a:solidFill>
            <a:prstDash val="solid"/>
          </a:ln>
        </p:spPr>
      </p:sp>
      <p:sp>
        <p:nvSpPr>
          <p:cNvPr id="24" name="Shape 18"/>
          <p:cNvSpPr/>
          <p:nvPr/>
        </p:nvSpPr>
        <p:spPr>
          <a:xfrm>
            <a:off x="7726680" y="5440680"/>
            <a:ext cx="384048" cy="384048"/>
          </a:xfrm>
          <a:prstGeom prst="ellipse">
            <a:avLst/>
          </a:prstGeom>
          <a:solidFill>
            <a:srgbClr val="06404F"/>
          </a:solidFill>
          <a:ln w="12700">
            <a:solidFill>
              <a:srgbClr val="06404F"/>
            </a:solidFill>
            <a:prstDash val="solid"/>
          </a:ln>
        </p:spPr>
      </p:sp>
      <p:pic>
        <p:nvPicPr>
          <p:cNvPr id="25" name="Image 3" descr="preencoded.png">    </p:cNvPr>
          <p:cNvPicPr>
            <a:picLocks noChangeAspect="1"/>
          </p:cNvPicPr>
          <p:nvPr/>
        </p:nvPicPr>
        <p:blipFill>
          <a:blip r:embed="rId5"/>
          <a:stretch>
            <a:fillRect/>
          </a:stretch>
        </p:blipFill>
        <p:spPr>
          <a:xfrm>
            <a:off x="7826532" y="5540532"/>
            <a:ext cx="184343" cy="184343"/>
          </a:xfrm>
          <a:prstGeom prst="rect">
            <a:avLst/>
          </a:prstGeom>
        </p:spPr>
      </p:pic>
      <p:sp>
        <p:nvSpPr>
          <p:cNvPr id="26" name="Text 19"/>
          <p:cNvSpPr txBox="1"/>
          <p:nvPr/>
        </p:nvSpPr>
        <p:spPr>
          <a:xfrm>
            <a:off x="8229600" y="5440680"/>
            <a:ext cx="3276295" cy="384048"/>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Deux leviers</a:t>
            </a:r>
            <a:endParaRPr lang="en-US" sz="1250" dirty="0"/>
          </a:p>
        </p:txBody>
      </p:sp>
      <p:sp>
        <p:nvSpPr>
          <p:cNvPr id="27" name="Text 20"/>
          <p:cNvSpPr txBox="1"/>
          <p:nvPr/>
        </p:nvSpPr>
        <p:spPr>
          <a:xfrm>
            <a:off x="7772400" y="5897880"/>
            <a:ext cx="3687775" cy="182880"/>
          </a:xfrm>
          <a:prstGeom prst="rect">
            <a:avLst/>
          </a:prstGeom>
          <a:noFill/>
          <a:ln/>
        </p:spPr>
        <p:txBody>
          <a:bodyPr wrap="square" lIns="0" tIns="0" rIns="0" bIns="0" rtlCol="0" anchor="t"/>
          <a:lstStyle/>
          <a:p>
            <a:pPr indent="0" marL="0">
              <a:buNone/>
            </a:pPr>
            <a:r>
              <a:rPr lang="en-US" sz="1050" dirty="0">
                <a:solidFill>
                  <a:srgbClr val="1F2A30"/>
                </a:solidFill>
                <a:latin typeface="Calibri" pitchFamily="34" charset="0"/>
                <a:ea typeface="Calibri" pitchFamily="34" charset="-122"/>
                <a:cs typeface="Calibri" pitchFamily="34" charset="-120"/>
              </a:rPr>
              <a:t>Purger et archiver les données obsolètes, ou étendre la capacité par palier de 100 GB.</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CDM</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200" b="1" dirty="0">
                <a:solidFill>
                  <a:srgbClr val="06404F"/>
                </a:solidFill>
                <a:latin typeface="Calibri" pitchFamily="34" charset="0"/>
                <a:ea typeface="Calibri" pitchFamily="34" charset="-122"/>
                <a:cs typeface="Calibri" pitchFamily="34" charset="-120"/>
              </a:rPr>
              <a:t>Audience unique : 824 913 contacts, en croissance régulière</a:t>
            </a:r>
            <a:endParaRPr lang="en-US" sz="22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Indicateur Ucount (contacts uniques) de votre licence Gold — évolution de juin 2025 à août 2026.</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7</a:t>
            </a:r>
            <a:endParaRPr lang="en-US" sz="900" dirty="0"/>
          </a:p>
        </p:txBody>
      </p:sp>
      <p:sp>
        <p:nvSpPr>
          <p:cNvPr id="8" name="Shape 5"/>
          <p:cNvSpPr/>
          <p:nvPr/>
        </p:nvSpPr>
        <p:spPr>
          <a:xfrm>
            <a:off x="502920" y="1965960"/>
            <a:ext cx="7223760" cy="4251960"/>
          </a:xfrm>
          <a:prstGeom prst="roundRect">
            <a:avLst>
              <a:gd name="adj" fmla="val 2581"/>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9" name="Text 6"/>
          <p:cNvSpPr txBox="1"/>
          <p:nvPr/>
        </p:nvSpPr>
        <p:spPr>
          <a:xfrm>
            <a:off x="731520" y="2103120"/>
            <a:ext cx="6766560" cy="274320"/>
          </a:xfrm>
          <a:prstGeom prst="rect">
            <a:avLst/>
          </a:prstGeom>
          <a:noFill/>
          <a:ln/>
        </p:spPr>
        <p:txBody>
          <a:bodyPr wrap="square" lIns="0" tIns="0" rIns="0" bIns="0" rtlCol="0" anchor="t"/>
          <a:lstStyle/>
          <a:p>
            <a:pPr indent="0" marL="0">
              <a:buNone/>
            </a:pPr>
            <a:r>
              <a:rPr lang="en-US" sz="1100" b="1" dirty="0">
                <a:solidFill>
                  <a:srgbClr val="6B7B83"/>
                </a:solidFill>
                <a:latin typeface="Calibri" pitchFamily="34" charset="0"/>
                <a:ea typeface="Calibri" pitchFamily="34" charset="-122"/>
                <a:cs typeface="Calibri" pitchFamily="34" charset="-120"/>
              </a:rPr>
              <a:t>Contacts uniques (Ucount) par mois</a:t>
            </a:r>
            <a:endParaRPr lang="en-US" sz="1100" dirty="0"/>
          </a:p>
        </p:txBody>
      </p:sp>
      <p:graphicFrame>
        <p:nvGraphicFramePr>
          <p:cNvPr id="10" name="Chart 0" descr=""/>
          <p:cNvGraphicFramePr/>
          <p:nvPr/>
        </p:nvGraphicFramePr>
        <p:xfrm>
          <a:off x="685800" y="2423160"/>
          <a:ext cx="6858000" cy="338328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8001000" y="1965960"/>
            <a:ext cx="3687775"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2" name="Shape 8"/>
          <p:cNvSpPr/>
          <p:nvPr/>
        </p:nvSpPr>
        <p:spPr>
          <a:xfrm>
            <a:off x="8202168" y="2167128"/>
            <a:ext cx="457200" cy="457200"/>
          </a:xfrm>
          <a:prstGeom prst="ellipse">
            <a:avLst/>
          </a:prstGeom>
          <a:solidFill>
            <a:srgbClr val="E4F0F2"/>
          </a:solidFill>
          <a:ln w="12700">
            <a:solidFill>
              <a:srgbClr val="E4F0F2"/>
            </a:solidFill>
            <a:prstDash val="solid"/>
          </a:ln>
        </p:spPr>
      </p:sp>
      <p:pic>
        <p:nvPicPr>
          <p:cNvPr id="13" name="Image 1" descr="preencoded.png">    </p:cNvPr>
          <p:cNvPicPr>
            <a:picLocks noChangeAspect="1"/>
          </p:cNvPicPr>
          <p:nvPr/>
        </p:nvPicPr>
        <p:blipFill>
          <a:blip r:embed="rId3"/>
          <a:stretch>
            <a:fillRect/>
          </a:stretch>
        </p:blipFill>
        <p:spPr>
          <a:xfrm>
            <a:off x="8321040" y="2286000"/>
            <a:ext cx="219456" cy="219456"/>
          </a:xfrm>
          <a:prstGeom prst="rect">
            <a:avLst/>
          </a:prstGeom>
        </p:spPr>
      </p:pic>
      <p:sp>
        <p:nvSpPr>
          <p:cNvPr id="14" name="Text 9"/>
          <p:cNvSpPr txBox="1"/>
          <p:nvPr/>
        </p:nvSpPr>
        <p:spPr>
          <a:xfrm>
            <a:off x="8778240" y="2167128"/>
            <a:ext cx="2727655"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Août 2026</a:t>
            </a:r>
            <a:endParaRPr lang="en-US" sz="1100" dirty="0"/>
          </a:p>
        </p:txBody>
      </p:sp>
      <p:sp>
        <p:nvSpPr>
          <p:cNvPr id="15" name="Text 10"/>
          <p:cNvSpPr txBox="1"/>
          <p:nvPr/>
        </p:nvSpPr>
        <p:spPr>
          <a:xfrm>
            <a:off x="8202168" y="2679192"/>
            <a:ext cx="3285439" cy="502920"/>
          </a:xfrm>
          <a:prstGeom prst="rect">
            <a:avLst/>
          </a:prstGeom>
          <a:noFill/>
          <a:ln/>
        </p:spPr>
        <p:txBody>
          <a:bodyPr wrap="square" lIns="0" tIns="0" rIns="0" bIns="0" rtlCol="0" anchor="ctr"/>
          <a:lstStyle/>
          <a:p>
            <a:pPr indent="0" marL="0">
              <a:buNone/>
            </a:pPr>
            <a:r>
              <a:rPr lang="en-US" sz="2400" b="1" dirty="0">
                <a:solidFill>
                  <a:srgbClr val="06404F"/>
                </a:solidFill>
                <a:latin typeface="Calibri" pitchFamily="34" charset="0"/>
                <a:ea typeface="Calibri" pitchFamily="34" charset="-122"/>
                <a:cs typeface="Calibri" pitchFamily="34" charset="-120"/>
              </a:rPr>
              <a:t>824 913</a:t>
            </a:r>
            <a:endParaRPr lang="en-US" sz="2400" dirty="0"/>
          </a:p>
        </p:txBody>
      </p:sp>
      <p:sp>
        <p:nvSpPr>
          <p:cNvPr id="16" name="Text 11"/>
          <p:cNvSpPr txBox="1"/>
          <p:nvPr/>
        </p:nvSpPr>
        <p:spPr>
          <a:xfrm>
            <a:off x="8202168" y="3182112"/>
            <a:ext cx="3285439" cy="-27432"/>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+0,6 % vs juillet (+4 874) · +20,2 % sur un an</a:t>
            </a:r>
            <a:endParaRPr lang="en-US" sz="1000" dirty="0"/>
          </a:p>
        </p:txBody>
      </p:sp>
      <p:sp>
        <p:nvSpPr>
          <p:cNvPr id="17" name="Shape 12"/>
          <p:cNvSpPr/>
          <p:nvPr/>
        </p:nvSpPr>
        <p:spPr>
          <a:xfrm>
            <a:off x="8001000" y="3429000"/>
            <a:ext cx="3687775"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8" name="Shape 13"/>
          <p:cNvSpPr/>
          <p:nvPr/>
        </p:nvSpPr>
        <p:spPr>
          <a:xfrm>
            <a:off x="8202168" y="3630168"/>
            <a:ext cx="457200" cy="457200"/>
          </a:xfrm>
          <a:prstGeom prst="ellipse">
            <a:avLst/>
          </a:prstGeom>
          <a:solidFill>
            <a:srgbClr val="E4F0F2"/>
          </a:solidFill>
          <a:ln w="12700">
            <a:solidFill>
              <a:srgbClr val="E4F0F2"/>
            </a:solidFill>
            <a:prstDash val="solid"/>
          </a:ln>
        </p:spPr>
      </p:sp>
      <p:pic>
        <p:nvPicPr>
          <p:cNvPr id="19" name="Image 2" descr="preencoded.png">    </p:cNvPr>
          <p:cNvPicPr>
            <a:picLocks noChangeAspect="1"/>
          </p:cNvPicPr>
          <p:nvPr/>
        </p:nvPicPr>
        <p:blipFill>
          <a:blip r:embed="rId4"/>
          <a:stretch>
            <a:fillRect/>
          </a:stretch>
        </p:blipFill>
        <p:spPr>
          <a:xfrm>
            <a:off x="8321040" y="3749040"/>
            <a:ext cx="219456" cy="219456"/>
          </a:xfrm>
          <a:prstGeom prst="rect">
            <a:avLst/>
          </a:prstGeom>
        </p:spPr>
      </p:pic>
      <p:sp>
        <p:nvSpPr>
          <p:cNvPr id="20" name="Text 14"/>
          <p:cNvSpPr txBox="1"/>
          <p:nvPr/>
        </p:nvSpPr>
        <p:spPr>
          <a:xfrm>
            <a:off x="8778240" y="3630168"/>
            <a:ext cx="2727655" cy="457200"/>
          </a:xfrm>
          <a:prstGeom prst="rect">
            <a:avLst/>
          </a:prstGeom>
          <a:noFill/>
          <a:ln/>
        </p:spPr>
        <p:txBody>
          <a:bodyPr wrap="square" lIns="0" tIns="0" rIns="0" bIns="0" rtlCol="0" anchor="ctr"/>
          <a:lstStyle/>
          <a:p>
            <a:pPr indent="0" marL="0">
              <a:buNone/>
            </a:pPr>
            <a:r>
              <a:rPr lang="en-US" sz="1100" b="1" dirty="0">
                <a:solidFill>
                  <a:srgbClr val="6B7B83"/>
                </a:solidFill>
                <a:latin typeface="Calibri" pitchFamily="34" charset="0"/>
                <a:ea typeface="Calibri" pitchFamily="34" charset="-122"/>
                <a:cs typeface="Calibri" pitchFamily="34" charset="-120"/>
              </a:rPr>
              <a:t>Depuis juin 2025</a:t>
            </a:r>
            <a:endParaRPr lang="en-US" sz="1100" dirty="0"/>
          </a:p>
        </p:txBody>
      </p:sp>
      <p:sp>
        <p:nvSpPr>
          <p:cNvPr id="21" name="Text 15"/>
          <p:cNvSpPr txBox="1"/>
          <p:nvPr/>
        </p:nvSpPr>
        <p:spPr>
          <a:xfrm>
            <a:off x="8202168" y="4142232"/>
            <a:ext cx="3285439" cy="502920"/>
          </a:xfrm>
          <a:prstGeom prst="rect">
            <a:avLst/>
          </a:prstGeom>
          <a:noFill/>
          <a:ln/>
        </p:spPr>
        <p:txBody>
          <a:bodyPr wrap="square" lIns="0" tIns="0" rIns="0" bIns="0" rtlCol="0" anchor="ctr"/>
          <a:lstStyle/>
          <a:p>
            <a:pPr indent="0" marL="0">
              <a:buNone/>
            </a:pPr>
            <a:r>
              <a:rPr lang="en-US" sz="2400" b="1" dirty="0">
                <a:solidFill>
                  <a:srgbClr val="06404F"/>
                </a:solidFill>
                <a:latin typeface="Calibri" pitchFamily="34" charset="0"/>
                <a:ea typeface="Calibri" pitchFamily="34" charset="-122"/>
                <a:cs typeface="Calibri" pitchFamily="34" charset="-120"/>
              </a:rPr>
              <a:t>+17,5 %</a:t>
            </a:r>
            <a:endParaRPr lang="en-US" sz="2400" dirty="0"/>
          </a:p>
        </p:txBody>
      </p:sp>
      <p:sp>
        <p:nvSpPr>
          <p:cNvPr id="22" name="Text 16"/>
          <p:cNvSpPr txBox="1"/>
          <p:nvPr/>
        </p:nvSpPr>
        <p:spPr>
          <a:xfrm>
            <a:off x="8202168" y="4645152"/>
            <a:ext cx="3285439" cy="-27432"/>
          </a:xfrm>
          <a:prstGeom prst="rect">
            <a:avLst/>
          </a:prstGeom>
          <a:noFill/>
          <a:ln/>
        </p:spPr>
        <p:txBody>
          <a:bodyPr wrap="square" lIns="0" tIns="0" rIns="0" bIns="0" rtlCol="0" anchor="t"/>
          <a:lstStyle/>
          <a:p>
            <a:pPr indent="0" marL="0">
              <a:buNone/>
            </a:pPr>
            <a:r>
              <a:rPr lang="en-US" sz="1000" dirty="0">
                <a:solidFill>
                  <a:srgbClr val="1F2A30"/>
                </a:solidFill>
                <a:latin typeface="Calibri" pitchFamily="34" charset="0"/>
                <a:ea typeface="Calibri" pitchFamily="34" charset="-122"/>
                <a:cs typeface="Calibri" pitchFamily="34" charset="-120"/>
              </a:rPr>
              <a:t>≈ +8 800 contacts par mois · en ralentissement</a:t>
            </a:r>
            <a:endParaRPr lang="en-US" sz="1000" dirty="0"/>
          </a:p>
        </p:txBody>
      </p:sp>
      <p:sp>
        <p:nvSpPr>
          <p:cNvPr id="23" name="Shape 17"/>
          <p:cNvSpPr/>
          <p:nvPr/>
        </p:nvSpPr>
        <p:spPr>
          <a:xfrm>
            <a:off x="8001000" y="4892040"/>
            <a:ext cx="3687775" cy="1325880"/>
          </a:xfrm>
          <a:prstGeom prst="roundRect">
            <a:avLst>
              <a:gd name="adj" fmla="val 8276"/>
            </a:avLst>
          </a:prstGeom>
          <a:solidFill>
            <a:srgbClr val="FDEBD9"/>
          </a:solidFill>
          <a:ln w="12700">
            <a:solidFill>
              <a:srgbClr val="FDEBD9"/>
            </a:solidFill>
            <a:prstDash val="solid"/>
          </a:ln>
        </p:spPr>
      </p:sp>
      <p:sp>
        <p:nvSpPr>
          <p:cNvPr id="24" name="Shape 18"/>
          <p:cNvSpPr/>
          <p:nvPr/>
        </p:nvSpPr>
        <p:spPr>
          <a:xfrm>
            <a:off x="8183880" y="5074920"/>
            <a:ext cx="384048" cy="384048"/>
          </a:xfrm>
          <a:prstGeom prst="ellipse">
            <a:avLst/>
          </a:prstGeom>
          <a:solidFill>
            <a:srgbClr val="F28C28"/>
          </a:solidFill>
          <a:ln w="12700">
            <a:solidFill>
              <a:srgbClr val="F28C28"/>
            </a:solidFill>
            <a:prstDash val="solid"/>
          </a:ln>
        </p:spPr>
      </p:sp>
      <p:pic>
        <p:nvPicPr>
          <p:cNvPr id="25" name="Image 3" descr="preencoded.png">    </p:cNvPr>
          <p:cNvPicPr>
            <a:picLocks noChangeAspect="1"/>
          </p:cNvPicPr>
          <p:nvPr/>
        </p:nvPicPr>
        <p:blipFill>
          <a:blip r:embed="rId5"/>
          <a:stretch>
            <a:fillRect/>
          </a:stretch>
        </p:blipFill>
        <p:spPr>
          <a:xfrm>
            <a:off x="8283732" y="5174772"/>
            <a:ext cx="184343" cy="184343"/>
          </a:xfrm>
          <a:prstGeom prst="rect">
            <a:avLst/>
          </a:prstGeom>
        </p:spPr>
      </p:pic>
      <p:sp>
        <p:nvSpPr>
          <p:cNvPr id="26" name="Text 19"/>
          <p:cNvSpPr txBox="1"/>
          <p:nvPr/>
        </p:nvSpPr>
        <p:spPr>
          <a:xfrm>
            <a:off x="8686800" y="5074920"/>
            <a:ext cx="2819095" cy="384048"/>
          </a:xfrm>
          <a:prstGeom prst="rect">
            <a:avLst/>
          </a:prstGeom>
          <a:noFill/>
          <a:ln/>
        </p:spPr>
        <p:txBody>
          <a:bodyPr wrap="square" lIns="0" tIns="0" rIns="0" bIns="0" rtlCol="0" anchor="ctr"/>
          <a:lstStyle/>
          <a:p>
            <a:pPr indent="0" marL="0">
              <a:buNone/>
            </a:pPr>
            <a:r>
              <a:rPr lang="en-US" sz="1250" b="1" dirty="0">
                <a:solidFill>
                  <a:srgbClr val="F28C28"/>
                </a:solidFill>
                <a:latin typeface="Calibri" pitchFamily="34" charset="0"/>
                <a:ea typeface="Calibri" pitchFamily="34" charset="-122"/>
                <a:cs typeface="Calibri" pitchFamily="34" charset="-120"/>
              </a:rPr>
              <a:t>Question</a:t>
            </a:r>
            <a:endParaRPr lang="en-US" sz="1250" dirty="0"/>
          </a:p>
        </p:txBody>
      </p:sp>
      <p:sp>
        <p:nvSpPr>
          <p:cNvPr id="27" name="Text 20"/>
          <p:cNvSpPr txBox="1"/>
          <p:nvPr/>
        </p:nvSpPr>
        <p:spPr>
          <a:xfrm>
            <a:off x="8229600" y="5532120"/>
            <a:ext cx="3230575" cy="548640"/>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Votre palier de licence est-il toujours adapté ? Quel volume de contacts prévoyez-vous en 2027 ?</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CDM</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200" b="1" dirty="0">
                <a:solidFill>
                  <a:srgbClr val="06404F"/>
                </a:solidFill>
                <a:latin typeface="Calibri" pitchFamily="34" charset="0"/>
                <a:ea typeface="Calibri" pitchFamily="34" charset="-122"/>
                <a:cs typeface="Calibri" pitchFamily="34" charset="-120"/>
              </a:rPr>
              <a:t>Sécurisation de la configuration et patch du 10 septembre</a:t>
            </a:r>
            <a:endParaRPr lang="en-US" sz="22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Deux interventions techniques menées par Selligent, sans changement d’usage pour vos équipes.</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8</a:t>
            </a:r>
            <a:endParaRPr lang="en-US" sz="900" dirty="0"/>
          </a:p>
        </p:txBody>
      </p:sp>
      <p:sp>
        <p:nvSpPr>
          <p:cNvPr id="8" name="Shape 5"/>
          <p:cNvSpPr/>
          <p:nvPr/>
        </p:nvSpPr>
        <p:spPr>
          <a:xfrm>
            <a:off x="2275789" y="2377440"/>
            <a:ext cx="7640117" cy="0"/>
          </a:xfrm>
          <a:prstGeom prst="line">
            <a:avLst/>
          </a:prstGeom>
          <a:noFill/>
          <a:ln w="25400">
            <a:solidFill>
              <a:srgbClr val="D6E0E3"/>
            </a:solidFill>
            <a:prstDash val="solid"/>
          </a:ln>
        </p:spPr>
      </p:sp>
      <p:sp>
        <p:nvSpPr>
          <p:cNvPr id="9" name="Shape 6"/>
          <p:cNvSpPr/>
          <p:nvPr/>
        </p:nvSpPr>
        <p:spPr>
          <a:xfrm>
            <a:off x="1955749" y="2057400"/>
            <a:ext cx="640080" cy="640080"/>
          </a:xfrm>
          <a:prstGeom prst="ellipse">
            <a:avLst/>
          </a:prstGeom>
          <a:solidFill>
            <a:srgbClr val="06404F"/>
          </a:solidFill>
          <a:ln w="12700">
            <a:solidFill>
              <a:srgbClr val="06404F"/>
            </a:solidFill>
            <a:prstDash val="solid"/>
          </a:ln>
        </p:spPr>
      </p:sp>
      <p:pic>
        <p:nvPicPr>
          <p:cNvPr id="10" name="Image 1" descr="preencoded.png">    </p:cNvPr>
          <p:cNvPicPr>
            <a:picLocks noChangeAspect="1"/>
          </p:cNvPicPr>
          <p:nvPr/>
        </p:nvPicPr>
        <p:blipFill>
          <a:blip r:embed="rId2"/>
          <a:stretch>
            <a:fillRect/>
          </a:stretch>
        </p:blipFill>
        <p:spPr>
          <a:xfrm>
            <a:off x="2122170" y="2223821"/>
            <a:ext cx="307238" cy="307238"/>
          </a:xfrm>
          <a:prstGeom prst="rect">
            <a:avLst/>
          </a:prstGeom>
        </p:spPr>
      </p:pic>
      <p:sp>
        <p:nvSpPr>
          <p:cNvPr id="11" name="Text 7"/>
          <p:cNvSpPr txBox="1"/>
          <p:nvPr/>
        </p:nvSpPr>
        <p:spPr>
          <a:xfrm>
            <a:off x="502920" y="2834640"/>
            <a:ext cx="3545738" cy="274320"/>
          </a:xfrm>
          <a:prstGeom prst="rect">
            <a:avLst/>
          </a:prstGeom>
          <a:noFill/>
          <a:ln/>
        </p:spPr>
        <p:txBody>
          <a:bodyPr wrap="square" lIns="0" tIns="0" rIns="0" bIns="0" rtlCol="0" anchor="t"/>
          <a:lstStyle/>
          <a:p>
            <a:pPr algn="ctr" indent="0" marL="0">
              <a:buNone/>
            </a:pPr>
            <a:r>
              <a:rPr lang="en-US" sz="1100" b="1" dirty="0">
                <a:solidFill>
                  <a:srgbClr val="F28C28"/>
                </a:solidFill>
                <a:latin typeface="Calibri" pitchFamily="34" charset="0"/>
                <a:ea typeface="Calibri" pitchFamily="34" charset="-122"/>
                <a:cs typeface="Calibri" pitchFamily="34" charset="-120"/>
              </a:rPr>
              <a:t>31 août 2026</a:t>
            </a:r>
            <a:endParaRPr lang="en-US" sz="1100" dirty="0"/>
          </a:p>
        </p:txBody>
      </p:sp>
      <p:sp>
        <p:nvSpPr>
          <p:cNvPr id="12" name="Shape 8"/>
          <p:cNvSpPr/>
          <p:nvPr/>
        </p:nvSpPr>
        <p:spPr>
          <a:xfrm>
            <a:off x="502920" y="3200400"/>
            <a:ext cx="3545738"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731520" y="3337560"/>
            <a:ext cx="3088538" cy="365760"/>
          </a:xfrm>
          <a:prstGeom prst="rect">
            <a:avLst/>
          </a:prstGeom>
          <a:noFill/>
          <a:ln/>
        </p:spPr>
        <p:txBody>
          <a:bodyPr wrap="square" lIns="0" tIns="0" rIns="0" bIns="0" rtlCol="0" anchor="ctr"/>
          <a:lstStyle/>
          <a:p>
            <a:pPr indent="0" marL="0">
              <a:buNone/>
            </a:pPr>
            <a:r>
              <a:rPr lang="en-US" sz="1350" b="1" dirty="0">
                <a:solidFill>
                  <a:srgbClr val="06404F"/>
                </a:solidFill>
                <a:latin typeface="Calibri" pitchFamily="34" charset="0"/>
                <a:ea typeface="Calibri" pitchFamily="34" charset="-122"/>
                <a:cs typeface="Calibri" pitchFamily="34" charset="-120"/>
              </a:rPr>
              <a:t>Sécurisation de la configuration</a:t>
            </a:r>
            <a:endParaRPr lang="en-US" sz="1350" dirty="0"/>
          </a:p>
        </p:txBody>
      </p:sp>
      <p:sp>
        <p:nvSpPr>
          <p:cNvPr id="14" name="Text 10"/>
          <p:cNvSpPr txBox="1"/>
          <p:nvPr/>
        </p:nvSpPr>
        <p:spPr>
          <a:xfrm>
            <a:off x="731520" y="3749040"/>
            <a:ext cx="3088538" cy="822960"/>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Solution communiquée et mise en œuvre sur les accès SSO, AdminTool et ConfigTool.</a:t>
            </a:r>
            <a:endParaRPr lang="en-US" sz="1100" dirty="0"/>
          </a:p>
        </p:txBody>
      </p:sp>
      <p:sp>
        <p:nvSpPr>
          <p:cNvPr id="15" name="Shape 11"/>
          <p:cNvSpPr/>
          <p:nvPr/>
        </p:nvSpPr>
        <p:spPr>
          <a:xfrm>
            <a:off x="731520" y="4754880"/>
            <a:ext cx="2377440" cy="274320"/>
          </a:xfrm>
          <a:prstGeom prst="roundRect">
            <a:avLst>
              <a:gd name="adj" fmla="val 50000"/>
            </a:avLst>
          </a:prstGeom>
          <a:solidFill>
            <a:srgbClr val="E3F3EA"/>
          </a:solidFill>
          <a:ln w="12700">
            <a:solidFill>
              <a:srgbClr val="E3F3EA"/>
            </a:solidFill>
            <a:prstDash val="solid"/>
          </a:ln>
        </p:spPr>
      </p:sp>
      <p:sp>
        <p:nvSpPr>
          <p:cNvPr id="16" name="Text 12"/>
          <p:cNvSpPr txBox="1"/>
          <p:nvPr/>
        </p:nvSpPr>
        <p:spPr>
          <a:xfrm>
            <a:off x="731520" y="4754880"/>
            <a:ext cx="2377440" cy="274320"/>
          </a:xfrm>
          <a:prstGeom prst="rect">
            <a:avLst/>
          </a:prstGeom>
          <a:noFill/>
          <a:ln/>
        </p:spPr>
        <p:txBody>
          <a:bodyPr wrap="square" lIns="0" tIns="0" rIns="0" bIns="0" rtlCol="0" anchor="ctr"/>
          <a:lstStyle/>
          <a:p>
            <a:pPr algn="ctr" indent="0" marL="0">
              <a:buNone/>
            </a:pPr>
            <a:r>
              <a:rPr lang="en-US" sz="900" b="1" spc="100" kern="0" dirty="0">
                <a:solidFill>
                  <a:srgbClr val="2E8B57"/>
                </a:solidFill>
                <a:latin typeface="Calibri" pitchFamily="34" charset="0"/>
                <a:ea typeface="Calibri" pitchFamily="34" charset="-122"/>
                <a:cs typeface="Calibri" pitchFamily="34" charset="-120"/>
              </a:rPr>
              <a:t>LIVRÉ</a:t>
            </a:r>
            <a:endParaRPr lang="en-US" sz="900" dirty="0"/>
          </a:p>
        </p:txBody>
      </p:sp>
      <p:sp>
        <p:nvSpPr>
          <p:cNvPr id="17" name="Shape 13"/>
          <p:cNvSpPr/>
          <p:nvPr/>
        </p:nvSpPr>
        <p:spPr>
          <a:xfrm>
            <a:off x="5775808" y="2057400"/>
            <a:ext cx="640080" cy="640080"/>
          </a:xfrm>
          <a:prstGeom prst="ellipse">
            <a:avLst/>
          </a:prstGeom>
          <a:solidFill>
            <a:srgbClr val="06404F"/>
          </a:solidFill>
          <a:ln w="12700">
            <a:solidFill>
              <a:srgbClr val="06404F"/>
            </a:solidFill>
            <a:prstDash val="solid"/>
          </a:ln>
        </p:spPr>
      </p:sp>
      <p:pic>
        <p:nvPicPr>
          <p:cNvPr id="18" name="Image 2" descr="preencoded.png">    </p:cNvPr>
          <p:cNvPicPr>
            <a:picLocks noChangeAspect="1"/>
          </p:cNvPicPr>
          <p:nvPr/>
        </p:nvPicPr>
        <p:blipFill>
          <a:blip r:embed="rId3"/>
          <a:stretch>
            <a:fillRect/>
          </a:stretch>
        </p:blipFill>
        <p:spPr>
          <a:xfrm>
            <a:off x="5942228" y="2223821"/>
            <a:ext cx="307238" cy="307238"/>
          </a:xfrm>
          <a:prstGeom prst="rect">
            <a:avLst/>
          </a:prstGeom>
        </p:spPr>
      </p:pic>
      <p:sp>
        <p:nvSpPr>
          <p:cNvPr id="19" name="Text 14"/>
          <p:cNvSpPr txBox="1"/>
          <p:nvPr/>
        </p:nvSpPr>
        <p:spPr>
          <a:xfrm>
            <a:off x="4322978" y="2834640"/>
            <a:ext cx="3545738" cy="274320"/>
          </a:xfrm>
          <a:prstGeom prst="rect">
            <a:avLst/>
          </a:prstGeom>
          <a:noFill/>
          <a:ln/>
        </p:spPr>
        <p:txBody>
          <a:bodyPr wrap="square" lIns="0" tIns="0" rIns="0" bIns="0" rtlCol="0" anchor="t"/>
          <a:lstStyle/>
          <a:p>
            <a:pPr algn="ctr" indent="0" marL="0">
              <a:buNone/>
            </a:pPr>
            <a:r>
              <a:rPr lang="en-US" sz="1100" b="1" dirty="0">
                <a:solidFill>
                  <a:srgbClr val="F28C28"/>
                </a:solidFill>
                <a:latin typeface="Calibri" pitchFamily="34" charset="0"/>
                <a:ea typeface="Calibri" pitchFamily="34" charset="-122"/>
                <a:cs typeface="Calibri" pitchFamily="34" charset="-120"/>
              </a:rPr>
              <a:t>10 septembre 2026</a:t>
            </a:r>
            <a:endParaRPr lang="en-US" sz="1100" dirty="0"/>
          </a:p>
        </p:txBody>
      </p:sp>
      <p:sp>
        <p:nvSpPr>
          <p:cNvPr id="20" name="Shape 15"/>
          <p:cNvSpPr/>
          <p:nvPr/>
        </p:nvSpPr>
        <p:spPr>
          <a:xfrm>
            <a:off x="4322978" y="3200400"/>
            <a:ext cx="3545738"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1" name="Text 16"/>
          <p:cNvSpPr txBox="1"/>
          <p:nvPr/>
        </p:nvSpPr>
        <p:spPr>
          <a:xfrm>
            <a:off x="4551578" y="3337560"/>
            <a:ext cx="3088538" cy="365760"/>
          </a:xfrm>
          <a:prstGeom prst="rect">
            <a:avLst/>
          </a:prstGeom>
          <a:noFill/>
          <a:ln/>
        </p:spPr>
        <p:txBody>
          <a:bodyPr wrap="square" lIns="0" tIns="0" rIns="0" bIns="0" rtlCol="0" anchor="ctr"/>
          <a:lstStyle/>
          <a:p>
            <a:pPr indent="0" marL="0">
              <a:buNone/>
            </a:pPr>
            <a:r>
              <a:rPr lang="en-US" sz="1350" b="1" dirty="0">
                <a:solidFill>
                  <a:srgbClr val="06404F"/>
                </a:solidFill>
                <a:latin typeface="Calibri" pitchFamily="34" charset="0"/>
                <a:ea typeface="Calibri" pitchFamily="34" charset="-122"/>
                <a:cs typeface="Calibri" pitchFamily="34" charset="-120"/>
              </a:rPr>
              <a:t>Patch asynchrone CDM</a:t>
            </a:r>
            <a:endParaRPr lang="en-US" sz="1350" dirty="0"/>
          </a:p>
        </p:txBody>
      </p:sp>
      <p:sp>
        <p:nvSpPr>
          <p:cNvPr id="22" name="Text 17"/>
          <p:cNvSpPr txBox="1"/>
          <p:nvPr/>
        </p:nvSpPr>
        <p:spPr>
          <a:xfrm>
            <a:off x="4551578" y="3749040"/>
            <a:ext cx="3088538" cy="822960"/>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Déploiement du correctif sur les traitements asynchrones (redescente planifiée).</a:t>
            </a:r>
            <a:endParaRPr lang="en-US" sz="1100" dirty="0"/>
          </a:p>
        </p:txBody>
      </p:sp>
      <p:sp>
        <p:nvSpPr>
          <p:cNvPr id="23" name="Shape 18"/>
          <p:cNvSpPr/>
          <p:nvPr/>
        </p:nvSpPr>
        <p:spPr>
          <a:xfrm>
            <a:off x="4551578" y="4754880"/>
            <a:ext cx="2377440" cy="274320"/>
          </a:xfrm>
          <a:prstGeom prst="roundRect">
            <a:avLst>
              <a:gd name="adj" fmla="val 50000"/>
            </a:avLst>
          </a:prstGeom>
          <a:solidFill>
            <a:srgbClr val="FFF3D6"/>
          </a:solidFill>
          <a:ln w="12700">
            <a:solidFill>
              <a:srgbClr val="FFF3D6"/>
            </a:solidFill>
            <a:prstDash val="solid"/>
          </a:ln>
        </p:spPr>
      </p:sp>
      <p:sp>
        <p:nvSpPr>
          <p:cNvPr id="24" name="Text 19"/>
          <p:cNvSpPr txBox="1"/>
          <p:nvPr/>
        </p:nvSpPr>
        <p:spPr>
          <a:xfrm>
            <a:off x="4551578" y="4754880"/>
            <a:ext cx="2377440" cy="274320"/>
          </a:xfrm>
          <a:prstGeom prst="rect">
            <a:avLst/>
          </a:prstGeom>
          <a:noFill/>
          <a:ln/>
        </p:spPr>
        <p:txBody>
          <a:bodyPr wrap="square" lIns="0" tIns="0" rIns="0" bIns="0" rtlCol="0" anchor="ctr"/>
          <a:lstStyle/>
          <a:p>
            <a:pPr algn="ctr" indent="0" marL="0">
              <a:buNone/>
            </a:pPr>
            <a:r>
              <a:rPr lang="en-US" sz="900" b="1" spc="100" kern="0" dirty="0">
                <a:solidFill>
                  <a:srgbClr val="D99A00"/>
                </a:solidFill>
                <a:latin typeface="Calibri" pitchFamily="34" charset="0"/>
                <a:ea typeface="Calibri" pitchFamily="34" charset="-122"/>
                <a:cs typeface="Calibri" pitchFamily="34" charset="-120"/>
              </a:rPr>
              <a:t>DÉPLOYÉ — EN OBSERVATION</a:t>
            </a:r>
            <a:endParaRPr lang="en-US" sz="900" dirty="0"/>
          </a:p>
        </p:txBody>
      </p:sp>
      <p:sp>
        <p:nvSpPr>
          <p:cNvPr id="25" name="Shape 20"/>
          <p:cNvSpPr/>
          <p:nvPr/>
        </p:nvSpPr>
        <p:spPr>
          <a:xfrm>
            <a:off x="9595866" y="2057400"/>
            <a:ext cx="640080" cy="640080"/>
          </a:xfrm>
          <a:prstGeom prst="ellipse">
            <a:avLst/>
          </a:prstGeom>
          <a:solidFill>
            <a:srgbClr val="06404F"/>
          </a:solidFill>
          <a:ln w="12700">
            <a:solidFill>
              <a:srgbClr val="06404F"/>
            </a:solidFill>
            <a:prstDash val="solid"/>
          </a:ln>
        </p:spPr>
      </p:sp>
      <p:pic>
        <p:nvPicPr>
          <p:cNvPr id="26" name="Image 3" descr="preencoded.png">    </p:cNvPr>
          <p:cNvPicPr>
            <a:picLocks noChangeAspect="1"/>
          </p:cNvPicPr>
          <p:nvPr/>
        </p:nvPicPr>
        <p:blipFill>
          <a:blip r:embed="rId4"/>
          <a:stretch>
            <a:fillRect/>
          </a:stretch>
        </p:blipFill>
        <p:spPr>
          <a:xfrm>
            <a:off x="9762287" y="2223821"/>
            <a:ext cx="307238" cy="307238"/>
          </a:xfrm>
          <a:prstGeom prst="rect">
            <a:avLst/>
          </a:prstGeom>
        </p:spPr>
      </p:pic>
      <p:sp>
        <p:nvSpPr>
          <p:cNvPr id="27" name="Text 21"/>
          <p:cNvSpPr txBox="1"/>
          <p:nvPr/>
        </p:nvSpPr>
        <p:spPr>
          <a:xfrm>
            <a:off x="8143037" y="2834640"/>
            <a:ext cx="3545738" cy="274320"/>
          </a:xfrm>
          <a:prstGeom prst="rect">
            <a:avLst/>
          </a:prstGeom>
          <a:noFill/>
          <a:ln/>
        </p:spPr>
        <p:txBody>
          <a:bodyPr wrap="square" lIns="0" tIns="0" rIns="0" bIns="0" rtlCol="0" anchor="t"/>
          <a:lstStyle/>
          <a:p>
            <a:pPr algn="ctr" indent="0" marL="0">
              <a:buNone/>
            </a:pPr>
            <a:r>
              <a:rPr lang="en-US" sz="1100" b="1" dirty="0">
                <a:solidFill>
                  <a:srgbClr val="F28C28"/>
                </a:solidFill>
                <a:latin typeface="Calibri" pitchFamily="34" charset="0"/>
                <a:ea typeface="Calibri" pitchFamily="34" charset="-122"/>
                <a:cs typeface="Calibri" pitchFamily="34" charset="-120"/>
              </a:rPr>
              <a:t>14 septembre 2026</a:t>
            </a:r>
            <a:endParaRPr lang="en-US" sz="1100" dirty="0"/>
          </a:p>
        </p:txBody>
      </p:sp>
      <p:sp>
        <p:nvSpPr>
          <p:cNvPr id="28" name="Shape 22"/>
          <p:cNvSpPr/>
          <p:nvPr/>
        </p:nvSpPr>
        <p:spPr>
          <a:xfrm>
            <a:off x="8143037" y="3200400"/>
            <a:ext cx="3545738"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9" name="Text 23"/>
          <p:cNvSpPr txBox="1"/>
          <p:nvPr/>
        </p:nvSpPr>
        <p:spPr>
          <a:xfrm>
            <a:off x="8371637" y="3337560"/>
            <a:ext cx="3088538" cy="365760"/>
          </a:xfrm>
          <a:prstGeom prst="rect">
            <a:avLst/>
          </a:prstGeom>
          <a:noFill/>
          <a:ln/>
        </p:spPr>
        <p:txBody>
          <a:bodyPr wrap="square" lIns="0" tIns="0" rIns="0" bIns="0" rtlCol="0" anchor="ctr"/>
          <a:lstStyle/>
          <a:p>
            <a:pPr indent="0" marL="0">
              <a:buNone/>
            </a:pPr>
            <a:r>
              <a:rPr lang="en-US" sz="1350" b="1" dirty="0">
                <a:solidFill>
                  <a:srgbClr val="06404F"/>
                </a:solidFill>
                <a:latin typeface="Calibri" pitchFamily="34" charset="0"/>
                <a:ea typeface="Calibri" pitchFamily="34" charset="-122"/>
                <a:cs typeface="Calibri" pitchFamily="34" charset="-120"/>
              </a:rPr>
              <a:t>Bilan post-patch</a:t>
            </a:r>
            <a:endParaRPr lang="en-US" sz="1350" dirty="0"/>
          </a:p>
        </p:txBody>
      </p:sp>
      <p:sp>
        <p:nvSpPr>
          <p:cNvPr id="30" name="Text 24"/>
          <p:cNvSpPr txBox="1"/>
          <p:nvPr/>
        </p:nvSpPr>
        <p:spPr>
          <a:xfrm>
            <a:off x="8371637" y="3749040"/>
            <a:ext cx="3088538" cy="822960"/>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Vérification conjointe : traitements nominaux, aucun impact opérationnel constaté.</a:t>
            </a:r>
            <a:endParaRPr lang="en-US" sz="1100" dirty="0"/>
          </a:p>
        </p:txBody>
      </p:sp>
      <p:sp>
        <p:nvSpPr>
          <p:cNvPr id="31" name="Shape 25"/>
          <p:cNvSpPr/>
          <p:nvPr/>
        </p:nvSpPr>
        <p:spPr>
          <a:xfrm>
            <a:off x="8371637" y="4754880"/>
            <a:ext cx="2377440" cy="274320"/>
          </a:xfrm>
          <a:prstGeom prst="roundRect">
            <a:avLst>
              <a:gd name="adj" fmla="val 50000"/>
            </a:avLst>
          </a:prstGeom>
          <a:solidFill>
            <a:srgbClr val="E4F0F2"/>
          </a:solidFill>
          <a:ln w="12700">
            <a:solidFill>
              <a:srgbClr val="E4F0F2"/>
            </a:solidFill>
            <a:prstDash val="solid"/>
          </a:ln>
        </p:spPr>
      </p:sp>
      <p:sp>
        <p:nvSpPr>
          <p:cNvPr id="32" name="Text 26"/>
          <p:cNvSpPr txBox="1"/>
          <p:nvPr/>
        </p:nvSpPr>
        <p:spPr>
          <a:xfrm>
            <a:off x="8371637" y="4754880"/>
            <a:ext cx="23774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CE JOUR</a:t>
            </a:r>
            <a:endParaRPr lang="en-US" sz="900" dirty="0"/>
          </a:p>
        </p:txBody>
      </p:sp>
      <p:sp>
        <p:nvSpPr>
          <p:cNvPr id="33" name="Shape 27"/>
          <p:cNvSpPr/>
          <p:nvPr/>
        </p:nvSpPr>
        <p:spPr>
          <a:xfrm>
            <a:off x="502920" y="5349240"/>
            <a:ext cx="5455768" cy="868680"/>
          </a:xfrm>
          <a:prstGeom prst="roundRect">
            <a:avLst>
              <a:gd name="adj" fmla="val 12632"/>
            </a:avLst>
          </a:prstGeom>
          <a:solidFill>
            <a:srgbClr val="F2F8F9"/>
          </a:solidFill>
          <a:ln w="12700">
            <a:solidFill>
              <a:srgbClr val="F2F8F9"/>
            </a:solidFill>
            <a:prstDash val="solid"/>
          </a:ln>
        </p:spPr>
      </p:sp>
      <p:sp>
        <p:nvSpPr>
          <p:cNvPr id="34" name="Shape 28"/>
          <p:cNvSpPr/>
          <p:nvPr/>
        </p:nvSpPr>
        <p:spPr>
          <a:xfrm>
            <a:off x="685800" y="5591556"/>
            <a:ext cx="384048" cy="384048"/>
          </a:xfrm>
          <a:prstGeom prst="ellipse">
            <a:avLst/>
          </a:prstGeom>
          <a:solidFill>
            <a:srgbClr val="06404F"/>
          </a:solidFill>
          <a:ln w="12700">
            <a:solidFill>
              <a:srgbClr val="06404F"/>
            </a:solidFill>
            <a:prstDash val="solid"/>
          </a:ln>
        </p:spPr>
      </p:sp>
      <p:pic>
        <p:nvPicPr>
          <p:cNvPr id="35" name="Image 4" descr="preencoded.png">    </p:cNvPr>
          <p:cNvPicPr>
            <a:picLocks noChangeAspect="1"/>
          </p:cNvPicPr>
          <p:nvPr/>
        </p:nvPicPr>
        <p:blipFill>
          <a:blip r:embed="rId5"/>
          <a:stretch>
            <a:fillRect/>
          </a:stretch>
        </p:blipFill>
        <p:spPr>
          <a:xfrm>
            <a:off x="785652" y="5691408"/>
            <a:ext cx="184343" cy="184343"/>
          </a:xfrm>
          <a:prstGeom prst="rect">
            <a:avLst/>
          </a:prstGeom>
        </p:spPr>
      </p:pic>
      <p:sp>
        <p:nvSpPr>
          <p:cNvPr id="36" name="Text 29"/>
          <p:cNvSpPr txBox="1"/>
          <p:nvPr/>
        </p:nvSpPr>
        <p:spPr>
          <a:xfrm>
            <a:off x="1188720" y="5349240"/>
            <a:ext cx="1737360" cy="86868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Périmètre</a:t>
            </a:r>
            <a:endParaRPr lang="en-US" sz="1250" dirty="0"/>
          </a:p>
        </p:txBody>
      </p:sp>
      <p:sp>
        <p:nvSpPr>
          <p:cNvPr id="37" name="Text 30"/>
          <p:cNvSpPr txBox="1"/>
          <p:nvPr/>
        </p:nvSpPr>
        <p:spPr>
          <a:xfrm>
            <a:off x="3017520" y="5349240"/>
            <a:ext cx="2712568" cy="868680"/>
          </a:xfrm>
          <a:prstGeom prst="rect">
            <a:avLst/>
          </a:prstGeom>
          <a:noFill/>
          <a:ln/>
        </p:spPr>
        <p:txBody>
          <a:bodyPr wrap="square" lIns="0" tIns="0" rIns="0" bIns="0" rtlCol="0" anchor="ctr"/>
          <a:lstStyle/>
          <a:p>
            <a:pPr indent="0" marL="0">
              <a:buNone/>
            </a:pPr>
            <a:r>
              <a:rPr lang="en-US" sz="1050" dirty="0">
                <a:solidFill>
                  <a:srgbClr val="1F2A30"/>
                </a:solidFill>
                <a:latin typeface="Calibri" pitchFamily="34" charset="0"/>
                <a:ea typeface="Calibri" pitchFamily="34" charset="-122"/>
                <a:cs typeface="Calibri" pitchFamily="34" charset="-120"/>
              </a:rPr>
              <a:t>Accès d’administration CDM (SSO technique, AdminTool, ConfigTool) et traitements asynchrones.</a:t>
            </a:r>
            <a:endParaRPr lang="en-US" sz="1050" dirty="0"/>
          </a:p>
        </p:txBody>
      </p:sp>
      <p:sp>
        <p:nvSpPr>
          <p:cNvPr id="38" name="Shape 31"/>
          <p:cNvSpPr/>
          <p:nvPr/>
        </p:nvSpPr>
        <p:spPr>
          <a:xfrm>
            <a:off x="6233008" y="5349240"/>
            <a:ext cx="5455768" cy="868680"/>
          </a:xfrm>
          <a:prstGeom prst="roundRect">
            <a:avLst>
              <a:gd name="adj" fmla="val 12632"/>
            </a:avLst>
          </a:prstGeom>
          <a:solidFill>
            <a:srgbClr val="E3F3EA"/>
          </a:solidFill>
          <a:ln w="12700">
            <a:solidFill>
              <a:srgbClr val="E3F3EA"/>
            </a:solidFill>
            <a:prstDash val="solid"/>
          </a:ln>
        </p:spPr>
      </p:sp>
      <p:sp>
        <p:nvSpPr>
          <p:cNvPr id="39" name="Shape 32"/>
          <p:cNvSpPr/>
          <p:nvPr/>
        </p:nvSpPr>
        <p:spPr>
          <a:xfrm>
            <a:off x="6415888" y="5591556"/>
            <a:ext cx="384048" cy="384048"/>
          </a:xfrm>
          <a:prstGeom prst="ellipse">
            <a:avLst/>
          </a:prstGeom>
          <a:solidFill>
            <a:srgbClr val="2E8B57"/>
          </a:solidFill>
          <a:ln w="12700">
            <a:solidFill>
              <a:srgbClr val="2E8B57"/>
            </a:solidFill>
            <a:prstDash val="solid"/>
          </a:ln>
        </p:spPr>
      </p:sp>
      <p:pic>
        <p:nvPicPr>
          <p:cNvPr id="40" name="Image 5" descr="preencoded.png">    </p:cNvPr>
          <p:cNvPicPr>
            <a:picLocks noChangeAspect="1"/>
          </p:cNvPicPr>
          <p:nvPr/>
        </p:nvPicPr>
        <p:blipFill>
          <a:blip r:embed="rId6"/>
          <a:stretch>
            <a:fillRect/>
          </a:stretch>
        </p:blipFill>
        <p:spPr>
          <a:xfrm>
            <a:off x="6515740" y="5691408"/>
            <a:ext cx="184343" cy="184343"/>
          </a:xfrm>
          <a:prstGeom prst="rect">
            <a:avLst/>
          </a:prstGeom>
        </p:spPr>
      </p:pic>
      <p:sp>
        <p:nvSpPr>
          <p:cNvPr id="41" name="Text 33"/>
          <p:cNvSpPr txBox="1"/>
          <p:nvPr/>
        </p:nvSpPr>
        <p:spPr>
          <a:xfrm>
            <a:off x="6918808" y="5349240"/>
            <a:ext cx="1737360" cy="868680"/>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Pour vos équipes</a:t>
            </a:r>
            <a:endParaRPr lang="en-US" sz="1250" dirty="0"/>
          </a:p>
        </p:txBody>
      </p:sp>
      <p:sp>
        <p:nvSpPr>
          <p:cNvPr id="42" name="Text 34"/>
          <p:cNvSpPr txBox="1"/>
          <p:nvPr/>
        </p:nvSpPr>
        <p:spPr>
          <a:xfrm>
            <a:off x="8747608" y="5349240"/>
            <a:ext cx="2712568" cy="868680"/>
          </a:xfrm>
          <a:prstGeom prst="rect">
            <a:avLst/>
          </a:prstGeom>
          <a:noFill/>
          <a:ln/>
        </p:spPr>
        <p:txBody>
          <a:bodyPr wrap="square" lIns="0" tIns="0" rIns="0" bIns="0" rtlCol="0" anchor="ctr"/>
          <a:lstStyle/>
          <a:p>
            <a:pPr indent="0" marL="0">
              <a:buNone/>
            </a:pPr>
            <a:r>
              <a:rPr lang="en-US" sz="1050" dirty="0">
                <a:solidFill>
                  <a:srgbClr val="1F2A30"/>
                </a:solidFill>
                <a:latin typeface="Calibri" pitchFamily="34" charset="0"/>
                <a:ea typeface="Calibri" pitchFamily="34" charset="-122"/>
                <a:cs typeface="Calibri" pitchFamily="34" charset="-120"/>
              </a:rPr>
              <a:t>Aucune action attendue de votre côté ; accès d’administration mieux sécurisés, bilan d’impact partagé ce jour.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CDM</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Roadmap CDM : cinq étapes de fin 2026 à fin 2027</a:t>
            </a:r>
            <a:endParaRPr lang="en-US" sz="26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Votre CRM évolue de l’ergonomie et de la qualité de donnée vers l’automatisation, puis l’intelligence artificielle en fin de parcours.</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9</a:t>
            </a:r>
            <a:endParaRPr lang="en-US" sz="900" dirty="0"/>
          </a:p>
        </p:txBody>
      </p:sp>
      <p:sp>
        <p:nvSpPr>
          <p:cNvPr id="8" name="Shape 5"/>
          <p:cNvSpPr/>
          <p:nvPr/>
        </p:nvSpPr>
        <p:spPr>
          <a:xfrm>
            <a:off x="1541038" y="2697480"/>
            <a:ext cx="9109619" cy="0"/>
          </a:xfrm>
          <a:prstGeom prst="line">
            <a:avLst/>
          </a:prstGeom>
          <a:noFill/>
          <a:ln w="31750">
            <a:solidFill>
              <a:srgbClr val="D6E0E3"/>
            </a:solidFill>
            <a:prstDash val="solid"/>
          </a:ln>
        </p:spPr>
      </p:sp>
      <p:sp>
        <p:nvSpPr>
          <p:cNvPr id="9" name="Text 6"/>
          <p:cNvSpPr txBox="1"/>
          <p:nvPr/>
        </p:nvSpPr>
        <p:spPr>
          <a:xfrm>
            <a:off x="502920"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Fin 2026</a:t>
            </a:r>
            <a:endParaRPr lang="en-US" sz="1300" dirty="0"/>
          </a:p>
        </p:txBody>
      </p:sp>
      <p:sp>
        <p:nvSpPr>
          <p:cNvPr id="10" name="Shape 7"/>
          <p:cNvSpPr/>
          <p:nvPr/>
        </p:nvSpPr>
        <p:spPr>
          <a:xfrm>
            <a:off x="1266718" y="2423160"/>
            <a:ext cx="548640" cy="548640"/>
          </a:xfrm>
          <a:prstGeom prst="ellipse">
            <a:avLst/>
          </a:prstGeom>
          <a:solidFill>
            <a:srgbClr val="06404F"/>
          </a:solidFill>
          <a:ln w="12700">
            <a:solidFill>
              <a:srgbClr val="06404F"/>
            </a:solidFill>
            <a:prstDash val="solid"/>
          </a:ln>
        </p:spPr>
      </p:sp>
      <p:pic>
        <p:nvPicPr>
          <p:cNvPr id="11" name="Image 1" descr="preencoded.png">    </p:cNvPr>
          <p:cNvPicPr>
            <a:picLocks noChangeAspect="1"/>
          </p:cNvPicPr>
          <p:nvPr/>
        </p:nvPicPr>
        <p:blipFill>
          <a:blip r:embed="rId2"/>
          <a:stretch>
            <a:fillRect/>
          </a:stretch>
        </p:blipFill>
        <p:spPr>
          <a:xfrm>
            <a:off x="1409365" y="2565806"/>
            <a:ext cx="263347" cy="263347"/>
          </a:xfrm>
          <a:prstGeom prst="rect">
            <a:avLst/>
          </a:prstGeom>
        </p:spPr>
      </p:pic>
      <p:sp>
        <p:nvSpPr>
          <p:cNvPr id="12" name="Shape 8"/>
          <p:cNvSpPr/>
          <p:nvPr/>
        </p:nvSpPr>
        <p:spPr>
          <a:xfrm>
            <a:off x="502920"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704088"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Expérience utilisateur</a:t>
            </a:r>
            <a:endParaRPr lang="en-US" sz="1400" dirty="0"/>
          </a:p>
        </p:txBody>
      </p:sp>
      <p:sp>
        <p:nvSpPr>
          <p:cNvPr id="14" name="Shape 10"/>
          <p:cNvSpPr/>
          <p:nvPr/>
        </p:nvSpPr>
        <p:spPr>
          <a:xfrm>
            <a:off x="704088" y="4187952"/>
            <a:ext cx="1673901" cy="0"/>
          </a:xfrm>
          <a:prstGeom prst="line">
            <a:avLst/>
          </a:prstGeom>
          <a:noFill/>
          <a:ln w="9525">
            <a:solidFill>
              <a:srgbClr val="D6E0E3"/>
            </a:solidFill>
            <a:prstDash val="solid"/>
          </a:ln>
        </p:spPr>
      </p:sp>
      <p:sp>
        <p:nvSpPr>
          <p:cNvPr id="15" name="Text 11"/>
          <p:cNvSpPr txBox="1"/>
          <p:nvPr/>
        </p:nvSpPr>
        <p:spPr>
          <a:xfrm>
            <a:off x="704088"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Interface modernisée, vues personnalisables</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Navigation simplifiée vers les fonctions clés</a:t>
            </a:r>
            <a:endParaRPr lang="en-US" sz="1050" dirty="0"/>
          </a:p>
        </p:txBody>
      </p:sp>
      <p:sp>
        <p:nvSpPr>
          <p:cNvPr id="16" name="Text 12"/>
          <p:cNvSpPr txBox="1"/>
          <p:nvPr/>
        </p:nvSpPr>
        <p:spPr>
          <a:xfrm>
            <a:off x="2780325"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Q1 2027</a:t>
            </a:r>
            <a:endParaRPr lang="en-US" sz="1300" dirty="0"/>
          </a:p>
        </p:txBody>
      </p:sp>
      <p:sp>
        <p:nvSpPr>
          <p:cNvPr id="17" name="Shape 13"/>
          <p:cNvSpPr/>
          <p:nvPr/>
        </p:nvSpPr>
        <p:spPr>
          <a:xfrm>
            <a:off x="3544123" y="2423160"/>
            <a:ext cx="548640" cy="548640"/>
          </a:xfrm>
          <a:prstGeom prst="ellipse">
            <a:avLst/>
          </a:prstGeom>
          <a:solidFill>
            <a:srgbClr val="06404F"/>
          </a:solidFill>
          <a:ln w="12700">
            <a:solidFill>
              <a:srgbClr val="06404F"/>
            </a:solidFill>
            <a:prstDash val="solid"/>
          </a:ln>
        </p:spPr>
      </p:sp>
      <p:pic>
        <p:nvPicPr>
          <p:cNvPr id="18" name="Image 2" descr="preencoded.png">    </p:cNvPr>
          <p:cNvPicPr>
            <a:picLocks noChangeAspect="1"/>
          </p:cNvPicPr>
          <p:nvPr/>
        </p:nvPicPr>
        <p:blipFill>
          <a:blip r:embed="rId3"/>
          <a:stretch>
            <a:fillRect/>
          </a:stretch>
        </p:blipFill>
        <p:spPr>
          <a:xfrm>
            <a:off x="3686769" y="2565806"/>
            <a:ext cx="263347" cy="263347"/>
          </a:xfrm>
          <a:prstGeom prst="rect">
            <a:avLst/>
          </a:prstGeom>
        </p:spPr>
      </p:pic>
      <p:sp>
        <p:nvSpPr>
          <p:cNvPr id="19" name="Shape 14"/>
          <p:cNvSpPr/>
          <p:nvPr/>
        </p:nvSpPr>
        <p:spPr>
          <a:xfrm>
            <a:off x="2780325"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0" name="Text 15"/>
          <p:cNvSpPr txBox="1"/>
          <p:nvPr/>
        </p:nvSpPr>
        <p:spPr>
          <a:xfrm>
            <a:off x="2981493"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Vue client 360°</a:t>
            </a:r>
            <a:endParaRPr lang="en-US" sz="1400" dirty="0"/>
          </a:p>
        </p:txBody>
      </p:sp>
      <p:sp>
        <p:nvSpPr>
          <p:cNvPr id="21" name="Shape 16"/>
          <p:cNvSpPr/>
          <p:nvPr/>
        </p:nvSpPr>
        <p:spPr>
          <a:xfrm>
            <a:off x="2981493" y="4187952"/>
            <a:ext cx="1673901" cy="0"/>
          </a:xfrm>
          <a:prstGeom prst="line">
            <a:avLst/>
          </a:prstGeom>
          <a:noFill/>
          <a:ln w="9525">
            <a:solidFill>
              <a:srgbClr val="D6E0E3"/>
            </a:solidFill>
            <a:prstDash val="solid"/>
          </a:ln>
        </p:spPr>
      </p:sp>
      <p:sp>
        <p:nvSpPr>
          <p:cNvPr id="22" name="Text 17"/>
          <p:cNvSpPr txBox="1"/>
          <p:nvPr/>
        </p:nvSpPr>
        <p:spPr>
          <a:xfrm>
            <a:off x="2981493"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Historique, interactions, incidents et opportunités réunis</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Dédoublonnage centralisé et validation automatique</a:t>
            </a:r>
            <a:endParaRPr lang="en-US" sz="1050" dirty="0"/>
          </a:p>
        </p:txBody>
      </p:sp>
      <p:sp>
        <p:nvSpPr>
          <p:cNvPr id="23" name="Text 18"/>
          <p:cNvSpPr txBox="1"/>
          <p:nvPr/>
        </p:nvSpPr>
        <p:spPr>
          <a:xfrm>
            <a:off x="5057729"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Q2 2027</a:t>
            </a:r>
            <a:endParaRPr lang="en-US" sz="1300" dirty="0"/>
          </a:p>
        </p:txBody>
      </p:sp>
      <p:sp>
        <p:nvSpPr>
          <p:cNvPr id="24" name="Shape 19"/>
          <p:cNvSpPr/>
          <p:nvPr/>
        </p:nvSpPr>
        <p:spPr>
          <a:xfrm>
            <a:off x="5821528" y="2423160"/>
            <a:ext cx="548640" cy="548640"/>
          </a:xfrm>
          <a:prstGeom prst="ellipse">
            <a:avLst/>
          </a:prstGeom>
          <a:solidFill>
            <a:srgbClr val="06404F"/>
          </a:solidFill>
          <a:ln w="12700">
            <a:solidFill>
              <a:srgbClr val="06404F"/>
            </a:solidFill>
            <a:prstDash val="solid"/>
          </a:ln>
        </p:spPr>
      </p:sp>
      <p:pic>
        <p:nvPicPr>
          <p:cNvPr id="25" name="Image 3" descr="preencoded.png">    </p:cNvPr>
          <p:cNvPicPr>
            <a:picLocks noChangeAspect="1"/>
          </p:cNvPicPr>
          <p:nvPr/>
        </p:nvPicPr>
        <p:blipFill>
          <a:blip r:embed="rId4"/>
          <a:stretch>
            <a:fillRect/>
          </a:stretch>
        </p:blipFill>
        <p:spPr>
          <a:xfrm>
            <a:off x="5964174" y="2565806"/>
            <a:ext cx="263347" cy="263347"/>
          </a:xfrm>
          <a:prstGeom prst="rect">
            <a:avLst/>
          </a:prstGeom>
        </p:spPr>
      </p:pic>
      <p:sp>
        <p:nvSpPr>
          <p:cNvPr id="26" name="Shape 20"/>
          <p:cNvSpPr/>
          <p:nvPr/>
        </p:nvSpPr>
        <p:spPr>
          <a:xfrm>
            <a:off x="5057729"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7" name="Text 21"/>
          <p:cNvSpPr txBox="1"/>
          <p:nvPr/>
        </p:nvSpPr>
        <p:spPr>
          <a:xfrm>
            <a:off x="5258897"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Automatisation</a:t>
            </a:r>
            <a:endParaRPr lang="en-US" sz="1400" dirty="0"/>
          </a:p>
        </p:txBody>
      </p:sp>
      <p:sp>
        <p:nvSpPr>
          <p:cNvPr id="28" name="Shape 22"/>
          <p:cNvSpPr/>
          <p:nvPr/>
        </p:nvSpPr>
        <p:spPr>
          <a:xfrm>
            <a:off x="5258897" y="4187952"/>
            <a:ext cx="1673901" cy="0"/>
          </a:xfrm>
          <a:prstGeom prst="line">
            <a:avLst/>
          </a:prstGeom>
          <a:noFill/>
          <a:ln w="9525">
            <a:solidFill>
              <a:srgbClr val="D6E0E3"/>
            </a:solidFill>
            <a:prstDash val="solid"/>
          </a:ln>
        </p:spPr>
      </p:sp>
      <p:sp>
        <p:nvSpPr>
          <p:cNvPr id="29" name="Text 23"/>
          <p:cNvSpPr txBox="1"/>
          <p:nvPr/>
        </p:nvSpPr>
        <p:spPr>
          <a:xfrm>
            <a:off x="5258897"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Workflows de relance et gestion d’incidents</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Rappels intelligents sur les échéances clés</a:t>
            </a:r>
            <a:endParaRPr lang="en-US" sz="1050" dirty="0"/>
          </a:p>
        </p:txBody>
      </p:sp>
      <p:sp>
        <p:nvSpPr>
          <p:cNvPr id="30" name="Text 24"/>
          <p:cNvSpPr txBox="1"/>
          <p:nvPr/>
        </p:nvSpPr>
        <p:spPr>
          <a:xfrm>
            <a:off x="7335134"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Q3 2027</a:t>
            </a:r>
            <a:endParaRPr lang="en-US" sz="1300" dirty="0"/>
          </a:p>
        </p:txBody>
      </p:sp>
      <p:sp>
        <p:nvSpPr>
          <p:cNvPr id="31" name="Shape 25"/>
          <p:cNvSpPr/>
          <p:nvPr/>
        </p:nvSpPr>
        <p:spPr>
          <a:xfrm>
            <a:off x="8098932" y="2423160"/>
            <a:ext cx="548640" cy="548640"/>
          </a:xfrm>
          <a:prstGeom prst="ellipse">
            <a:avLst/>
          </a:prstGeom>
          <a:solidFill>
            <a:srgbClr val="06404F"/>
          </a:solidFill>
          <a:ln w="12700">
            <a:solidFill>
              <a:srgbClr val="06404F"/>
            </a:solidFill>
            <a:prstDash val="solid"/>
          </a:ln>
        </p:spPr>
      </p:sp>
      <p:pic>
        <p:nvPicPr>
          <p:cNvPr id="32" name="Image 4" descr="preencoded.png">    </p:cNvPr>
          <p:cNvPicPr>
            <a:picLocks noChangeAspect="1"/>
          </p:cNvPicPr>
          <p:nvPr/>
        </p:nvPicPr>
        <p:blipFill>
          <a:blip r:embed="rId5"/>
          <a:stretch>
            <a:fillRect/>
          </a:stretch>
        </p:blipFill>
        <p:spPr>
          <a:xfrm>
            <a:off x="8241579" y="2565806"/>
            <a:ext cx="263347" cy="263347"/>
          </a:xfrm>
          <a:prstGeom prst="rect">
            <a:avLst/>
          </a:prstGeom>
        </p:spPr>
      </p:pic>
      <p:sp>
        <p:nvSpPr>
          <p:cNvPr id="33" name="Shape 26"/>
          <p:cNvSpPr/>
          <p:nvPr/>
        </p:nvSpPr>
        <p:spPr>
          <a:xfrm>
            <a:off x="7335134"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34" name="Text 27"/>
          <p:cNvSpPr txBox="1"/>
          <p:nvPr/>
        </p:nvSpPr>
        <p:spPr>
          <a:xfrm>
            <a:off x="7536302"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Analytique avancée</a:t>
            </a:r>
            <a:endParaRPr lang="en-US" sz="1400" dirty="0"/>
          </a:p>
        </p:txBody>
      </p:sp>
      <p:sp>
        <p:nvSpPr>
          <p:cNvPr id="35" name="Shape 28"/>
          <p:cNvSpPr/>
          <p:nvPr/>
        </p:nvSpPr>
        <p:spPr>
          <a:xfrm>
            <a:off x="7536302" y="4187952"/>
            <a:ext cx="1673901" cy="0"/>
          </a:xfrm>
          <a:prstGeom prst="line">
            <a:avLst/>
          </a:prstGeom>
          <a:noFill/>
          <a:ln w="9525">
            <a:solidFill>
              <a:srgbClr val="D6E0E3"/>
            </a:solidFill>
            <a:prstDash val="solid"/>
          </a:ln>
        </p:spPr>
      </p:sp>
      <p:sp>
        <p:nvSpPr>
          <p:cNvPr id="36" name="Text 29"/>
          <p:cNvSpPr txBox="1"/>
          <p:nvPr/>
        </p:nvSpPr>
        <p:spPr>
          <a:xfrm>
            <a:off x="7536302"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Tableaux de bord ventes et service client</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Segmentation dynamique et rapports prédictifs</a:t>
            </a:r>
            <a:endParaRPr lang="en-US" sz="1050" dirty="0"/>
          </a:p>
        </p:txBody>
      </p:sp>
      <p:sp>
        <p:nvSpPr>
          <p:cNvPr id="37" name="Text 30"/>
          <p:cNvSpPr txBox="1"/>
          <p:nvPr/>
        </p:nvSpPr>
        <p:spPr>
          <a:xfrm>
            <a:off x="9612539"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Q4 2027</a:t>
            </a:r>
            <a:endParaRPr lang="en-US" sz="1300" dirty="0"/>
          </a:p>
        </p:txBody>
      </p:sp>
      <p:sp>
        <p:nvSpPr>
          <p:cNvPr id="38" name="Shape 31"/>
          <p:cNvSpPr/>
          <p:nvPr/>
        </p:nvSpPr>
        <p:spPr>
          <a:xfrm>
            <a:off x="10376337" y="2423160"/>
            <a:ext cx="548640" cy="548640"/>
          </a:xfrm>
          <a:prstGeom prst="ellipse">
            <a:avLst/>
          </a:prstGeom>
          <a:solidFill>
            <a:srgbClr val="F28C28"/>
          </a:solidFill>
          <a:ln w="12700">
            <a:solidFill>
              <a:srgbClr val="F28C28"/>
            </a:solidFill>
            <a:prstDash val="solid"/>
          </a:ln>
        </p:spPr>
      </p:sp>
      <p:pic>
        <p:nvPicPr>
          <p:cNvPr id="39" name="Image 5" descr="preencoded.png">    </p:cNvPr>
          <p:cNvPicPr>
            <a:picLocks noChangeAspect="1"/>
          </p:cNvPicPr>
          <p:nvPr/>
        </p:nvPicPr>
        <p:blipFill>
          <a:blip r:embed="rId6"/>
          <a:stretch>
            <a:fillRect/>
          </a:stretch>
        </p:blipFill>
        <p:spPr>
          <a:xfrm>
            <a:off x="10518983" y="2565806"/>
            <a:ext cx="263347" cy="263347"/>
          </a:xfrm>
          <a:prstGeom prst="rect">
            <a:avLst/>
          </a:prstGeom>
        </p:spPr>
      </p:pic>
      <p:sp>
        <p:nvSpPr>
          <p:cNvPr id="40" name="Shape 32"/>
          <p:cNvSpPr/>
          <p:nvPr/>
        </p:nvSpPr>
        <p:spPr>
          <a:xfrm>
            <a:off x="9612539"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41" name="Text 33"/>
          <p:cNvSpPr txBox="1"/>
          <p:nvPr/>
        </p:nvSpPr>
        <p:spPr>
          <a:xfrm>
            <a:off x="9813707"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Intelligence artificielle</a:t>
            </a:r>
            <a:endParaRPr lang="en-US" sz="1400" dirty="0"/>
          </a:p>
        </p:txBody>
      </p:sp>
      <p:sp>
        <p:nvSpPr>
          <p:cNvPr id="42" name="Shape 34"/>
          <p:cNvSpPr/>
          <p:nvPr/>
        </p:nvSpPr>
        <p:spPr>
          <a:xfrm>
            <a:off x="9813707" y="4187952"/>
            <a:ext cx="1673901" cy="0"/>
          </a:xfrm>
          <a:prstGeom prst="line">
            <a:avLst/>
          </a:prstGeom>
          <a:noFill/>
          <a:ln w="9525">
            <a:solidFill>
              <a:srgbClr val="D6E0E3"/>
            </a:solidFill>
            <a:prstDash val="solid"/>
          </a:ln>
        </p:spPr>
      </p:sp>
      <p:sp>
        <p:nvSpPr>
          <p:cNvPr id="43" name="Text 35"/>
          <p:cNvSpPr txBox="1"/>
          <p:nvPr/>
        </p:nvSpPr>
        <p:spPr>
          <a:xfrm>
            <a:off x="9813707"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Suggestions d’actions et priorisation des tâches</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Aide à la rédaction, auto-complétion, recherche intelligente</a:t>
            </a:r>
            <a:endParaRPr lang="en-US" sz="1050" dirty="0"/>
          </a:p>
        </p:txBody>
      </p:sp>
      <p:sp>
        <p:nvSpPr>
          <p:cNvPr id="44" name="Text 36"/>
          <p:cNvSpPr txBox="1"/>
          <p:nvPr/>
        </p:nvSpPr>
        <p:spPr>
          <a:xfrm>
            <a:off x="502920" y="5897880"/>
            <a:ext cx="11185855" cy="320040"/>
          </a:xfrm>
          <a:prstGeom prst="rect">
            <a:avLst/>
          </a:prstGeom>
          <a:noFill/>
          <a:ln/>
        </p:spPr>
        <p:txBody>
          <a:bodyPr wrap="square" lIns="0" tIns="0" rIns="0" bIns="0" rtlCol="0" anchor="ctr"/>
          <a:lstStyle/>
          <a:p>
            <a:pPr algn="ctr" indent="0" marL="0">
              <a:buNone/>
            </a:pPr>
            <a:r>
              <a:rPr lang="en-US" sz="1250" b="1" dirty="0">
                <a:solidFill>
                  <a:srgbClr val="06404F"/>
                </a:solidFill>
                <a:latin typeface="Calibri" pitchFamily="34" charset="0"/>
                <a:ea typeface="Calibri" pitchFamily="34" charset="-122"/>
                <a:cs typeface="Calibri" pitchFamily="34" charset="-120"/>
              </a:rPr>
              <a:t>Quelles étapes sont prioritaires pour vos équipes ?</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404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white.png">    </p:cNvPr>
          <p:cNvPicPr>
            <a:picLocks noChangeAspect="1"/>
          </p:cNvPicPr>
          <p:nvPr/>
        </p:nvPicPr>
        <p:blipFill>
          <a:blip r:embed="rId1"/>
          <a:stretch>
            <a:fillRect/>
          </a:stretch>
        </p:blipFill>
        <p:spPr>
          <a:xfrm>
            <a:off x="502920" y="347472"/>
            <a:ext cx="1463040" cy="526895"/>
          </a:xfrm>
          <a:prstGeom prst="rect">
            <a:avLst/>
          </a:prstGeom>
        </p:spPr>
      </p:pic>
      <p:sp>
        <p:nvSpPr>
          <p:cNvPr id="3" name="Shape 0"/>
          <p:cNvSpPr/>
          <p:nvPr/>
        </p:nvSpPr>
        <p:spPr>
          <a:xfrm>
            <a:off x="8778240" y="1097280"/>
            <a:ext cx="4754880" cy="4754880"/>
          </a:xfrm>
          <a:prstGeom prst="ellipse">
            <a:avLst/>
          </a:prstGeom>
          <a:solidFill>
            <a:srgbClr val="0F6B7A">
              <a:alpha val="45000"/>
            </a:srgbClr>
          </a:solidFill>
          <a:ln w="12700">
            <a:solidFill>
              <a:srgbClr val="0F6B7A"/>
            </a:solidFill>
            <a:prstDash val="solid"/>
          </a:ln>
        </p:spPr>
      </p:sp>
      <p:sp>
        <p:nvSpPr>
          <p:cNvPr id="4" name="Shape 1"/>
          <p:cNvSpPr/>
          <p:nvPr/>
        </p:nvSpPr>
        <p:spPr>
          <a:xfrm>
            <a:off x="8138160" y="4206240"/>
            <a:ext cx="1463040" cy="1463040"/>
          </a:xfrm>
          <a:prstGeom prst="ellipse">
            <a:avLst/>
          </a:prstGeom>
          <a:solidFill>
            <a:srgbClr val="F28C28">
              <a:alpha val="85000"/>
            </a:srgbClr>
          </a:solidFill>
          <a:ln w="12700">
            <a:solidFill>
              <a:srgbClr val="F28C28"/>
            </a:solidFill>
            <a:prstDash val="solid"/>
          </a:ln>
        </p:spPr>
      </p:sp>
      <p:sp>
        <p:nvSpPr>
          <p:cNvPr id="5" name="Text 2"/>
          <p:cNvSpPr txBox="1"/>
          <p:nvPr/>
        </p:nvSpPr>
        <p:spPr>
          <a:xfrm>
            <a:off x="502920" y="1417320"/>
            <a:ext cx="2743200" cy="822960"/>
          </a:xfrm>
          <a:prstGeom prst="rect">
            <a:avLst/>
          </a:prstGeom>
          <a:noFill/>
          <a:ln/>
        </p:spPr>
        <p:txBody>
          <a:bodyPr wrap="square" lIns="0" tIns="0" rIns="0" bIns="0" rtlCol="0" anchor="ctr"/>
          <a:lstStyle/>
          <a:p>
            <a:pPr indent="0" marL="0">
              <a:buNone/>
            </a:pPr>
            <a:r>
              <a:rPr lang="en-US" sz="5600" b="1" dirty="0">
                <a:solidFill>
                  <a:srgbClr val="F28C28"/>
                </a:solidFill>
                <a:latin typeface="Calibri" pitchFamily="34" charset="0"/>
                <a:ea typeface="Calibri" pitchFamily="34" charset="-122"/>
                <a:cs typeface="Calibri" pitchFamily="34" charset="-120"/>
              </a:rPr>
              <a:t>02</a:t>
            </a:r>
            <a:endParaRPr lang="en-US" sz="5600" dirty="0"/>
          </a:p>
        </p:txBody>
      </p:sp>
      <p:sp>
        <p:nvSpPr>
          <p:cNvPr id="6" name="Text 3"/>
          <p:cNvSpPr txBox="1"/>
          <p:nvPr/>
        </p:nvSpPr>
        <p:spPr>
          <a:xfrm>
            <a:off x="502920" y="2240280"/>
            <a:ext cx="8503920" cy="12344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Engage — votre plateforme marketing</a:t>
            </a:r>
            <a:endParaRPr lang="en-US" sz="3600" dirty="0"/>
          </a:p>
        </p:txBody>
      </p:sp>
      <p:sp>
        <p:nvSpPr>
          <p:cNvPr id="7" name="Text 4"/>
          <p:cNvSpPr txBox="1"/>
          <p:nvPr/>
        </p:nvSpPr>
        <p:spPr>
          <a:xfrm>
            <a:off x="502920" y="3520440"/>
            <a:ext cx="8503920" cy="411480"/>
          </a:xfrm>
          <a:prstGeom prst="rect">
            <a:avLst/>
          </a:prstGeom>
          <a:noFill/>
          <a:ln/>
        </p:spPr>
        <p:txBody>
          <a:bodyPr wrap="square" lIns="0" tIns="0" rIns="0" bIns="0" rtlCol="0" anchor="ctr"/>
          <a:lstStyle/>
          <a:p>
            <a:pPr indent="0" marL="0">
              <a:buNone/>
            </a:pPr>
            <a:r>
              <a:rPr lang="en-US" sz="1800" dirty="0">
                <a:solidFill>
                  <a:srgbClr val="CFE3E7"/>
                </a:solidFill>
                <a:latin typeface="Calibri" pitchFamily="34" charset="0"/>
                <a:ea typeface="Calibri" pitchFamily="34" charset="-122"/>
                <a:cs typeface="Calibri" pitchFamily="34" charset="-120"/>
              </a:rPr>
              <a:t>Continuité, performance, canaux, produit et conformité</a:t>
            </a:r>
            <a:endParaRPr lang="en-US" sz="1800" dirty="0"/>
          </a:p>
        </p:txBody>
      </p:sp>
      <p:sp>
        <p:nvSpPr>
          <p:cNvPr id="8" name="Text 5"/>
          <p:cNvSpPr txBox="1"/>
          <p:nvPr/>
        </p:nvSpPr>
        <p:spPr>
          <a:xfrm>
            <a:off x="502920" y="4160520"/>
            <a:ext cx="6858000" cy="1737360"/>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Selligent by Zeta : ce qui change, ce qui ne change pas</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Performance email vs secteur</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Volumes SMS et option RCS</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Nouveau SSO Engage : trajectoire</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Pixel d’ouverture et recommandation CNIL</a:t>
            </a:r>
            <a:endParaRPr lang="en-US" sz="1300" dirty="0"/>
          </a:p>
          <a:p>
            <a:pPr marL="152400" indent="-152400">
              <a:spcAft>
                <a:spcPts val="300"/>
              </a:spcAft>
              <a:buSzPct val="100000"/>
              <a:buChar char="•"/>
            </a:pPr>
            <a:r>
              <a:rPr lang="en-US" sz="1300" dirty="0">
                <a:solidFill>
                  <a:srgbClr val="E6F0F2"/>
                </a:solidFill>
                <a:latin typeface="Calibri" pitchFamily="34" charset="0"/>
                <a:ea typeface="Calibri" pitchFamily="34" charset="-122"/>
                <a:cs typeface="Calibri" pitchFamily="34" charset="-120"/>
              </a:rPr>
              <a:t>Roadmap Engage 2026–2027</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ENGAGE</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200" b="1" dirty="0">
                <a:solidFill>
                  <a:srgbClr val="06404F"/>
                </a:solidFill>
                <a:latin typeface="Calibri" pitchFamily="34" charset="0"/>
                <a:ea typeface="Calibri" pitchFamily="34" charset="-122"/>
                <a:cs typeface="Calibri" pitchFamily="34" charset="-120"/>
              </a:rPr>
              <a:t>Selligent by Zeta : ce qui change, ce qui ne change pas</a:t>
            </a:r>
            <a:endParaRPr lang="en-US" sz="22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Selligent fait désormais partie de Zeta Global. Pour Mutuelle Viasanté, la continuité prime : mêmes équipes, mêmes conditions, une plateforme qui continue d’investir.</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11</a:t>
            </a:r>
            <a:endParaRPr lang="en-US" sz="900" dirty="0"/>
          </a:p>
        </p:txBody>
      </p:sp>
      <p:sp>
        <p:nvSpPr>
          <p:cNvPr id="8" name="Shape 5"/>
          <p:cNvSpPr/>
          <p:nvPr/>
        </p:nvSpPr>
        <p:spPr>
          <a:xfrm>
            <a:off x="502920" y="1965960"/>
            <a:ext cx="2645588" cy="3840480"/>
          </a:xfrm>
          <a:prstGeom prst="roundRect">
            <a:avLst>
              <a:gd name="adj" fmla="val 4148"/>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9" name="Shape 6"/>
          <p:cNvSpPr/>
          <p:nvPr/>
        </p:nvSpPr>
        <p:spPr>
          <a:xfrm>
            <a:off x="704088" y="2167128"/>
            <a:ext cx="548640" cy="548640"/>
          </a:xfrm>
          <a:prstGeom prst="ellipse">
            <a:avLst/>
          </a:prstGeom>
          <a:solidFill>
            <a:srgbClr val="06404F"/>
          </a:solidFill>
          <a:ln w="12700">
            <a:solidFill>
              <a:srgbClr val="06404F"/>
            </a:solidFill>
            <a:prstDash val="solid"/>
          </a:ln>
        </p:spPr>
      </p:sp>
      <p:pic>
        <p:nvPicPr>
          <p:cNvPr id="10" name="Image 1" descr="preencoded.png">    </p:cNvPr>
          <p:cNvPicPr>
            <a:picLocks noChangeAspect="1"/>
          </p:cNvPicPr>
          <p:nvPr/>
        </p:nvPicPr>
        <p:blipFill>
          <a:blip r:embed="rId2"/>
          <a:stretch>
            <a:fillRect/>
          </a:stretch>
        </p:blipFill>
        <p:spPr>
          <a:xfrm>
            <a:off x="846734" y="2309774"/>
            <a:ext cx="263347" cy="263347"/>
          </a:xfrm>
          <a:prstGeom prst="rect">
            <a:avLst/>
          </a:prstGeom>
        </p:spPr>
      </p:pic>
      <p:sp>
        <p:nvSpPr>
          <p:cNvPr id="11" name="Text 7"/>
          <p:cNvSpPr txBox="1"/>
          <p:nvPr/>
        </p:nvSpPr>
        <p:spPr>
          <a:xfrm>
            <a:off x="704088" y="2834640"/>
            <a:ext cx="2243252" cy="640080"/>
          </a:xfrm>
          <a:prstGeom prst="rect">
            <a:avLst/>
          </a:prstGeom>
          <a:noFill/>
          <a:ln/>
        </p:spPr>
        <p:txBody>
          <a:bodyPr wrap="square" lIns="0" tIns="0" rIns="0" bIns="0" rtlCol="0" anchor="ctr"/>
          <a:lstStyle/>
          <a:p>
            <a:pPr indent="0" marL="0">
              <a:buNone/>
            </a:pPr>
            <a:r>
              <a:rPr lang="en-US" sz="1350" b="1" dirty="0">
                <a:solidFill>
                  <a:srgbClr val="06404F"/>
                </a:solidFill>
                <a:latin typeface="Calibri" pitchFamily="34" charset="0"/>
                <a:ea typeface="Calibri" pitchFamily="34" charset="-122"/>
                <a:cs typeface="Calibri" pitchFamily="34" charset="-120"/>
              </a:rPr>
              <a:t>Un investissement produit continu</a:t>
            </a:r>
            <a:endParaRPr lang="en-US" sz="1350" dirty="0"/>
          </a:p>
        </p:txBody>
      </p:sp>
      <p:sp>
        <p:nvSpPr>
          <p:cNvPr id="12" name="Shape 8"/>
          <p:cNvSpPr/>
          <p:nvPr/>
        </p:nvSpPr>
        <p:spPr>
          <a:xfrm>
            <a:off x="704088" y="3566160"/>
            <a:ext cx="2243252" cy="0"/>
          </a:xfrm>
          <a:prstGeom prst="line">
            <a:avLst/>
          </a:prstGeom>
          <a:noFill/>
          <a:ln w="9525">
            <a:solidFill>
              <a:srgbClr val="D6E0E3"/>
            </a:solidFill>
            <a:prstDash val="solid"/>
          </a:ln>
        </p:spPr>
      </p:sp>
      <p:sp>
        <p:nvSpPr>
          <p:cNvPr id="13" name="Text 9"/>
          <p:cNvSpPr txBox="1"/>
          <p:nvPr/>
        </p:nvSpPr>
        <p:spPr>
          <a:xfrm>
            <a:off x="704088" y="3703320"/>
            <a:ext cx="2243252" cy="19659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1F2A30"/>
                </a:solidFill>
                <a:latin typeface="Calibri" pitchFamily="34" charset="0"/>
                <a:ea typeface="Calibri" pitchFamily="34" charset="-122"/>
                <a:cs typeface="Calibri" pitchFamily="34" charset="-120"/>
              </a:rPr>
              <a:t>Équipes produit et ingénierie en Belgique, renforcées par des équipes dédiées à l’IA et à la donnée.</a:t>
            </a:r>
            <a:endParaRPr lang="en-US" sz="1100" dirty="0"/>
          </a:p>
          <a:p>
            <a:pPr marL="152400" indent="-152400">
              <a:spcAft>
                <a:spcPts val="600"/>
              </a:spcAft>
              <a:buSzPct val="100000"/>
              <a:buChar char="•"/>
            </a:pPr>
            <a:r>
              <a:rPr lang="en-US" sz="1100" dirty="0">
                <a:solidFill>
                  <a:srgbClr val="1F2A30"/>
                </a:solidFill>
                <a:latin typeface="Calibri" pitchFamily="34" charset="0"/>
                <a:ea typeface="Calibri" pitchFamily="34" charset="-122"/>
                <a:cs typeface="Calibri" pitchFamily="34" charset="-120"/>
              </a:rPr>
              <a:t>Roadmap Engage active : conformité, données, orchestration, intelligence.</a:t>
            </a:r>
            <a:endParaRPr lang="en-US" sz="1100" dirty="0"/>
          </a:p>
        </p:txBody>
      </p:sp>
      <p:sp>
        <p:nvSpPr>
          <p:cNvPr id="14" name="Shape 10"/>
          <p:cNvSpPr/>
          <p:nvPr/>
        </p:nvSpPr>
        <p:spPr>
          <a:xfrm>
            <a:off x="3349676" y="1965960"/>
            <a:ext cx="2645588" cy="3840480"/>
          </a:xfrm>
          <a:prstGeom prst="roundRect">
            <a:avLst>
              <a:gd name="adj" fmla="val 4148"/>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5" name="Shape 11"/>
          <p:cNvSpPr/>
          <p:nvPr/>
        </p:nvSpPr>
        <p:spPr>
          <a:xfrm>
            <a:off x="3550844" y="2167128"/>
            <a:ext cx="548640" cy="548640"/>
          </a:xfrm>
          <a:prstGeom prst="ellipse">
            <a:avLst/>
          </a:prstGeom>
          <a:solidFill>
            <a:srgbClr val="06404F"/>
          </a:solidFill>
          <a:ln w="12700">
            <a:solidFill>
              <a:srgbClr val="06404F"/>
            </a:solidFill>
            <a:prstDash val="solid"/>
          </a:ln>
        </p:spPr>
      </p:sp>
      <p:pic>
        <p:nvPicPr>
          <p:cNvPr id="16" name="Image 2" descr="preencoded.png">    </p:cNvPr>
          <p:cNvPicPr>
            <a:picLocks noChangeAspect="1"/>
          </p:cNvPicPr>
          <p:nvPr/>
        </p:nvPicPr>
        <p:blipFill>
          <a:blip r:embed="rId3"/>
          <a:stretch>
            <a:fillRect/>
          </a:stretch>
        </p:blipFill>
        <p:spPr>
          <a:xfrm>
            <a:off x="3693490" y="2309774"/>
            <a:ext cx="263347" cy="263347"/>
          </a:xfrm>
          <a:prstGeom prst="rect">
            <a:avLst/>
          </a:prstGeom>
        </p:spPr>
      </p:pic>
      <p:sp>
        <p:nvSpPr>
          <p:cNvPr id="17" name="Text 12"/>
          <p:cNvSpPr txBox="1"/>
          <p:nvPr/>
        </p:nvSpPr>
        <p:spPr>
          <a:xfrm>
            <a:off x="3550844" y="2834640"/>
            <a:ext cx="2243252" cy="640080"/>
          </a:xfrm>
          <a:prstGeom prst="rect">
            <a:avLst/>
          </a:prstGeom>
          <a:noFill/>
          <a:ln/>
        </p:spPr>
        <p:txBody>
          <a:bodyPr wrap="square" lIns="0" tIns="0" rIns="0" bIns="0" rtlCol="0" anchor="ctr"/>
          <a:lstStyle/>
          <a:p>
            <a:pPr indent="0" marL="0">
              <a:buNone/>
            </a:pPr>
            <a:r>
              <a:rPr lang="en-US" sz="1350" b="1" dirty="0">
                <a:solidFill>
                  <a:srgbClr val="06404F"/>
                </a:solidFill>
                <a:latin typeface="Calibri" pitchFamily="34" charset="0"/>
                <a:ea typeface="Calibri" pitchFamily="34" charset="-122"/>
                <a:cs typeface="Calibri" pitchFamily="34" charset="-120"/>
              </a:rPr>
              <a:t>Aucune migration imposée</a:t>
            </a:r>
            <a:endParaRPr lang="en-US" sz="1350" dirty="0"/>
          </a:p>
        </p:txBody>
      </p:sp>
      <p:sp>
        <p:nvSpPr>
          <p:cNvPr id="18" name="Shape 13"/>
          <p:cNvSpPr/>
          <p:nvPr/>
        </p:nvSpPr>
        <p:spPr>
          <a:xfrm>
            <a:off x="3550844" y="3566160"/>
            <a:ext cx="2243252" cy="0"/>
          </a:xfrm>
          <a:prstGeom prst="line">
            <a:avLst/>
          </a:prstGeom>
          <a:noFill/>
          <a:ln w="9525">
            <a:solidFill>
              <a:srgbClr val="D6E0E3"/>
            </a:solidFill>
            <a:prstDash val="solid"/>
          </a:ln>
        </p:spPr>
      </p:sp>
      <p:sp>
        <p:nvSpPr>
          <p:cNvPr id="19" name="Text 14"/>
          <p:cNvSpPr txBox="1"/>
          <p:nvPr/>
        </p:nvSpPr>
        <p:spPr>
          <a:xfrm>
            <a:off x="3550844" y="3703320"/>
            <a:ext cx="2243252" cy="19659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1F2A30"/>
                </a:solidFill>
                <a:latin typeface="Calibri" pitchFamily="34" charset="0"/>
                <a:ea typeface="Calibri" pitchFamily="34" charset="-122"/>
                <a:cs typeface="Calibri" pitchFamily="34" charset="-120"/>
              </a:rPr>
              <a:t>Priorité : tirer le meilleur de votre plateforme actuelle.</a:t>
            </a:r>
            <a:endParaRPr lang="en-US" sz="1100" dirty="0"/>
          </a:p>
          <a:p>
            <a:pPr marL="152400" indent="-152400">
              <a:spcAft>
                <a:spcPts val="600"/>
              </a:spcAft>
              <a:buSzPct val="100000"/>
              <a:buChar char="•"/>
            </a:pPr>
            <a:r>
              <a:rPr lang="en-US" sz="1100" dirty="0">
                <a:solidFill>
                  <a:srgbClr val="1F2A30"/>
                </a:solidFill>
                <a:latin typeface="Calibri" pitchFamily="34" charset="0"/>
                <a:ea typeface="Calibri" pitchFamily="34" charset="-122"/>
                <a:cs typeface="Calibri" pitchFamily="34" charset="-120"/>
              </a:rPr>
              <a:t>Les capacités Zeta (IA, données) viennent en complément, uniquement si elles servent vos besoins.</a:t>
            </a:r>
            <a:endParaRPr lang="en-US" sz="1100" dirty="0"/>
          </a:p>
        </p:txBody>
      </p:sp>
      <p:sp>
        <p:nvSpPr>
          <p:cNvPr id="20" name="Shape 15"/>
          <p:cNvSpPr/>
          <p:nvPr/>
        </p:nvSpPr>
        <p:spPr>
          <a:xfrm>
            <a:off x="6196432" y="1965960"/>
            <a:ext cx="2645588" cy="3840480"/>
          </a:xfrm>
          <a:prstGeom prst="roundRect">
            <a:avLst>
              <a:gd name="adj" fmla="val 4148"/>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1" name="Shape 16"/>
          <p:cNvSpPr/>
          <p:nvPr/>
        </p:nvSpPr>
        <p:spPr>
          <a:xfrm>
            <a:off x="6397600" y="2167128"/>
            <a:ext cx="548640" cy="548640"/>
          </a:xfrm>
          <a:prstGeom prst="ellipse">
            <a:avLst/>
          </a:prstGeom>
          <a:solidFill>
            <a:srgbClr val="06404F"/>
          </a:solidFill>
          <a:ln w="12700">
            <a:solidFill>
              <a:srgbClr val="06404F"/>
            </a:solidFill>
            <a:prstDash val="solid"/>
          </a:ln>
        </p:spPr>
      </p:sp>
      <p:pic>
        <p:nvPicPr>
          <p:cNvPr id="22" name="Image 3" descr="preencoded.png">    </p:cNvPr>
          <p:cNvPicPr>
            <a:picLocks noChangeAspect="1"/>
          </p:cNvPicPr>
          <p:nvPr/>
        </p:nvPicPr>
        <p:blipFill>
          <a:blip r:embed="rId4"/>
          <a:stretch>
            <a:fillRect/>
          </a:stretch>
        </p:blipFill>
        <p:spPr>
          <a:xfrm>
            <a:off x="6540246" y="2309774"/>
            <a:ext cx="263347" cy="263347"/>
          </a:xfrm>
          <a:prstGeom prst="rect">
            <a:avLst/>
          </a:prstGeom>
        </p:spPr>
      </p:pic>
      <p:sp>
        <p:nvSpPr>
          <p:cNvPr id="23" name="Text 17"/>
          <p:cNvSpPr txBox="1"/>
          <p:nvPr/>
        </p:nvSpPr>
        <p:spPr>
          <a:xfrm>
            <a:off x="6397600" y="2834640"/>
            <a:ext cx="2243252" cy="640080"/>
          </a:xfrm>
          <a:prstGeom prst="rect">
            <a:avLst/>
          </a:prstGeom>
          <a:noFill/>
          <a:ln/>
        </p:spPr>
        <p:txBody>
          <a:bodyPr wrap="square" lIns="0" tIns="0" rIns="0" bIns="0" rtlCol="0" anchor="ctr"/>
          <a:lstStyle/>
          <a:p>
            <a:pPr indent="0" marL="0">
              <a:buNone/>
            </a:pPr>
            <a:r>
              <a:rPr lang="en-US" sz="1350" b="1" dirty="0">
                <a:solidFill>
                  <a:srgbClr val="06404F"/>
                </a:solidFill>
                <a:latin typeface="Calibri" pitchFamily="34" charset="0"/>
                <a:ea typeface="Calibri" pitchFamily="34" charset="-122"/>
                <a:cs typeface="Calibri" pitchFamily="34" charset="-120"/>
              </a:rPr>
              <a:t>Vos conditions préservées</a:t>
            </a:r>
            <a:endParaRPr lang="en-US" sz="1350" dirty="0"/>
          </a:p>
        </p:txBody>
      </p:sp>
      <p:sp>
        <p:nvSpPr>
          <p:cNvPr id="24" name="Shape 18"/>
          <p:cNvSpPr/>
          <p:nvPr/>
        </p:nvSpPr>
        <p:spPr>
          <a:xfrm>
            <a:off x="6397600" y="3566160"/>
            <a:ext cx="2243252" cy="0"/>
          </a:xfrm>
          <a:prstGeom prst="line">
            <a:avLst/>
          </a:prstGeom>
          <a:noFill/>
          <a:ln w="9525">
            <a:solidFill>
              <a:srgbClr val="D6E0E3"/>
            </a:solidFill>
            <a:prstDash val="solid"/>
          </a:ln>
        </p:spPr>
      </p:sp>
      <p:sp>
        <p:nvSpPr>
          <p:cNvPr id="25" name="Text 19"/>
          <p:cNvSpPr txBox="1"/>
          <p:nvPr/>
        </p:nvSpPr>
        <p:spPr>
          <a:xfrm>
            <a:off x="6397600" y="3703320"/>
            <a:ext cx="2243252" cy="19659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1F2A30"/>
                </a:solidFill>
                <a:latin typeface="Calibri" pitchFamily="34" charset="0"/>
                <a:ea typeface="Calibri" pitchFamily="34" charset="-122"/>
                <a:cs typeface="Calibri" pitchFamily="34" charset="-120"/>
              </a:rPr>
              <a:t>Aucun changement tarifaire imposé au renouvellement pour les clients Selligent.</a:t>
            </a:r>
            <a:endParaRPr lang="en-US" sz="1100" dirty="0"/>
          </a:p>
          <a:p>
            <a:pPr marL="152400" indent="-152400">
              <a:spcAft>
                <a:spcPts val="600"/>
              </a:spcAft>
              <a:buSzPct val="100000"/>
              <a:buChar char="•"/>
            </a:pPr>
            <a:r>
              <a:rPr lang="en-US" sz="1100" dirty="0">
                <a:solidFill>
                  <a:srgbClr val="1F2A30"/>
                </a:solidFill>
                <a:latin typeface="Calibri" pitchFamily="34" charset="0"/>
                <a:ea typeface="Calibri" pitchFamily="34" charset="-122"/>
                <a:cs typeface="Calibri" pitchFamily="34" charset="-120"/>
              </a:rPr>
              <a:t>Vos modules et vos usages restent inchangés.</a:t>
            </a:r>
            <a:endParaRPr lang="en-US" sz="1100" dirty="0"/>
          </a:p>
        </p:txBody>
      </p:sp>
      <p:sp>
        <p:nvSpPr>
          <p:cNvPr id="26" name="Shape 20"/>
          <p:cNvSpPr/>
          <p:nvPr/>
        </p:nvSpPr>
        <p:spPr>
          <a:xfrm>
            <a:off x="9043187" y="1965960"/>
            <a:ext cx="2645588" cy="3840480"/>
          </a:xfrm>
          <a:prstGeom prst="roundRect">
            <a:avLst>
              <a:gd name="adj" fmla="val 4148"/>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7" name="Shape 21"/>
          <p:cNvSpPr/>
          <p:nvPr/>
        </p:nvSpPr>
        <p:spPr>
          <a:xfrm>
            <a:off x="9244355" y="2167128"/>
            <a:ext cx="548640" cy="548640"/>
          </a:xfrm>
          <a:prstGeom prst="ellipse">
            <a:avLst/>
          </a:prstGeom>
          <a:solidFill>
            <a:srgbClr val="06404F"/>
          </a:solidFill>
          <a:ln w="12700">
            <a:solidFill>
              <a:srgbClr val="06404F"/>
            </a:solidFill>
            <a:prstDash val="solid"/>
          </a:ln>
        </p:spPr>
      </p:sp>
      <p:pic>
        <p:nvPicPr>
          <p:cNvPr id="28" name="Image 4" descr="preencoded.png">    </p:cNvPr>
          <p:cNvPicPr>
            <a:picLocks noChangeAspect="1"/>
          </p:cNvPicPr>
          <p:nvPr/>
        </p:nvPicPr>
        <p:blipFill>
          <a:blip r:embed="rId5"/>
          <a:stretch>
            <a:fillRect/>
          </a:stretch>
        </p:blipFill>
        <p:spPr>
          <a:xfrm>
            <a:off x="9387002" y="2309774"/>
            <a:ext cx="263347" cy="263347"/>
          </a:xfrm>
          <a:prstGeom prst="rect">
            <a:avLst/>
          </a:prstGeom>
        </p:spPr>
      </p:pic>
      <p:sp>
        <p:nvSpPr>
          <p:cNvPr id="29" name="Text 22"/>
          <p:cNvSpPr txBox="1"/>
          <p:nvPr/>
        </p:nvSpPr>
        <p:spPr>
          <a:xfrm>
            <a:off x="9244355" y="2834640"/>
            <a:ext cx="2243252" cy="640080"/>
          </a:xfrm>
          <a:prstGeom prst="rect">
            <a:avLst/>
          </a:prstGeom>
          <a:noFill/>
          <a:ln/>
        </p:spPr>
        <p:txBody>
          <a:bodyPr wrap="square" lIns="0" tIns="0" rIns="0" bIns="0" rtlCol="0" anchor="ctr"/>
          <a:lstStyle/>
          <a:p>
            <a:pPr indent="0" marL="0">
              <a:buNone/>
            </a:pPr>
            <a:r>
              <a:rPr lang="en-US" sz="1350" b="1" dirty="0">
                <a:solidFill>
                  <a:srgbClr val="06404F"/>
                </a:solidFill>
                <a:latin typeface="Calibri" pitchFamily="34" charset="0"/>
                <a:ea typeface="Calibri" pitchFamily="34" charset="-122"/>
                <a:cs typeface="Calibri" pitchFamily="34" charset="-120"/>
              </a:rPr>
              <a:t>Europe, RGPD et proximité</a:t>
            </a:r>
            <a:endParaRPr lang="en-US" sz="1350" dirty="0"/>
          </a:p>
        </p:txBody>
      </p:sp>
      <p:sp>
        <p:nvSpPr>
          <p:cNvPr id="30" name="Shape 23"/>
          <p:cNvSpPr/>
          <p:nvPr/>
        </p:nvSpPr>
        <p:spPr>
          <a:xfrm>
            <a:off x="9244355" y="3566160"/>
            <a:ext cx="2243252" cy="0"/>
          </a:xfrm>
          <a:prstGeom prst="line">
            <a:avLst/>
          </a:prstGeom>
          <a:noFill/>
          <a:ln w="9525">
            <a:solidFill>
              <a:srgbClr val="D6E0E3"/>
            </a:solidFill>
            <a:prstDash val="solid"/>
          </a:ln>
        </p:spPr>
      </p:sp>
      <p:sp>
        <p:nvSpPr>
          <p:cNvPr id="31" name="Text 24"/>
          <p:cNvSpPr txBox="1"/>
          <p:nvPr/>
        </p:nvSpPr>
        <p:spPr>
          <a:xfrm>
            <a:off x="9244355" y="3703320"/>
            <a:ext cx="2243252" cy="19659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1F2A30"/>
                </a:solidFill>
                <a:latin typeface="Calibri" pitchFamily="34" charset="0"/>
                <a:ea typeface="Calibri" pitchFamily="34" charset="-122"/>
                <a:cs typeface="Calibri" pitchFamily="34" charset="-120"/>
              </a:rPr>
              <a:t>Stratégie produit fondée sur le marché européen et sur les retours des clients.</a:t>
            </a:r>
            <a:endParaRPr lang="en-US" sz="1100" dirty="0"/>
          </a:p>
          <a:p>
            <a:pPr marL="152400" indent="-152400">
              <a:spcAft>
                <a:spcPts val="600"/>
              </a:spcAft>
              <a:buSzPct val="100000"/>
              <a:buChar char="•"/>
            </a:pPr>
            <a:r>
              <a:rPr lang="en-US" sz="1100" dirty="0">
                <a:solidFill>
                  <a:srgbClr val="1F2A30"/>
                </a:solidFill>
                <a:latin typeface="Calibri" pitchFamily="34" charset="0"/>
                <a:ea typeface="Calibri" pitchFamily="34" charset="-122"/>
                <a:cs typeface="Calibri" pitchFamily="34" charset="-120"/>
              </a:rPr>
              <a:t>RGPD, confidentialité et réglementation européenne restent prioritaires ; vos interlocuteurs restent les mêmes.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ENGAGE</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200" b="1" dirty="0">
                <a:solidFill>
                  <a:srgbClr val="06404F"/>
                </a:solidFill>
                <a:latin typeface="Calibri" pitchFamily="34" charset="0"/>
                <a:ea typeface="Calibri" pitchFamily="34" charset="-122"/>
                <a:cs typeface="Calibri" pitchFamily="34" charset="-120"/>
              </a:rPr>
              <a:t>Email : délivrabilité exemplaire, le clic comme prochain levier</a:t>
            </a:r>
            <a:endParaRPr lang="en-US" sz="22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1 545 190 emails délivrés du 25 février → 23 août 2026 · panel de référence : 48 plateformes Selligent, secteur Services.</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12</a:t>
            </a:r>
            <a:endParaRPr lang="en-US" sz="900" dirty="0"/>
          </a:p>
        </p:txBody>
      </p:sp>
      <p:sp>
        <p:nvSpPr>
          <p:cNvPr id="8" name="Shape 5"/>
          <p:cNvSpPr/>
          <p:nvPr/>
        </p:nvSpPr>
        <p:spPr>
          <a:xfrm>
            <a:off x="502920" y="1874520"/>
            <a:ext cx="2090867"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9" name="Text 6"/>
          <p:cNvSpPr txBox="1"/>
          <p:nvPr/>
        </p:nvSpPr>
        <p:spPr>
          <a:xfrm>
            <a:off x="685800" y="2011680"/>
            <a:ext cx="1725107" cy="274320"/>
          </a:xfrm>
          <a:prstGeom prst="rect">
            <a:avLst/>
          </a:prstGeom>
          <a:noFill/>
          <a:ln/>
        </p:spPr>
        <p:txBody>
          <a:bodyPr wrap="square" lIns="0" tIns="0" rIns="0" bIns="0" rtlCol="0" anchor="ctr"/>
          <a:lstStyle/>
          <a:p>
            <a:pPr indent="0" marL="0">
              <a:buNone/>
            </a:pPr>
            <a:r>
              <a:rPr lang="en-US" sz="1050" b="1" dirty="0">
                <a:solidFill>
                  <a:srgbClr val="6B7B83"/>
                </a:solidFill>
                <a:latin typeface="Calibri" pitchFamily="34" charset="0"/>
                <a:ea typeface="Calibri" pitchFamily="34" charset="-122"/>
                <a:cs typeface="Calibri" pitchFamily="34" charset="-120"/>
              </a:rPr>
              <a:t>Délivrabilité</a:t>
            </a:r>
            <a:endParaRPr lang="en-US" sz="1050" dirty="0"/>
          </a:p>
        </p:txBody>
      </p:sp>
      <p:sp>
        <p:nvSpPr>
          <p:cNvPr id="10" name="Text 7"/>
          <p:cNvSpPr txBox="1"/>
          <p:nvPr/>
        </p:nvSpPr>
        <p:spPr>
          <a:xfrm>
            <a:off x="685800" y="2286000"/>
            <a:ext cx="1725107" cy="502920"/>
          </a:xfrm>
          <a:prstGeom prst="rect">
            <a:avLst/>
          </a:prstGeom>
          <a:noFill/>
          <a:ln/>
        </p:spPr>
        <p:txBody>
          <a:bodyPr wrap="square" lIns="0" tIns="0" rIns="0" bIns="0" rtlCol="0" anchor="ctr"/>
          <a:lstStyle/>
          <a:p>
            <a:pPr indent="0" marL="0">
              <a:buNone/>
            </a:pPr>
            <a:r>
              <a:rPr lang="en-US" sz="2400" b="1" dirty="0">
                <a:solidFill>
                  <a:srgbClr val="06404F"/>
                </a:solidFill>
                <a:latin typeface="Calibri" pitchFamily="34" charset="0"/>
                <a:ea typeface="Calibri" pitchFamily="34" charset="-122"/>
                <a:cs typeface="Calibri" pitchFamily="34" charset="-120"/>
              </a:rPr>
              <a:t>99,37 %</a:t>
            </a:r>
            <a:endParaRPr lang="en-US" sz="2400" dirty="0"/>
          </a:p>
        </p:txBody>
      </p:sp>
      <p:sp>
        <p:nvSpPr>
          <p:cNvPr id="11" name="Shape 8"/>
          <p:cNvSpPr/>
          <p:nvPr/>
        </p:nvSpPr>
        <p:spPr>
          <a:xfrm>
            <a:off x="685800" y="2862072"/>
            <a:ext cx="1725107" cy="274320"/>
          </a:xfrm>
          <a:prstGeom prst="roundRect">
            <a:avLst>
              <a:gd name="adj" fmla="val 50000"/>
            </a:avLst>
          </a:prstGeom>
          <a:solidFill>
            <a:srgbClr val="E3F3EA"/>
          </a:solidFill>
          <a:ln w="12700">
            <a:solidFill>
              <a:srgbClr val="E3F3EA"/>
            </a:solidFill>
            <a:prstDash val="solid"/>
          </a:ln>
        </p:spPr>
      </p:sp>
      <p:sp>
        <p:nvSpPr>
          <p:cNvPr id="12" name="Text 9"/>
          <p:cNvSpPr txBox="1"/>
          <p:nvPr/>
        </p:nvSpPr>
        <p:spPr>
          <a:xfrm>
            <a:off x="685800" y="2862072"/>
            <a:ext cx="1725107" cy="274320"/>
          </a:xfrm>
          <a:prstGeom prst="rect">
            <a:avLst/>
          </a:prstGeom>
          <a:noFill/>
          <a:ln/>
        </p:spPr>
        <p:txBody>
          <a:bodyPr wrap="square" lIns="0" tIns="0" rIns="0" bIns="0" rtlCol="0" anchor="ctr"/>
          <a:lstStyle/>
          <a:p>
            <a:pPr algn="ctr" indent="0" marL="0">
              <a:buNone/>
            </a:pPr>
            <a:r>
              <a:rPr lang="en-US" sz="900" b="1" spc="100" kern="0" dirty="0">
                <a:solidFill>
                  <a:srgbClr val="2E8B57"/>
                </a:solidFill>
                <a:latin typeface="Calibri" pitchFamily="34" charset="0"/>
                <a:ea typeface="Calibri" pitchFamily="34" charset="-122"/>
                <a:cs typeface="Calibri" pitchFamily="34" charset="-120"/>
              </a:rPr>
              <a:t>▲  secteur 98,72 %</a:t>
            </a:r>
            <a:endParaRPr lang="en-US" sz="900" dirty="0"/>
          </a:p>
        </p:txBody>
      </p:sp>
      <p:sp>
        <p:nvSpPr>
          <p:cNvPr id="13" name="Shape 10"/>
          <p:cNvSpPr/>
          <p:nvPr/>
        </p:nvSpPr>
        <p:spPr>
          <a:xfrm>
            <a:off x="2776667" y="1874520"/>
            <a:ext cx="2090867"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2959547" y="2011680"/>
            <a:ext cx="1725107" cy="274320"/>
          </a:xfrm>
          <a:prstGeom prst="rect">
            <a:avLst/>
          </a:prstGeom>
          <a:noFill/>
          <a:ln/>
        </p:spPr>
        <p:txBody>
          <a:bodyPr wrap="square" lIns="0" tIns="0" rIns="0" bIns="0" rtlCol="0" anchor="ctr"/>
          <a:lstStyle/>
          <a:p>
            <a:pPr indent="0" marL="0">
              <a:buNone/>
            </a:pPr>
            <a:r>
              <a:rPr lang="en-US" sz="1050" b="1" dirty="0">
                <a:solidFill>
                  <a:srgbClr val="6B7B83"/>
                </a:solidFill>
                <a:latin typeface="Calibri" pitchFamily="34" charset="0"/>
                <a:ea typeface="Calibri" pitchFamily="34" charset="-122"/>
                <a:cs typeface="Calibri" pitchFamily="34" charset="-120"/>
              </a:rPr>
              <a:t>Taux d’ouverture</a:t>
            </a:r>
            <a:endParaRPr lang="en-US" sz="1050" dirty="0"/>
          </a:p>
        </p:txBody>
      </p:sp>
      <p:sp>
        <p:nvSpPr>
          <p:cNvPr id="15" name="Text 12"/>
          <p:cNvSpPr txBox="1"/>
          <p:nvPr/>
        </p:nvSpPr>
        <p:spPr>
          <a:xfrm>
            <a:off x="2959547" y="2286000"/>
            <a:ext cx="1725107" cy="502920"/>
          </a:xfrm>
          <a:prstGeom prst="rect">
            <a:avLst/>
          </a:prstGeom>
          <a:noFill/>
          <a:ln/>
        </p:spPr>
        <p:txBody>
          <a:bodyPr wrap="square" lIns="0" tIns="0" rIns="0" bIns="0" rtlCol="0" anchor="ctr"/>
          <a:lstStyle/>
          <a:p>
            <a:pPr indent="0" marL="0">
              <a:buNone/>
            </a:pPr>
            <a:r>
              <a:rPr lang="en-US" sz="2400" b="1" dirty="0">
                <a:solidFill>
                  <a:srgbClr val="06404F"/>
                </a:solidFill>
                <a:latin typeface="Calibri" pitchFamily="34" charset="0"/>
                <a:ea typeface="Calibri" pitchFamily="34" charset="-122"/>
                <a:cs typeface="Calibri" pitchFamily="34" charset="-120"/>
              </a:rPr>
              <a:t>46,67 %</a:t>
            </a:r>
            <a:endParaRPr lang="en-US" sz="2400" dirty="0"/>
          </a:p>
        </p:txBody>
      </p:sp>
      <p:sp>
        <p:nvSpPr>
          <p:cNvPr id="16" name="Shape 13"/>
          <p:cNvSpPr/>
          <p:nvPr/>
        </p:nvSpPr>
        <p:spPr>
          <a:xfrm>
            <a:off x="2959547" y="2862072"/>
            <a:ext cx="1725107" cy="274320"/>
          </a:xfrm>
          <a:prstGeom prst="roundRect">
            <a:avLst>
              <a:gd name="adj" fmla="val 50000"/>
            </a:avLst>
          </a:prstGeom>
          <a:solidFill>
            <a:srgbClr val="E3F3EA"/>
          </a:solidFill>
          <a:ln w="12700">
            <a:solidFill>
              <a:srgbClr val="E3F3EA"/>
            </a:solidFill>
            <a:prstDash val="solid"/>
          </a:ln>
        </p:spPr>
      </p:sp>
      <p:sp>
        <p:nvSpPr>
          <p:cNvPr id="17" name="Text 14"/>
          <p:cNvSpPr txBox="1"/>
          <p:nvPr/>
        </p:nvSpPr>
        <p:spPr>
          <a:xfrm>
            <a:off x="2959547" y="2862072"/>
            <a:ext cx="1725107" cy="274320"/>
          </a:xfrm>
          <a:prstGeom prst="rect">
            <a:avLst/>
          </a:prstGeom>
          <a:noFill/>
          <a:ln/>
        </p:spPr>
        <p:txBody>
          <a:bodyPr wrap="square" lIns="0" tIns="0" rIns="0" bIns="0" rtlCol="0" anchor="ctr"/>
          <a:lstStyle/>
          <a:p>
            <a:pPr algn="ctr" indent="0" marL="0">
              <a:buNone/>
            </a:pPr>
            <a:r>
              <a:rPr lang="en-US" sz="900" b="1" spc="100" kern="0" dirty="0">
                <a:solidFill>
                  <a:srgbClr val="2E8B57"/>
                </a:solidFill>
                <a:latin typeface="Calibri" pitchFamily="34" charset="0"/>
                <a:ea typeface="Calibri" pitchFamily="34" charset="-122"/>
                <a:cs typeface="Calibri" pitchFamily="34" charset="-120"/>
              </a:rPr>
              <a:t>▲  secteur 27,25 %</a:t>
            </a:r>
            <a:endParaRPr lang="en-US" sz="900" dirty="0"/>
          </a:p>
        </p:txBody>
      </p:sp>
      <p:sp>
        <p:nvSpPr>
          <p:cNvPr id="18" name="Shape 15"/>
          <p:cNvSpPr/>
          <p:nvPr/>
        </p:nvSpPr>
        <p:spPr>
          <a:xfrm>
            <a:off x="5050414" y="1874520"/>
            <a:ext cx="2090867"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9" name="Text 16"/>
          <p:cNvSpPr txBox="1"/>
          <p:nvPr/>
        </p:nvSpPr>
        <p:spPr>
          <a:xfrm>
            <a:off x="5233294" y="2011680"/>
            <a:ext cx="1725107" cy="274320"/>
          </a:xfrm>
          <a:prstGeom prst="rect">
            <a:avLst/>
          </a:prstGeom>
          <a:noFill/>
          <a:ln/>
        </p:spPr>
        <p:txBody>
          <a:bodyPr wrap="square" lIns="0" tIns="0" rIns="0" bIns="0" rtlCol="0" anchor="ctr"/>
          <a:lstStyle/>
          <a:p>
            <a:pPr indent="0" marL="0">
              <a:buNone/>
            </a:pPr>
            <a:r>
              <a:rPr lang="en-US" sz="1050" b="1" dirty="0">
                <a:solidFill>
                  <a:srgbClr val="6B7B83"/>
                </a:solidFill>
                <a:latin typeface="Calibri" pitchFamily="34" charset="0"/>
                <a:ea typeface="Calibri" pitchFamily="34" charset="-122"/>
                <a:cs typeface="Calibri" pitchFamily="34" charset="-120"/>
              </a:rPr>
              <a:t>Clics / ouvertures</a:t>
            </a:r>
            <a:endParaRPr lang="en-US" sz="1050" dirty="0"/>
          </a:p>
        </p:txBody>
      </p:sp>
      <p:sp>
        <p:nvSpPr>
          <p:cNvPr id="20" name="Text 17"/>
          <p:cNvSpPr txBox="1"/>
          <p:nvPr/>
        </p:nvSpPr>
        <p:spPr>
          <a:xfrm>
            <a:off x="5233294" y="2286000"/>
            <a:ext cx="1725107" cy="502920"/>
          </a:xfrm>
          <a:prstGeom prst="rect">
            <a:avLst/>
          </a:prstGeom>
          <a:noFill/>
          <a:ln/>
        </p:spPr>
        <p:txBody>
          <a:bodyPr wrap="square" lIns="0" tIns="0" rIns="0" bIns="0" rtlCol="0" anchor="ctr"/>
          <a:lstStyle/>
          <a:p>
            <a:pPr indent="0" marL="0">
              <a:buNone/>
            </a:pPr>
            <a:r>
              <a:rPr lang="en-US" sz="2400" b="1" dirty="0">
                <a:solidFill>
                  <a:srgbClr val="06404F"/>
                </a:solidFill>
                <a:latin typeface="Calibri" pitchFamily="34" charset="0"/>
                <a:ea typeface="Calibri" pitchFamily="34" charset="-122"/>
                <a:cs typeface="Calibri" pitchFamily="34" charset="-120"/>
              </a:rPr>
              <a:t>4,08 %</a:t>
            </a:r>
            <a:endParaRPr lang="en-US" sz="2400" dirty="0"/>
          </a:p>
        </p:txBody>
      </p:sp>
      <p:sp>
        <p:nvSpPr>
          <p:cNvPr id="21" name="Shape 18"/>
          <p:cNvSpPr/>
          <p:nvPr/>
        </p:nvSpPr>
        <p:spPr>
          <a:xfrm>
            <a:off x="5233294" y="2862072"/>
            <a:ext cx="1725107" cy="274320"/>
          </a:xfrm>
          <a:prstGeom prst="roundRect">
            <a:avLst>
              <a:gd name="adj" fmla="val 50000"/>
            </a:avLst>
          </a:prstGeom>
          <a:solidFill>
            <a:srgbClr val="FFF3D6"/>
          </a:solidFill>
          <a:ln w="12700">
            <a:solidFill>
              <a:srgbClr val="FFF3D6"/>
            </a:solidFill>
            <a:prstDash val="solid"/>
          </a:ln>
        </p:spPr>
      </p:sp>
      <p:sp>
        <p:nvSpPr>
          <p:cNvPr id="22" name="Text 19"/>
          <p:cNvSpPr txBox="1"/>
          <p:nvPr/>
        </p:nvSpPr>
        <p:spPr>
          <a:xfrm>
            <a:off x="5233294" y="2862072"/>
            <a:ext cx="1725107" cy="274320"/>
          </a:xfrm>
          <a:prstGeom prst="rect">
            <a:avLst/>
          </a:prstGeom>
          <a:noFill/>
          <a:ln/>
        </p:spPr>
        <p:txBody>
          <a:bodyPr wrap="square" lIns="0" tIns="0" rIns="0" bIns="0" rtlCol="0" anchor="ctr"/>
          <a:lstStyle/>
          <a:p>
            <a:pPr algn="ctr" indent="0" marL="0">
              <a:buNone/>
            </a:pPr>
            <a:r>
              <a:rPr lang="en-US" sz="900" b="1" spc="100" kern="0" dirty="0">
                <a:solidFill>
                  <a:srgbClr val="D99A00"/>
                </a:solidFill>
                <a:latin typeface="Calibri" pitchFamily="34" charset="0"/>
                <a:ea typeface="Calibri" pitchFamily="34" charset="-122"/>
                <a:cs typeface="Calibri" pitchFamily="34" charset="-120"/>
              </a:rPr>
              <a:t>▼  secteur 11,20 %</a:t>
            </a:r>
            <a:endParaRPr lang="en-US" sz="900" dirty="0"/>
          </a:p>
        </p:txBody>
      </p:sp>
      <p:sp>
        <p:nvSpPr>
          <p:cNvPr id="23" name="Shape 20"/>
          <p:cNvSpPr/>
          <p:nvPr/>
        </p:nvSpPr>
        <p:spPr>
          <a:xfrm>
            <a:off x="7324161" y="1874520"/>
            <a:ext cx="2090867"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4" name="Text 21"/>
          <p:cNvSpPr txBox="1"/>
          <p:nvPr/>
        </p:nvSpPr>
        <p:spPr>
          <a:xfrm>
            <a:off x="7507041" y="2011680"/>
            <a:ext cx="1725107" cy="274320"/>
          </a:xfrm>
          <a:prstGeom prst="rect">
            <a:avLst/>
          </a:prstGeom>
          <a:noFill/>
          <a:ln/>
        </p:spPr>
        <p:txBody>
          <a:bodyPr wrap="square" lIns="0" tIns="0" rIns="0" bIns="0" rtlCol="0" anchor="ctr"/>
          <a:lstStyle/>
          <a:p>
            <a:pPr indent="0" marL="0">
              <a:buNone/>
            </a:pPr>
            <a:r>
              <a:rPr lang="en-US" sz="1050" b="1" dirty="0">
                <a:solidFill>
                  <a:srgbClr val="6B7B83"/>
                </a:solidFill>
                <a:latin typeface="Calibri" pitchFamily="34" charset="0"/>
                <a:ea typeface="Calibri" pitchFamily="34" charset="-122"/>
                <a:cs typeface="Calibri" pitchFamily="34" charset="-120"/>
              </a:rPr>
              <a:t>Clics / délivrés</a:t>
            </a:r>
            <a:endParaRPr lang="en-US" sz="1050" dirty="0"/>
          </a:p>
        </p:txBody>
      </p:sp>
      <p:sp>
        <p:nvSpPr>
          <p:cNvPr id="25" name="Text 22"/>
          <p:cNvSpPr txBox="1"/>
          <p:nvPr/>
        </p:nvSpPr>
        <p:spPr>
          <a:xfrm>
            <a:off x="7507041" y="2286000"/>
            <a:ext cx="1725107" cy="502920"/>
          </a:xfrm>
          <a:prstGeom prst="rect">
            <a:avLst/>
          </a:prstGeom>
          <a:noFill/>
          <a:ln/>
        </p:spPr>
        <p:txBody>
          <a:bodyPr wrap="square" lIns="0" tIns="0" rIns="0" bIns="0" rtlCol="0" anchor="ctr"/>
          <a:lstStyle/>
          <a:p>
            <a:pPr indent="0" marL="0">
              <a:buNone/>
            </a:pPr>
            <a:r>
              <a:rPr lang="en-US" sz="2400" b="1" dirty="0">
                <a:solidFill>
                  <a:srgbClr val="06404F"/>
                </a:solidFill>
                <a:latin typeface="Calibri" pitchFamily="34" charset="0"/>
                <a:ea typeface="Calibri" pitchFamily="34" charset="-122"/>
                <a:cs typeface="Calibri" pitchFamily="34" charset="-120"/>
              </a:rPr>
              <a:t>1,91 %</a:t>
            </a:r>
            <a:endParaRPr lang="en-US" sz="2400" dirty="0"/>
          </a:p>
        </p:txBody>
      </p:sp>
      <p:sp>
        <p:nvSpPr>
          <p:cNvPr id="26" name="Shape 23"/>
          <p:cNvSpPr/>
          <p:nvPr/>
        </p:nvSpPr>
        <p:spPr>
          <a:xfrm>
            <a:off x="7507041" y="2862072"/>
            <a:ext cx="1725107" cy="274320"/>
          </a:xfrm>
          <a:prstGeom prst="roundRect">
            <a:avLst>
              <a:gd name="adj" fmla="val 50000"/>
            </a:avLst>
          </a:prstGeom>
          <a:solidFill>
            <a:srgbClr val="FFF3D6"/>
          </a:solidFill>
          <a:ln w="12700">
            <a:solidFill>
              <a:srgbClr val="FFF3D6"/>
            </a:solidFill>
            <a:prstDash val="solid"/>
          </a:ln>
        </p:spPr>
      </p:sp>
      <p:sp>
        <p:nvSpPr>
          <p:cNvPr id="27" name="Text 24"/>
          <p:cNvSpPr txBox="1"/>
          <p:nvPr/>
        </p:nvSpPr>
        <p:spPr>
          <a:xfrm>
            <a:off x="7507041" y="2862072"/>
            <a:ext cx="1725107" cy="274320"/>
          </a:xfrm>
          <a:prstGeom prst="rect">
            <a:avLst/>
          </a:prstGeom>
          <a:noFill/>
          <a:ln/>
        </p:spPr>
        <p:txBody>
          <a:bodyPr wrap="square" lIns="0" tIns="0" rIns="0" bIns="0" rtlCol="0" anchor="ctr"/>
          <a:lstStyle/>
          <a:p>
            <a:pPr algn="ctr" indent="0" marL="0">
              <a:buNone/>
            </a:pPr>
            <a:r>
              <a:rPr lang="en-US" sz="900" b="1" spc="100" kern="0" dirty="0">
                <a:solidFill>
                  <a:srgbClr val="D99A00"/>
                </a:solidFill>
                <a:latin typeface="Calibri" pitchFamily="34" charset="0"/>
                <a:ea typeface="Calibri" pitchFamily="34" charset="-122"/>
                <a:cs typeface="Calibri" pitchFamily="34" charset="-120"/>
              </a:rPr>
              <a:t>▼  secteur 3,05 %</a:t>
            </a:r>
            <a:endParaRPr lang="en-US" sz="900" dirty="0"/>
          </a:p>
        </p:txBody>
      </p:sp>
      <p:sp>
        <p:nvSpPr>
          <p:cNvPr id="28" name="Shape 25"/>
          <p:cNvSpPr/>
          <p:nvPr/>
        </p:nvSpPr>
        <p:spPr>
          <a:xfrm>
            <a:off x="9597908" y="1874520"/>
            <a:ext cx="2090867"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9" name="Text 26"/>
          <p:cNvSpPr txBox="1"/>
          <p:nvPr/>
        </p:nvSpPr>
        <p:spPr>
          <a:xfrm>
            <a:off x="9780788" y="2011680"/>
            <a:ext cx="1725107" cy="274320"/>
          </a:xfrm>
          <a:prstGeom prst="rect">
            <a:avLst/>
          </a:prstGeom>
          <a:noFill/>
          <a:ln/>
        </p:spPr>
        <p:txBody>
          <a:bodyPr wrap="square" lIns="0" tIns="0" rIns="0" bIns="0" rtlCol="0" anchor="ctr"/>
          <a:lstStyle/>
          <a:p>
            <a:pPr indent="0" marL="0">
              <a:buNone/>
            </a:pPr>
            <a:r>
              <a:rPr lang="en-US" sz="1050" b="1" dirty="0">
                <a:solidFill>
                  <a:srgbClr val="6B7B83"/>
                </a:solidFill>
                <a:latin typeface="Calibri" pitchFamily="34" charset="0"/>
                <a:ea typeface="Calibri" pitchFamily="34" charset="-122"/>
                <a:cs typeface="Calibri" pitchFamily="34" charset="-120"/>
              </a:rPr>
              <a:t>Désabonnement</a:t>
            </a:r>
            <a:endParaRPr lang="en-US" sz="1050" dirty="0"/>
          </a:p>
        </p:txBody>
      </p:sp>
      <p:sp>
        <p:nvSpPr>
          <p:cNvPr id="30" name="Text 27"/>
          <p:cNvSpPr txBox="1"/>
          <p:nvPr/>
        </p:nvSpPr>
        <p:spPr>
          <a:xfrm>
            <a:off x="9780788" y="2286000"/>
            <a:ext cx="1725107" cy="502920"/>
          </a:xfrm>
          <a:prstGeom prst="rect">
            <a:avLst/>
          </a:prstGeom>
          <a:noFill/>
          <a:ln/>
        </p:spPr>
        <p:txBody>
          <a:bodyPr wrap="square" lIns="0" tIns="0" rIns="0" bIns="0" rtlCol="0" anchor="ctr"/>
          <a:lstStyle/>
          <a:p>
            <a:pPr indent="0" marL="0">
              <a:buNone/>
            </a:pPr>
            <a:r>
              <a:rPr lang="en-US" sz="2400" b="1" dirty="0">
                <a:solidFill>
                  <a:srgbClr val="06404F"/>
                </a:solidFill>
                <a:latin typeface="Calibri" pitchFamily="34" charset="0"/>
                <a:ea typeface="Calibri" pitchFamily="34" charset="-122"/>
                <a:cs typeface="Calibri" pitchFamily="34" charset="-120"/>
              </a:rPr>
              <a:t>0,30 %</a:t>
            </a:r>
            <a:endParaRPr lang="en-US" sz="2400" dirty="0"/>
          </a:p>
        </p:txBody>
      </p:sp>
      <p:sp>
        <p:nvSpPr>
          <p:cNvPr id="31" name="Shape 28"/>
          <p:cNvSpPr/>
          <p:nvPr/>
        </p:nvSpPr>
        <p:spPr>
          <a:xfrm>
            <a:off x="9780788" y="2862072"/>
            <a:ext cx="1725107" cy="274320"/>
          </a:xfrm>
          <a:prstGeom prst="roundRect">
            <a:avLst>
              <a:gd name="adj" fmla="val 50000"/>
            </a:avLst>
          </a:prstGeom>
          <a:solidFill>
            <a:srgbClr val="FFF3D6"/>
          </a:solidFill>
          <a:ln w="12700">
            <a:solidFill>
              <a:srgbClr val="FFF3D6"/>
            </a:solidFill>
            <a:prstDash val="solid"/>
          </a:ln>
        </p:spPr>
      </p:sp>
      <p:sp>
        <p:nvSpPr>
          <p:cNvPr id="32" name="Text 29"/>
          <p:cNvSpPr txBox="1"/>
          <p:nvPr/>
        </p:nvSpPr>
        <p:spPr>
          <a:xfrm>
            <a:off x="9780788" y="2862072"/>
            <a:ext cx="1725107" cy="274320"/>
          </a:xfrm>
          <a:prstGeom prst="rect">
            <a:avLst/>
          </a:prstGeom>
          <a:noFill/>
          <a:ln/>
        </p:spPr>
        <p:txBody>
          <a:bodyPr wrap="square" lIns="0" tIns="0" rIns="0" bIns="0" rtlCol="0" anchor="ctr"/>
          <a:lstStyle/>
          <a:p>
            <a:pPr algn="ctr" indent="0" marL="0">
              <a:buNone/>
            </a:pPr>
            <a:r>
              <a:rPr lang="en-US" sz="900" b="1" spc="100" kern="0" dirty="0">
                <a:solidFill>
                  <a:srgbClr val="D99A00"/>
                </a:solidFill>
                <a:latin typeface="Calibri" pitchFamily="34" charset="0"/>
                <a:ea typeface="Calibri" pitchFamily="34" charset="-122"/>
                <a:cs typeface="Calibri" pitchFamily="34" charset="-120"/>
              </a:rPr>
              <a:t>▼  secteur 0,20 %</a:t>
            </a:r>
            <a:endParaRPr lang="en-US" sz="900" dirty="0"/>
          </a:p>
        </p:txBody>
      </p:sp>
      <p:sp>
        <p:nvSpPr>
          <p:cNvPr id="33" name="Shape 30"/>
          <p:cNvSpPr/>
          <p:nvPr/>
        </p:nvSpPr>
        <p:spPr>
          <a:xfrm>
            <a:off x="502920" y="3429000"/>
            <a:ext cx="6035040" cy="2788920"/>
          </a:xfrm>
          <a:prstGeom prst="roundRect">
            <a:avLst>
              <a:gd name="adj" fmla="val 3934"/>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34" name="Text 31"/>
          <p:cNvSpPr txBox="1"/>
          <p:nvPr/>
        </p:nvSpPr>
        <p:spPr>
          <a:xfrm>
            <a:off x="731520" y="3538728"/>
            <a:ext cx="5577840" cy="274320"/>
          </a:xfrm>
          <a:prstGeom prst="rect">
            <a:avLst/>
          </a:prstGeom>
          <a:noFill/>
          <a:ln/>
        </p:spPr>
        <p:txBody>
          <a:bodyPr wrap="square" lIns="0" tIns="0" rIns="0" bIns="0" rtlCol="0" anchor="t"/>
          <a:lstStyle/>
          <a:p>
            <a:pPr indent="0" marL="0">
              <a:buNone/>
            </a:pPr>
            <a:r>
              <a:rPr lang="en-US" sz="1100" b="1" dirty="0">
                <a:solidFill>
                  <a:srgbClr val="6B7B83"/>
                </a:solidFill>
                <a:latin typeface="Calibri" pitchFamily="34" charset="0"/>
                <a:ea typeface="Calibri" pitchFamily="34" charset="-122"/>
                <a:cs typeface="Calibri" pitchFamily="34" charset="-120"/>
              </a:rPr>
              <a:t>Taux d’engagement : Viasanté vs secteur (%)</a:t>
            </a:r>
            <a:endParaRPr lang="en-US" sz="1100" dirty="0"/>
          </a:p>
        </p:txBody>
      </p:sp>
      <p:graphicFrame>
        <p:nvGraphicFramePr>
          <p:cNvPr id="35" name="Chart 0" descr=""/>
          <p:cNvGraphicFramePr/>
          <p:nvPr/>
        </p:nvGraphicFramePr>
        <p:xfrm>
          <a:off x="685800" y="3776472"/>
          <a:ext cx="5669280" cy="2011680"/>
        </p:xfrm>
        <a:graphic xmlns:a="http://schemas.openxmlformats.org/drawingml/2006/main">
          <a:graphicData uri="http://schemas.openxmlformats.org/drawingml/2006/chart">
            <c:chart xmlns:c="http://schemas.openxmlformats.org/drawingml/2006/chart" r:id="rId2"/>
          </a:graphicData>
        </a:graphic>
      </p:graphicFrame>
      <p:sp>
        <p:nvSpPr>
          <p:cNvPr id="36" name="Shape 32"/>
          <p:cNvSpPr/>
          <p:nvPr/>
        </p:nvSpPr>
        <p:spPr>
          <a:xfrm>
            <a:off x="6812280" y="3429000"/>
            <a:ext cx="4876495" cy="1325880"/>
          </a:xfrm>
          <a:prstGeom prst="roundRect">
            <a:avLst>
              <a:gd name="adj" fmla="val 8276"/>
            </a:avLst>
          </a:prstGeom>
          <a:solidFill>
            <a:srgbClr val="F2F8F9"/>
          </a:solidFill>
          <a:ln w="12700">
            <a:solidFill>
              <a:srgbClr val="F2F8F9"/>
            </a:solidFill>
            <a:prstDash val="solid"/>
          </a:ln>
        </p:spPr>
      </p:sp>
      <p:sp>
        <p:nvSpPr>
          <p:cNvPr id="37" name="Shape 33"/>
          <p:cNvSpPr/>
          <p:nvPr/>
        </p:nvSpPr>
        <p:spPr>
          <a:xfrm>
            <a:off x="6995160" y="3611880"/>
            <a:ext cx="384048" cy="384048"/>
          </a:xfrm>
          <a:prstGeom prst="ellipse">
            <a:avLst/>
          </a:prstGeom>
          <a:solidFill>
            <a:srgbClr val="06404F"/>
          </a:solidFill>
          <a:ln w="12700">
            <a:solidFill>
              <a:srgbClr val="06404F"/>
            </a:solidFill>
            <a:prstDash val="solid"/>
          </a:ln>
        </p:spPr>
      </p:sp>
      <p:pic>
        <p:nvPicPr>
          <p:cNvPr id="38" name="Image 1" descr="preencoded.png">    </p:cNvPr>
          <p:cNvPicPr>
            <a:picLocks noChangeAspect="1"/>
          </p:cNvPicPr>
          <p:nvPr/>
        </p:nvPicPr>
        <p:blipFill>
          <a:blip r:embed="rId3"/>
          <a:stretch>
            <a:fillRect/>
          </a:stretch>
        </p:blipFill>
        <p:spPr>
          <a:xfrm>
            <a:off x="7095012" y="3711732"/>
            <a:ext cx="184343" cy="184343"/>
          </a:xfrm>
          <a:prstGeom prst="rect">
            <a:avLst/>
          </a:prstGeom>
        </p:spPr>
      </p:pic>
      <p:sp>
        <p:nvSpPr>
          <p:cNvPr id="39" name="Text 34"/>
          <p:cNvSpPr txBox="1"/>
          <p:nvPr/>
        </p:nvSpPr>
        <p:spPr>
          <a:xfrm>
            <a:off x="7498080" y="3611880"/>
            <a:ext cx="4007815" cy="384048"/>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Ce que disent les chiffres</a:t>
            </a:r>
            <a:endParaRPr lang="en-US" sz="1250" dirty="0"/>
          </a:p>
        </p:txBody>
      </p:sp>
      <p:sp>
        <p:nvSpPr>
          <p:cNvPr id="40" name="Text 35"/>
          <p:cNvSpPr txBox="1"/>
          <p:nvPr/>
        </p:nvSpPr>
        <p:spPr>
          <a:xfrm>
            <a:off x="7040880" y="4069080"/>
            <a:ext cx="4419295" cy="5486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99,4 % délivrés et près d’un email sur deux ouvert : la chaîne technique délivre.</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Le clic est en retrait : 1,9 % contre 3,1 % pour le secteur.</a:t>
            </a:r>
            <a:endParaRPr lang="en-US" sz="1050" dirty="0"/>
          </a:p>
        </p:txBody>
      </p:sp>
      <p:sp>
        <p:nvSpPr>
          <p:cNvPr id="41" name="Shape 36"/>
          <p:cNvSpPr/>
          <p:nvPr/>
        </p:nvSpPr>
        <p:spPr>
          <a:xfrm>
            <a:off x="6812280" y="4892040"/>
            <a:ext cx="4876495" cy="1325880"/>
          </a:xfrm>
          <a:prstGeom prst="roundRect">
            <a:avLst>
              <a:gd name="adj" fmla="val 8276"/>
            </a:avLst>
          </a:prstGeom>
          <a:solidFill>
            <a:srgbClr val="FDEBD9"/>
          </a:solidFill>
          <a:ln w="12700">
            <a:solidFill>
              <a:srgbClr val="FDEBD9"/>
            </a:solidFill>
            <a:prstDash val="solid"/>
          </a:ln>
        </p:spPr>
      </p:sp>
      <p:sp>
        <p:nvSpPr>
          <p:cNvPr id="42" name="Shape 37"/>
          <p:cNvSpPr/>
          <p:nvPr/>
        </p:nvSpPr>
        <p:spPr>
          <a:xfrm>
            <a:off x="6995160" y="5074920"/>
            <a:ext cx="384048" cy="384048"/>
          </a:xfrm>
          <a:prstGeom prst="ellipse">
            <a:avLst/>
          </a:prstGeom>
          <a:solidFill>
            <a:srgbClr val="F28C28"/>
          </a:solidFill>
          <a:ln w="12700">
            <a:solidFill>
              <a:srgbClr val="F28C28"/>
            </a:solidFill>
            <a:prstDash val="solid"/>
          </a:ln>
        </p:spPr>
      </p:sp>
      <p:pic>
        <p:nvPicPr>
          <p:cNvPr id="43" name="Image 2" descr="preencoded.png">    </p:cNvPr>
          <p:cNvPicPr>
            <a:picLocks noChangeAspect="1"/>
          </p:cNvPicPr>
          <p:nvPr/>
        </p:nvPicPr>
        <p:blipFill>
          <a:blip r:embed="rId4"/>
          <a:stretch>
            <a:fillRect/>
          </a:stretch>
        </p:blipFill>
        <p:spPr>
          <a:xfrm>
            <a:off x="7095012" y="5174772"/>
            <a:ext cx="184343" cy="184343"/>
          </a:xfrm>
          <a:prstGeom prst="rect">
            <a:avLst/>
          </a:prstGeom>
        </p:spPr>
      </p:pic>
      <p:sp>
        <p:nvSpPr>
          <p:cNvPr id="44" name="Text 38"/>
          <p:cNvSpPr txBox="1"/>
          <p:nvPr/>
        </p:nvSpPr>
        <p:spPr>
          <a:xfrm>
            <a:off x="7498080" y="5074920"/>
            <a:ext cx="4007815" cy="384048"/>
          </a:xfrm>
          <a:prstGeom prst="rect">
            <a:avLst/>
          </a:prstGeom>
          <a:noFill/>
          <a:ln/>
        </p:spPr>
        <p:txBody>
          <a:bodyPr wrap="square" lIns="0" tIns="0" rIns="0" bIns="0" rtlCol="0" anchor="ctr"/>
          <a:lstStyle/>
          <a:p>
            <a:pPr indent="0" marL="0">
              <a:buNone/>
            </a:pPr>
            <a:r>
              <a:rPr lang="en-US" sz="1250" b="1" dirty="0">
                <a:solidFill>
                  <a:srgbClr val="F28C28"/>
                </a:solidFill>
                <a:latin typeface="Calibri" pitchFamily="34" charset="0"/>
                <a:ea typeface="Calibri" pitchFamily="34" charset="-122"/>
                <a:cs typeface="Calibri" pitchFamily="34" charset="-120"/>
              </a:rPr>
              <a:t>Le levier 2027</a:t>
            </a:r>
            <a:endParaRPr lang="en-US" sz="1250" dirty="0"/>
          </a:p>
        </p:txBody>
      </p:sp>
      <p:sp>
        <p:nvSpPr>
          <p:cNvPr id="45" name="Text 39"/>
          <p:cNvSpPr txBox="1"/>
          <p:nvPr/>
        </p:nvSpPr>
        <p:spPr>
          <a:xfrm>
            <a:off x="7040880" y="5532120"/>
            <a:ext cx="4419295" cy="5486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Les contenus et les appels à l’action, pas l’infrastructure.</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Ciblage plus fin et scénarios relationnels sur les campagnes à fort volume.</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Objectif : rapprocher le taux de clics du niveau du secteur.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ENGAGE</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SMS et RCS : quelle place pour le mobile en 2027 ?</a:t>
            </a:r>
            <a:endParaRPr lang="en-US" sz="26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Près de 0,5 million de SMS délivrés depuis août 2023 · ≈ 20–26 k par mois jusqu’en mai 2025, ≈ 2–3 k par mois depuis juin 2025.</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13</a:t>
            </a:r>
            <a:endParaRPr lang="en-US" sz="900" dirty="0"/>
          </a:p>
        </p:txBody>
      </p:sp>
      <p:sp>
        <p:nvSpPr>
          <p:cNvPr id="8" name="Shape 5"/>
          <p:cNvSpPr/>
          <p:nvPr/>
        </p:nvSpPr>
        <p:spPr>
          <a:xfrm>
            <a:off x="502920" y="1965960"/>
            <a:ext cx="6949440" cy="4251960"/>
          </a:xfrm>
          <a:prstGeom prst="roundRect">
            <a:avLst>
              <a:gd name="adj" fmla="val 2581"/>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9" name="Text 6"/>
          <p:cNvSpPr txBox="1"/>
          <p:nvPr/>
        </p:nvSpPr>
        <p:spPr>
          <a:xfrm>
            <a:off x="731520" y="2103120"/>
            <a:ext cx="6492240" cy="274320"/>
          </a:xfrm>
          <a:prstGeom prst="rect">
            <a:avLst/>
          </a:prstGeom>
          <a:noFill/>
          <a:ln/>
        </p:spPr>
        <p:txBody>
          <a:bodyPr wrap="square" lIns="0" tIns="0" rIns="0" bIns="0" rtlCol="0" anchor="t"/>
          <a:lstStyle/>
          <a:p>
            <a:pPr indent="0" marL="0">
              <a:buNone/>
            </a:pPr>
            <a:r>
              <a:rPr lang="en-US" sz="1100" b="1" dirty="0">
                <a:solidFill>
                  <a:srgbClr val="6B7B83"/>
                </a:solidFill>
                <a:latin typeface="Calibri" pitchFamily="34" charset="0"/>
                <a:ea typeface="Calibri" pitchFamily="34" charset="-122"/>
                <a:cs typeface="Calibri" pitchFamily="34" charset="-120"/>
              </a:rPr>
              <a:t>SMS délivrés par mois (milliers) — août 2023 à août 2026</a:t>
            </a:r>
            <a:endParaRPr lang="en-US" sz="1100" dirty="0"/>
          </a:p>
        </p:txBody>
      </p:sp>
      <p:graphicFrame>
        <p:nvGraphicFramePr>
          <p:cNvPr id="10" name="Chart 0" descr=""/>
          <p:cNvGraphicFramePr/>
          <p:nvPr/>
        </p:nvGraphicFramePr>
        <p:xfrm>
          <a:off x="685800" y="2423160"/>
          <a:ext cx="6583680" cy="338328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7726680" y="1965960"/>
            <a:ext cx="3962095" cy="274320"/>
          </a:xfrm>
          <a:prstGeom prst="rect">
            <a:avLst/>
          </a:prstGeom>
          <a:noFill/>
          <a:ln/>
        </p:spPr>
        <p:txBody>
          <a:bodyPr wrap="square" lIns="0" tIns="0" rIns="0" bIns="0" rtlCol="0" anchor="ctr"/>
          <a:lstStyle/>
          <a:p>
            <a:pPr indent="0" marL="0">
              <a:buNone/>
            </a:pPr>
            <a:r>
              <a:rPr lang="en-US" sz="1300" b="1" dirty="0">
                <a:solidFill>
                  <a:srgbClr val="06404F"/>
                </a:solidFill>
                <a:latin typeface="Calibri" pitchFamily="34" charset="0"/>
                <a:ea typeface="Calibri" pitchFamily="34" charset="-122"/>
                <a:cs typeface="Calibri" pitchFamily="34" charset="-120"/>
              </a:rPr>
              <a:t>Le RCS : deux connecteurs, deux niveaux</a:t>
            </a:r>
            <a:endParaRPr lang="en-US" sz="1300" dirty="0"/>
          </a:p>
        </p:txBody>
      </p:sp>
      <p:sp>
        <p:nvSpPr>
          <p:cNvPr id="12" name="Shape 8"/>
          <p:cNvSpPr/>
          <p:nvPr/>
        </p:nvSpPr>
        <p:spPr>
          <a:xfrm>
            <a:off x="7726680" y="2194560"/>
            <a:ext cx="3962095"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3" name="Shape 9"/>
          <p:cNvSpPr/>
          <p:nvPr/>
        </p:nvSpPr>
        <p:spPr>
          <a:xfrm>
            <a:off x="7909560" y="2350008"/>
            <a:ext cx="384048" cy="384048"/>
          </a:xfrm>
          <a:prstGeom prst="ellipse">
            <a:avLst/>
          </a:prstGeom>
          <a:solidFill>
            <a:srgbClr val="06404F"/>
          </a:solidFill>
          <a:ln w="12700">
            <a:solidFill>
              <a:srgbClr val="06404F"/>
            </a:solidFill>
            <a:prstDash val="solid"/>
          </a:ln>
        </p:spPr>
      </p:sp>
      <p:pic>
        <p:nvPicPr>
          <p:cNvPr id="14" name="Image 1" descr="preencoded.png">    </p:cNvPr>
          <p:cNvPicPr>
            <a:picLocks noChangeAspect="1"/>
          </p:cNvPicPr>
          <p:nvPr/>
        </p:nvPicPr>
        <p:blipFill>
          <a:blip r:embed="rId3"/>
          <a:stretch>
            <a:fillRect/>
          </a:stretch>
        </p:blipFill>
        <p:spPr>
          <a:xfrm>
            <a:off x="8009412" y="2449860"/>
            <a:ext cx="184343" cy="184343"/>
          </a:xfrm>
          <a:prstGeom prst="rect">
            <a:avLst/>
          </a:prstGeom>
        </p:spPr>
      </p:pic>
      <p:sp>
        <p:nvSpPr>
          <p:cNvPr id="15" name="Text 10"/>
          <p:cNvSpPr txBox="1"/>
          <p:nvPr/>
        </p:nvSpPr>
        <p:spPr>
          <a:xfrm>
            <a:off x="8412480" y="2331720"/>
            <a:ext cx="3093415" cy="411480"/>
          </a:xfrm>
          <a:prstGeom prst="rect">
            <a:avLst/>
          </a:prstGeom>
          <a:noFill/>
          <a:ln/>
        </p:spPr>
        <p:txBody>
          <a:bodyPr wrap="square" lIns="0" tIns="0" rIns="0" bIns="0" rtlCol="0" anchor="ctr"/>
          <a:lstStyle/>
          <a:p>
            <a:pPr indent="0" marL="0">
              <a:buNone/>
            </a:pPr>
            <a:r>
              <a:rPr lang="en-US" sz="1200" b="1" dirty="0">
                <a:solidFill>
                  <a:srgbClr val="06404F"/>
                </a:solidFill>
                <a:latin typeface="Calibri" pitchFamily="34" charset="0"/>
                <a:ea typeface="Calibri" pitchFamily="34" charset="-122"/>
                <a:cs typeface="Calibri" pitchFamily="34" charset="-120"/>
              </a:rPr>
              <a:t>LinkMobility — prêt et en production</a:t>
            </a:r>
            <a:endParaRPr lang="en-US" sz="1200" dirty="0"/>
          </a:p>
        </p:txBody>
      </p:sp>
      <p:sp>
        <p:nvSpPr>
          <p:cNvPr id="16" name="Text 11"/>
          <p:cNvSpPr txBox="1"/>
          <p:nvPr/>
        </p:nvSpPr>
        <p:spPr>
          <a:xfrm>
            <a:off x="7955280" y="2816352"/>
            <a:ext cx="3504895" cy="6858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F2A30"/>
                </a:solidFill>
                <a:latin typeface="Calibri" pitchFamily="34" charset="0"/>
                <a:ea typeface="Calibri" pitchFamily="34" charset="-122"/>
                <a:cs typeface="Calibri" pitchFamily="34" charset="-120"/>
              </a:rPr>
              <a:t>Fonctionne désormais par API et non plus par dépôt SFTP</a:t>
            </a:r>
            <a:endParaRPr lang="en-US" sz="1050" dirty="0"/>
          </a:p>
          <a:p>
            <a:pPr marL="152400" indent="-152400">
              <a:spcAft>
                <a:spcPts val="300"/>
              </a:spcAft>
              <a:buSzPct val="100000"/>
              <a:buChar char="•"/>
            </a:pPr>
            <a:r>
              <a:rPr lang="en-US" sz="1050" dirty="0">
                <a:solidFill>
                  <a:srgbClr val="1F2A30"/>
                </a:solidFill>
                <a:latin typeface="Calibri" pitchFamily="34" charset="0"/>
                <a:ea typeface="Calibri" pitchFamily="34" charset="-122"/>
                <a:cs typeface="Calibri" pitchFamily="34" charset="-120"/>
              </a:rPr>
              <a:t>Pas d’interface dédiée, donc pas de prévisualisation</a:t>
            </a:r>
            <a:endParaRPr lang="en-US" sz="1050" dirty="0"/>
          </a:p>
          <a:p>
            <a:pPr marL="152400" indent="-152400">
              <a:spcAft>
                <a:spcPts val="300"/>
              </a:spcAft>
              <a:buSzPct val="100000"/>
              <a:buChar char="•"/>
            </a:pPr>
            <a:r>
              <a:rPr lang="en-US" sz="1050" dirty="0">
                <a:solidFill>
                  <a:srgbClr val="1F2A30"/>
                </a:solidFill>
                <a:latin typeface="Calibri" pitchFamily="34" charset="0"/>
                <a:ea typeface="Calibri" pitchFamily="34" charset="-122"/>
                <a:cs typeface="Calibri" pitchFamily="34" charset="-120"/>
              </a:rPr>
              <a:t>Un passe-plat simple, avec les mêmes limites qu’auparavant</a:t>
            </a:r>
            <a:endParaRPr lang="en-US" sz="1050" dirty="0"/>
          </a:p>
        </p:txBody>
      </p:sp>
      <p:sp>
        <p:nvSpPr>
          <p:cNvPr id="17" name="Shape 12"/>
          <p:cNvSpPr/>
          <p:nvPr/>
        </p:nvSpPr>
        <p:spPr>
          <a:xfrm>
            <a:off x="7726680" y="3703320"/>
            <a:ext cx="3962095"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8" name="Shape 13"/>
          <p:cNvSpPr/>
          <p:nvPr/>
        </p:nvSpPr>
        <p:spPr>
          <a:xfrm>
            <a:off x="7909560" y="3858768"/>
            <a:ext cx="384048" cy="384048"/>
          </a:xfrm>
          <a:prstGeom prst="ellipse">
            <a:avLst/>
          </a:prstGeom>
          <a:solidFill>
            <a:srgbClr val="06404F"/>
          </a:solidFill>
          <a:ln w="12700">
            <a:solidFill>
              <a:srgbClr val="06404F"/>
            </a:solidFill>
            <a:prstDash val="solid"/>
          </a:ln>
        </p:spPr>
      </p:sp>
      <p:pic>
        <p:nvPicPr>
          <p:cNvPr id="19" name="Image 2" descr="preencoded.png">    </p:cNvPr>
          <p:cNvPicPr>
            <a:picLocks noChangeAspect="1"/>
          </p:cNvPicPr>
          <p:nvPr/>
        </p:nvPicPr>
        <p:blipFill>
          <a:blip r:embed="rId4"/>
          <a:stretch>
            <a:fillRect/>
          </a:stretch>
        </p:blipFill>
        <p:spPr>
          <a:xfrm>
            <a:off x="8009412" y="3958620"/>
            <a:ext cx="184343" cy="184343"/>
          </a:xfrm>
          <a:prstGeom prst="rect">
            <a:avLst/>
          </a:prstGeom>
        </p:spPr>
      </p:pic>
      <p:sp>
        <p:nvSpPr>
          <p:cNvPr id="20" name="Text 14"/>
          <p:cNvSpPr txBox="1"/>
          <p:nvPr/>
        </p:nvSpPr>
        <p:spPr>
          <a:xfrm>
            <a:off x="8412480" y="3840480"/>
            <a:ext cx="3093415" cy="411480"/>
          </a:xfrm>
          <a:prstGeom prst="rect">
            <a:avLst/>
          </a:prstGeom>
          <a:noFill/>
          <a:ln/>
        </p:spPr>
        <p:txBody>
          <a:bodyPr wrap="square" lIns="0" tIns="0" rIns="0" bIns="0" rtlCol="0" anchor="ctr"/>
          <a:lstStyle/>
          <a:p>
            <a:pPr indent="0" marL="0">
              <a:buNone/>
            </a:pPr>
            <a:r>
              <a:rPr lang="en-US" sz="1200" b="1" dirty="0">
                <a:solidFill>
                  <a:srgbClr val="06404F"/>
                </a:solidFill>
                <a:latin typeface="Calibri" pitchFamily="34" charset="0"/>
                <a:ea typeface="Calibri" pitchFamily="34" charset="-122"/>
                <a:cs typeface="Calibri" pitchFamily="34" charset="-120"/>
              </a:rPr>
              <a:t>Infobip — connecteur complet</a:t>
            </a:r>
            <a:endParaRPr lang="en-US" sz="1200" dirty="0"/>
          </a:p>
        </p:txBody>
      </p:sp>
      <p:sp>
        <p:nvSpPr>
          <p:cNvPr id="21" name="Text 15"/>
          <p:cNvSpPr txBox="1"/>
          <p:nvPr/>
        </p:nvSpPr>
        <p:spPr>
          <a:xfrm>
            <a:off x="7955280" y="4325112"/>
            <a:ext cx="3504895" cy="6858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F2A30"/>
                </a:solidFill>
                <a:latin typeface="Calibri" pitchFamily="34" charset="0"/>
                <a:ea typeface="Calibri" pitchFamily="34" charset="-122"/>
                <a:cs typeface="Calibri" pitchFamily="34" charset="-120"/>
              </a:rPr>
              <a:t>Interface dédiée pour composer les messages</a:t>
            </a:r>
            <a:endParaRPr lang="en-US" sz="1050" dirty="0"/>
          </a:p>
          <a:p>
            <a:pPr marL="152400" indent="-152400">
              <a:spcAft>
                <a:spcPts val="300"/>
              </a:spcAft>
              <a:buSzPct val="100000"/>
              <a:buChar char="•"/>
            </a:pPr>
            <a:r>
              <a:rPr lang="en-US" sz="1050" dirty="0">
                <a:solidFill>
                  <a:srgbClr val="1F2A30"/>
                </a:solidFill>
                <a:latin typeface="Calibri" pitchFamily="34" charset="0"/>
                <a:ea typeface="Calibri" pitchFamily="34" charset="-122"/>
                <a:cs typeface="Calibri" pitchFamily="34" charset="-120"/>
              </a:rPr>
              <a:t>Prévisualisation avant envoi</a:t>
            </a:r>
            <a:endParaRPr lang="en-US" sz="1050" dirty="0"/>
          </a:p>
          <a:p>
            <a:pPr marL="152400" indent="-152400">
              <a:spcAft>
                <a:spcPts val="300"/>
              </a:spcAft>
              <a:buSzPct val="100000"/>
              <a:buChar char="•"/>
            </a:pPr>
            <a:r>
              <a:rPr lang="en-US" sz="1050" dirty="0">
                <a:solidFill>
                  <a:srgbClr val="1F2A30"/>
                </a:solidFill>
                <a:latin typeface="Calibri" pitchFamily="34" charset="0"/>
                <a:ea typeface="Calibri" pitchFamily="34" charset="-122"/>
                <a:cs typeface="Calibri" pitchFamily="34" charset="-120"/>
              </a:rPr>
              <a:t>Orchestration plus riche pour les équipes marketing</a:t>
            </a:r>
            <a:endParaRPr lang="en-US" sz="1050" dirty="0"/>
          </a:p>
        </p:txBody>
      </p:sp>
      <p:sp>
        <p:nvSpPr>
          <p:cNvPr id="22" name="Shape 16"/>
          <p:cNvSpPr/>
          <p:nvPr/>
        </p:nvSpPr>
        <p:spPr>
          <a:xfrm>
            <a:off x="7726680" y="5212080"/>
            <a:ext cx="3962095" cy="1005840"/>
          </a:xfrm>
          <a:prstGeom prst="roundRect">
            <a:avLst>
              <a:gd name="adj" fmla="val 10909"/>
            </a:avLst>
          </a:prstGeom>
          <a:solidFill>
            <a:srgbClr val="FDEBD9"/>
          </a:solidFill>
          <a:ln w="12700">
            <a:solidFill>
              <a:srgbClr val="FDEBD9"/>
            </a:solidFill>
            <a:prstDash val="solid"/>
          </a:ln>
        </p:spPr>
      </p:sp>
      <p:sp>
        <p:nvSpPr>
          <p:cNvPr id="23" name="Shape 17"/>
          <p:cNvSpPr/>
          <p:nvPr/>
        </p:nvSpPr>
        <p:spPr>
          <a:xfrm>
            <a:off x="7909560" y="5522976"/>
            <a:ext cx="384048" cy="384048"/>
          </a:xfrm>
          <a:prstGeom prst="ellipse">
            <a:avLst/>
          </a:prstGeom>
          <a:solidFill>
            <a:srgbClr val="F28C28"/>
          </a:solidFill>
          <a:ln w="12700">
            <a:solidFill>
              <a:srgbClr val="F28C28"/>
            </a:solidFill>
            <a:prstDash val="solid"/>
          </a:ln>
        </p:spPr>
      </p:sp>
      <p:pic>
        <p:nvPicPr>
          <p:cNvPr id="24" name="Image 3" descr="preencoded.png">    </p:cNvPr>
          <p:cNvPicPr>
            <a:picLocks noChangeAspect="1"/>
          </p:cNvPicPr>
          <p:nvPr/>
        </p:nvPicPr>
        <p:blipFill>
          <a:blip r:embed="rId5"/>
          <a:stretch>
            <a:fillRect/>
          </a:stretch>
        </p:blipFill>
        <p:spPr>
          <a:xfrm>
            <a:off x="8009412" y="5622828"/>
            <a:ext cx="184343" cy="184343"/>
          </a:xfrm>
          <a:prstGeom prst="rect">
            <a:avLst/>
          </a:prstGeom>
        </p:spPr>
      </p:pic>
      <p:sp>
        <p:nvSpPr>
          <p:cNvPr id="25" name="Text 18"/>
          <p:cNvSpPr txBox="1"/>
          <p:nvPr/>
        </p:nvSpPr>
        <p:spPr>
          <a:xfrm>
            <a:off x="8412480" y="5212080"/>
            <a:ext cx="960120" cy="1005840"/>
          </a:xfrm>
          <a:prstGeom prst="rect">
            <a:avLst/>
          </a:prstGeom>
          <a:noFill/>
          <a:ln/>
        </p:spPr>
        <p:txBody>
          <a:bodyPr wrap="square" lIns="0" tIns="0" rIns="0" bIns="0" rtlCol="0" anchor="ctr"/>
          <a:lstStyle/>
          <a:p>
            <a:pPr indent="0" marL="0">
              <a:buNone/>
            </a:pPr>
            <a:r>
              <a:rPr lang="en-US" sz="1250" b="1" dirty="0">
                <a:solidFill>
                  <a:srgbClr val="F28C28"/>
                </a:solidFill>
                <a:latin typeface="Calibri" pitchFamily="34" charset="0"/>
                <a:ea typeface="Calibri" pitchFamily="34" charset="-122"/>
                <a:cs typeface="Calibri" pitchFamily="34" charset="-120"/>
              </a:rPr>
              <a:t>Votre choix</a:t>
            </a:r>
            <a:endParaRPr lang="en-US" sz="1250" dirty="0"/>
          </a:p>
        </p:txBody>
      </p:sp>
      <p:sp>
        <p:nvSpPr>
          <p:cNvPr id="26" name="Text 19"/>
          <p:cNvSpPr txBox="1"/>
          <p:nvPr/>
        </p:nvSpPr>
        <p:spPr>
          <a:xfrm>
            <a:off x="9464040" y="5212080"/>
            <a:ext cx="1996135" cy="1005840"/>
          </a:xfrm>
          <a:prstGeom prst="rect">
            <a:avLst/>
          </a:prstGeom>
          <a:noFill/>
          <a:ln/>
        </p:spPr>
        <p:txBody>
          <a:bodyPr wrap="square" lIns="0" tIns="0" rIns="0" bIns="0" rtlCol="0" anchor="ctr"/>
          <a:lstStyle/>
          <a:p>
            <a:pPr indent="0" marL="0">
              <a:buNone/>
            </a:pPr>
            <a:r>
              <a:rPr lang="en-US" sz="1050" dirty="0">
                <a:solidFill>
                  <a:srgbClr val="1F2A30"/>
                </a:solidFill>
                <a:latin typeface="Calibri" pitchFamily="34" charset="0"/>
                <a:ea typeface="Calibri" pitchFamily="34" charset="-122"/>
                <a:cs typeface="Calibri" pitchFamily="34" charset="-120"/>
              </a:rPr>
              <a:t>Un passe-plat simple et rapide, ou une expérience complète avec prévisualisation ?</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ENGAGE</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200" b="1" dirty="0">
                <a:solidFill>
                  <a:srgbClr val="06404F"/>
                </a:solidFill>
                <a:latin typeface="Calibri" pitchFamily="34" charset="0"/>
                <a:ea typeface="Calibri" pitchFamily="34" charset="-122"/>
                <a:cs typeface="Calibri" pitchFamily="34" charset="-120"/>
              </a:rPr>
              <a:t>Nouveau SSO Engage : fenêtre cible au 1er trimestre 2027</a:t>
            </a:r>
            <a:endParaRPr lang="en-US" sz="22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Une trajectoire produit progressive pour le nouveau système d’authentification ; votre accès actuel reste en place jusqu’à la bascule.</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14</a:t>
            </a:r>
            <a:endParaRPr lang="en-US" sz="900" dirty="0"/>
          </a:p>
        </p:txBody>
      </p:sp>
      <p:sp>
        <p:nvSpPr>
          <p:cNvPr id="8" name="Shape 5"/>
          <p:cNvSpPr/>
          <p:nvPr/>
        </p:nvSpPr>
        <p:spPr>
          <a:xfrm>
            <a:off x="502920" y="2011680"/>
            <a:ext cx="3655466" cy="548640"/>
          </a:xfrm>
          <a:prstGeom prst="homePlate">
            <a:avLst/>
          </a:prstGeom>
          <a:solidFill>
            <a:srgbClr val="3D8E9C"/>
          </a:solidFill>
          <a:ln w="12700">
            <a:solidFill>
              <a:srgbClr val="3D8E9C"/>
            </a:solidFill>
            <a:prstDash val="solid"/>
          </a:ln>
        </p:spPr>
      </p:sp>
      <p:sp>
        <p:nvSpPr>
          <p:cNvPr id="9" name="Text 6"/>
          <p:cNvSpPr txBox="1"/>
          <p:nvPr/>
        </p:nvSpPr>
        <p:spPr>
          <a:xfrm>
            <a:off x="640080" y="2011680"/>
            <a:ext cx="3106826"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Aujourd’hui</a:t>
            </a:r>
            <a:endParaRPr lang="en-US" sz="1300" dirty="0"/>
          </a:p>
        </p:txBody>
      </p:sp>
      <p:sp>
        <p:nvSpPr>
          <p:cNvPr id="10" name="Shape 7"/>
          <p:cNvSpPr/>
          <p:nvPr/>
        </p:nvSpPr>
        <p:spPr>
          <a:xfrm>
            <a:off x="502920" y="2743200"/>
            <a:ext cx="3655466"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1" name="Shape 8"/>
          <p:cNvSpPr/>
          <p:nvPr/>
        </p:nvSpPr>
        <p:spPr>
          <a:xfrm>
            <a:off x="704088" y="2926080"/>
            <a:ext cx="457200" cy="457200"/>
          </a:xfrm>
          <a:prstGeom prst="ellipse">
            <a:avLst/>
          </a:prstGeom>
          <a:solidFill>
            <a:srgbClr val="E4F0F2"/>
          </a:solidFill>
          <a:ln w="12700">
            <a:solidFill>
              <a:srgbClr val="E4F0F2"/>
            </a:solidFill>
            <a:prstDash val="solid"/>
          </a:ln>
        </p:spPr>
      </p:sp>
      <p:pic>
        <p:nvPicPr>
          <p:cNvPr id="12" name="Image 1" descr="preencoded.png">    </p:cNvPr>
          <p:cNvPicPr>
            <a:picLocks noChangeAspect="1"/>
          </p:cNvPicPr>
          <p:nvPr/>
        </p:nvPicPr>
        <p:blipFill>
          <a:blip r:embed="rId2"/>
          <a:stretch>
            <a:fillRect/>
          </a:stretch>
        </p:blipFill>
        <p:spPr>
          <a:xfrm>
            <a:off x="822960" y="3044952"/>
            <a:ext cx="219456" cy="219456"/>
          </a:xfrm>
          <a:prstGeom prst="rect">
            <a:avLst/>
          </a:prstGeom>
        </p:spPr>
      </p:pic>
      <p:sp>
        <p:nvSpPr>
          <p:cNvPr id="13" name="Text 9"/>
          <p:cNvSpPr txBox="1"/>
          <p:nvPr/>
        </p:nvSpPr>
        <p:spPr>
          <a:xfrm>
            <a:off x="1280160" y="2926080"/>
            <a:ext cx="2695346" cy="45720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Authentification actuelle</a:t>
            </a:r>
            <a:endParaRPr lang="en-US" sz="1250" dirty="0"/>
          </a:p>
        </p:txBody>
      </p:sp>
      <p:sp>
        <p:nvSpPr>
          <p:cNvPr id="14" name="Text 10"/>
          <p:cNvSpPr txBox="1"/>
          <p:nvPr/>
        </p:nvSpPr>
        <p:spPr>
          <a:xfrm>
            <a:off x="704088" y="3474720"/>
            <a:ext cx="3253130" cy="731520"/>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Fonctionnement inchangé et support assuré jusqu’à la bascule.</a:t>
            </a:r>
            <a:endParaRPr lang="en-US" sz="1100" dirty="0"/>
          </a:p>
        </p:txBody>
      </p:sp>
      <p:sp>
        <p:nvSpPr>
          <p:cNvPr id="15" name="Shape 11"/>
          <p:cNvSpPr/>
          <p:nvPr/>
        </p:nvSpPr>
        <p:spPr>
          <a:xfrm>
            <a:off x="4268114" y="2011680"/>
            <a:ext cx="3655466" cy="548640"/>
          </a:xfrm>
          <a:prstGeom prst="chevron">
            <a:avLst/>
          </a:prstGeom>
          <a:solidFill>
            <a:srgbClr val="06404F"/>
          </a:solidFill>
          <a:ln w="12700">
            <a:solidFill>
              <a:srgbClr val="06404F"/>
            </a:solidFill>
            <a:prstDash val="solid"/>
          </a:ln>
        </p:spPr>
      </p:sp>
      <p:sp>
        <p:nvSpPr>
          <p:cNvPr id="16" name="Text 12"/>
          <p:cNvSpPr txBox="1"/>
          <p:nvPr/>
        </p:nvSpPr>
        <p:spPr>
          <a:xfrm>
            <a:off x="4588154" y="2011680"/>
            <a:ext cx="3106826"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Fenêtre cible : 1er trimestre 2027</a:t>
            </a:r>
            <a:endParaRPr lang="en-US" sz="1300" dirty="0"/>
          </a:p>
        </p:txBody>
      </p:sp>
      <p:sp>
        <p:nvSpPr>
          <p:cNvPr id="17" name="Shape 13"/>
          <p:cNvSpPr/>
          <p:nvPr/>
        </p:nvSpPr>
        <p:spPr>
          <a:xfrm>
            <a:off x="4268114" y="2743200"/>
            <a:ext cx="3655466"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8" name="Shape 14"/>
          <p:cNvSpPr/>
          <p:nvPr/>
        </p:nvSpPr>
        <p:spPr>
          <a:xfrm>
            <a:off x="4469282" y="2926080"/>
            <a:ext cx="457200" cy="457200"/>
          </a:xfrm>
          <a:prstGeom prst="ellipse">
            <a:avLst/>
          </a:prstGeom>
          <a:solidFill>
            <a:srgbClr val="E4F0F2"/>
          </a:solidFill>
          <a:ln w="12700">
            <a:solidFill>
              <a:srgbClr val="E4F0F2"/>
            </a:solidFill>
            <a:prstDash val="solid"/>
          </a:ln>
        </p:spPr>
      </p:sp>
      <p:pic>
        <p:nvPicPr>
          <p:cNvPr id="19" name="Image 2" descr="preencoded.png">    </p:cNvPr>
          <p:cNvPicPr>
            <a:picLocks noChangeAspect="1"/>
          </p:cNvPicPr>
          <p:nvPr/>
        </p:nvPicPr>
        <p:blipFill>
          <a:blip r:embed="rId3"/>
          <a:stretch>
            <a:fillRect/>
          </a:stretch>
        </p:blipFill>
        <p:spPr>
          <a:xfrm>
            <a:off x="4588154" y="3044952"/>
            <a:ext cx="219456" cy="219456"/>
          </a:xfrm>
          <a:prstGeom prst="rect">
            <a:avLst/>
          </a:prstGeom>
        </p:spPr>
      </p:pic>
      <p:sp>
        <p:nvSpPr>
          <p:cNvPr id="20" name="Text 15"/>
          <p:cNvSpPr txBox="1"/>
          <p:nvPr/>
        </p:nvSpPr>
        <p:spPr>
          <a:xfrm>
            <a:off x="5045354" y="2926080"/>
            <a:ext cx="2695346" cy="45720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Nouveau SSO Engage</a:t>
            </a:r>
            <a:endParaRPr lang="en-US" sz="1250" dirty="0"/>
          </a:p>
        </p:txBody>
      </p:sp>
      <p:sp>
        <p:nvSpPr>
          <p:cNvPr id="21" name="Text 16"/>
          <p:cNvSpPr txBox="1"/>
          <p:nvPr/>
        </p:nvSpPr>
        <p:spPr>
          <a:xfrm>
            <a:off x="4469282" y="3474720"/>
            <a:ext cx="3253130" cy="731520"/>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Mise à disposition du nouveau système d’authentification — trajectoire produit, pas avant cette fenêtre.</a:t>
            </a:r>
            <a:endParaRPr lang="en-US" sz="1100" dirty="0"/>
          </a:p>
        </p:txBody>
      </p:sp>
      <p:sp>
        <p:nvSpPr>
          <p:cNvPr id="22" name="Shape 17"/>
          <p:cNvSpPr/>
          <p:nvPr/>
        </p:nvSpPr>
        <p:spPr>
          <a:xfrm>
            <a:off x="8033309" y="2011680"/>
            <a:ext cx="3655466" cy="548640"/>
          </a:xfrm>
          <a:prstGeom prst="chevron">
            <a:avLst/>
          </a:prstGeom>
          <a:solidFill>
            <a:srgbClr val="F28C28"/>
          </a:solidFill>
          <a:ln w="12700">
            <a:solidFill>
              <a:srgbClr val="F28C28"/>
            </a:solidFill>
            <a:prstDash val="solid"/>
          </a:ln>
        </p:spPr>
      </p:sp>
      <p:sp>
        <p:nvSpPr>
          <p:cNvPr id="23" name="Text 18"/>
          <p:cNvSpPr txBox="1"/>
          <p:nvPr/>
        </p:nvSpPr>
        <p:spPr>
          <a:xfrm>
            <a:off x="8353349" y="2011680"/>
            <a:ext cx="3106826"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Ensuite</a:t>
            </a:r>
            <a:endParaRPr lang="en-US" sz="1300" dirty="0"/>
          </a:p>
        </p:txBody>
      </p:sp>
      <p:sp>
        <p:nvSpPr>
          <p:cNvPr id="24" name="Shape 19"/>
          <p:cNvSpPr/>
          <p:nvPr/>
        </p:nvSpPr>
        <p:spPr>
          <a:xfrm>
            <a:off x="8033309" y="2743200"/>
            <a:ext cx="3655466"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5" name="Shape 20"/>
          <p:cNvSpPr/>
          <p:nvPr/>
        </p:nvSpPr>
        <p:spPr>
          <a:xfrm>
            <a:off x="8234477" y="2926080"/>
            <a:ext cx="457200" cy="457200"/>
          </a:xfrm>
          <a:prstGeom prst="ellipse">
            <a:avLst/>
          </a:prstGeom>
          <a:solidFill>
            <a:srgbClr val="E4F0F2"/>
          </a:solidFill>
          <a:ln w="12700">
            <a:solidFill>
              <a:srgbClr val="E4F0F2"/>
            </a:solidFill>
            <a:prstDash val="solid"/>
          </a:ln>
        </p:spPr>
      </p:sp>
      <p:pic>
        <p:nvPicPr>
          <p:cNvPr id="26" name="Image 3" descr="preencoded.png">    </p:cNvPr>
          <p:cNvPicPr>
            <a:picLocks noChangeAspect="1"/>
          </p:cNvPicPr>
          <p:nvPr/>
        </p:nvPicPr>
        <p:blipFill>
          <a:blip r:embed="rId4"/>
          <a:stretch>
            <a:fillRect/>
          </a:stretch>
        </p:blipFill>
        <p:spPr>
          <a:xfrm>
            <a:off x="8353349" y="3044952"/>
            <a:ext cx="219456" cy="219456"/>
          </a:xfrm>
          <a:prstGeom prst="rect">
            <a:avLst/>
          </a:prstGeom>
        </p:spPr>
      </p:pic>
      <p:sp>
        <p:nvSpPr>
          <p:cNvPr id="27" name="Text 21"/>
          <p:cNvSpPr txBox="1"/>
          <p:nvPr/>
        </p:nvSpPr>
        <p:spPr>
          <a:xfrm>
            <a:off x="8810549" y="2926080"/>
            <a:ext cx="2695346" cy="45720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Bascule accompagnée</a:t>
            </a:r>
            <a:endParaRPr lang="en-US" sz="1250" dirty="0"/>
          </a:p>
        </p:txBody>
      </p:sp>
      <p:sp>
        <p:nvSpPr>
          <p:cNvPr id="28" name="Text 22"/>
          <p:cNvSpPr txBox="1"/>
          <p:nvPr/>
        </p:nvSpPr>
        <p:spPr>
          <a:xfrm>
            <a:off x="8234477" y="3474720"/>
            <a:ext cx="3253130" cy="731520"/>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Préparation avec vos équipes, puis adoption progressive des utilisateurs.</a:t>
            </a:r>
            <a:endParaRPr lang="en-US" sz="1100" dirty="0"/>
          </a:p>
        </p:txBody>
      </p:sp>
      <p:sp>
        <p:nvSpPr>
          <p:cNvPr id="29" name="Shape 23"/>
          <p:cNvSpPr/>
          <p:nvPr/>
        </p:nvSpPr>
        <p:spPr>
          <a:xfrm>
            <a:off x="502920" y="4526280"/>
            <a:ext cx="5455768" cy="1600200"/>
          </a:xfrm>
          <a:prstGeom prst="roundRect">
            <a:avLst>
              <a:gd name="adj" fmla="val 6857"/>
            </a:avLst>
          </a:prstGeom>
          <a:solidFill>
            <a:srgbClr val="E3F3EA"/>
          </a:solidFill>
          <a:ln w="12700">
            <a:solidFill>
              <a:srgbClr val="E3F3EA"/>
            </a:solidFill>
            <a:prstDash val="solid"/>
          </a:ln>
        </p:spPr>
      </p:sp>
      <p:sp>
        <p:nvSpPr>
          <p:cNvPr id="30" name="Shape 24"/>
          <p:cNvSpPr/>
          <p:nvPr/>
        </p:nvSpPr>
        <p:spPr>
          <a:xfrm>
            <a:off x="685800" y="4709160"/>
            <a:ext cx="384048" cy="384048"/>
          </a:xfrm>
          <a:prstGeom prst="ellipse">
            <a:avLst/>
          </a:prstGeom>
          <a:solidFill>
            <a:srgbClr val="2E8B57"/>
          </a:solidFill>
          <a:ln w="12700">
            <a:solidFill>
              <a:srgbClr val="2E8B57"/>
            </a:solidFill>
            <a:prstDash val="solid"/>
          </a:ln>
        </p:spPr>
      </p:sp>
      <p:pic>
        <p:nvPicPr>
          <p:cNvPr id="31" name="Image 4" descr="preencoded.png">    </p:cNvPr>
          <p:cNvPicPr>
            <a:picLocks noChangeAspect="1"/>
          </p:cNvPicPr>
          <p:nvPr/>
        </p:nvPicPr>
        <p:blipFill>
          <a:blip r:embed="rId5"/>
          <a:stretch>
            <a:fillRect/>
          </a:stretch>
        </p:blipFill>
        <p:spPr>
          <a:xfrm>
            <a:off x="785652" y="4809012"/>
            <a:ext cx="184343" cy="184343"/>
          </a:xfrm>
          <a:prstGeom prst="rect">
            <a:avLst/>
          </a:prstGeom>
        </p:spPr>
      </p:pic>
      <p:sp>
        <p:nvSpPr>
          <p:cNvPr id="32" name="Text 25"/>
          <p:cNvSpPr txBox="1"/>
          <p:nvPr/>
        </p:nvSpPr>
        <p:spPr>
          <a:xfrm>
            <a:off x="1188720" y="4709160"/>
            <a:ext cx="4587088" cy="384048"/>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Ce qui change pour vous</a:t>
            </a:r>
            <a:endParaRPr lang="en-US" sz="1250" dirty="0"/>
          </a:p>
        </p:txBody>
      </p:sp>
      <p:sp>
        <p:nvSpPr>
          <p:cNvPr id="33" name="Text 26"/>
          <p:cNvSpPr txBox="1"/>
          <p:nvPr/>
        </p:nvSpPr>
        <p:spPr>
          <a:xfrm>
            <a:off x="731520" y="5166360"/>
            <a:ext cx="4998568" cy="8229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Une connexion unifiée et sécurisée à Engage.</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Un accompagnement Selligent pour la bascule des utilisateurs.</a:t>
            </a:r>
            <a:endParaRPr lang="en-US" sz="1050" dirty="0"/>
          </a:p>
        </p:txBody>
      </p:sp>
      <p:sp>
        <p:nvSpPr>
          <p:cNvPr id="34" name="Shape 27"/>
          <p:cNvSpPr/>
          <p:nvPr/>
        </p:nvSpPr>
        <p:spPr>
          <a:xfrm>
            <a:off x="6233008" y="4526280"/>
            <a:ext cx="5455768" cy="1600200"/>
          </a:xfrm>
          <a:prstGeom prst="roundRect">
            <a:avLst>
              <a:gd name="adj" fmla="val 6857"/>
            </a:avLst>
          </a:prstGeom>
          <a:solidFill>
            <a:srgbClr val="F2F8F9"/>
          </a:solidFill>
          <a:ln w="12700">
            <a:solidFill>
              <a:srgbClr val="F2F8F9"/>
            </a:solidFill>
            <a:prstDash val="solid"/>
          </a:ln>
        </p:spPr>
      </p:sp>
      <p:sp>
        <p:nvSpPr>
          <p:cNvPr id="35" name="Shape 28"/>
          <p:cNvSpPr/>
          <p:nvPr/>
        </p:nvSpPr>
        <p:spPr>
          <a:xfrm>
            <a:off x="6415888" y="4709160"/>
            <a:ext cx="384048" cy="384048"/>
          </a:xfrm>
          <a:prstGeom prst="ellipse">
            <a:avLst/>
          </a:prstGeom>
          <a:solidFill>
            <a:srgbClr val="06404F"/>
          </a:solidFill>
          <a:ln w="12700">
            <a:solidFill>
              <a:srgbClr val="06404F"/>
            </a:solidFill>
            <a:prstDash val="solid"/>
          </a:ln>
        </p:spPr>
      </p:sp>
      <p:pic>
        <p:nvPicPr>
          <p:cNvPr id="36" name="Image 5" descr="preencoded.png">    </p:cNvPr>
          <p:cNvPicPr>
            <a:picLocks noChangeAspect="1"/>
          </p:cNvPicPr>
          <p:nvPr/>
        </p:nvPicPr>
        <p:blipFill>
          <a:blip r:embed="rId6"/>
          <a:stretch>
            <a:fillRect/>
          </a:stretch>
        </p:blipFill>
        <p:spPr>
          <a:xfrm>
            <a:off x="6515740" y="4809012"/>
            <a:ext cx="184343" cy="184343"/>
          </a:xfrm>
          <a:prstGeom prst="rect">
            <a:avLst/>
          </a:prstGeom>
        </p:spPr>
      </p:pic>
      <p:sp>
        <p:nvSpPr>
          <p:cNvPr id="37" name="Text 29"/>
          <p:cNvSpPr txBox="1"/>
          <p:nvPr/>
        </p:nvSpPr>
        <p:spPr>
          <a:xfrm>
            <a:off x="6918808" y="4709160"/>
            <a:ext cx="4587088" cy="384048"/>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Ce qui ne change pas</a:t>
            </a:r>
            <a:endParaRPr lang="en-US" sz="1250" dirty="0"/>
          </a:p>
        </p:txBody>
      </p:sp>
      <p:sp>
        <p:nvSpPr>
          <p:cNvPr id="38" name="Text 30"/>
          <p:cNvSpPr txBox="1"/>
          <p:nvPr/>
        </p:nvSpPr>
        <p:spPr>
          <a:xfrm>
            <a:off x="6461608" y="5166360"/>
            <a:ext cx="4998568" cy="8229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Aucune bascule avant la fenêtre cible du 1er trimestre 2027.</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Sujet distinct de la sécurisation technique des accès CDM réalisée le 31 août.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CONFORMITÉ</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Pixel d’ouverture : le cadre CNIL appliqué dans Engage</a:t>
            </a:r>
            <a:endParaRPr lang="en-US" sz="26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Recommandation finale du 14 avril 2026, période transitoire close le 14 juillet · Engage trace déjà les ouvertures sous consentement.</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15</a:t>
            </a:r>
            <a:endParaRPr lang="en-US" sz="900" dirty="0"/>
          </a:p>
        </p:txBody>
      </p:sp>
      <p:sp>
        <p:nvSpPr>
          <p:cNvPr id="8" name="Shape 5"/>
          <p:cNvSpPr/>
          <p:nvPr/>
        </p:nvSpPr>
        <p:spPr>
          <a:xfrm>
            <a:off x="502920" y="1965960"/>
            <a:ext cx="2645588"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9" name="Shape 6"/>
          <p:cNvSpPr/>
          <p:nvPr/>
        </p:nvSpPr>
        <p:spPr>
          <a:xfrm>
            <a:off x="704088" y="2167128"/>
            <a:ext cx="548640" cy="548640"/>
          </a:xfrm>
          <a:prstGeom prst="ellipse">
            <a:avLst/>
          </a:prstGeom>
          <a:solidFill>
            <a:srgbClr val="06404F"/>
          </a:solidFill>
          <a:ln w="12700">
            <a:solidFill>
              <a:srgbClr val="06404F"/>
            </a:solidFill>
            <a:prstDash val="solid"/>
          </a:ln>
        </p:spPr>
      </p:sp>
      <p:pic>
        <p:nvPicPr>
          <p:cNvPr id="10" name="Image 1" descr="preencoded.png">    </p:cNvPr>
          <p:cNvPicPr>
            <a:picLocks noChangeAspect="1"/>
          </p:cNvPicPr>
          <p:nvPr/>
        </p:nvPicPr>
        <p:blipFill>
          <a:blip r:embed="rId2"/>
          <a:stretch>
            <a:fillRect/>
          </a:stretch>
        </p:blipFill>
        <p:spPr>
          <a:xfrm>
            <a:off x="846734" y="2309774"/>
            <a:ext cx="263347" cy="263347"/>
          </a:xfrm>
          <a:prstGeom prst="rect">
            <a:avLst/>
          </a:prstGeom>
        </p:spPr>
      </p:pic>
      <p:sp>
        <p:nvSpPr>
          <p:cNvPr id="11" name="Text 7"/>
          <p:cNvSpPr txBox="1"/>
          <p:nvPr/>
        </p:nvSpPr>
        <p:spPr>
          <a:xfrm>
            <a:off x="2416988" y="2148840"/>
            <a:ext cx="548640" cy="548640"/>
          </a:xfrm>
          <a:prstGeom prst="rect">
            <a:avLst/>
          </a:prstGeom>
          <a:noFill/>
          <a:ln/>
        </p:spPr>
        <p:txBody>
          <a:bodyPr wrap="square" lIns="0" tIns="0" rIns="0" bIns="0" rtlCol="0" anchor="ctr"/>
          <a:lstStyle/>
          <a:p>
            <a:pPr algn="r" indent="0" marL="0">
              <a:buNone/>
            </a:pPr>
            <a:r>
              <a:rPr lang="en-US" sz="2400" b="1" dirty="0">
                <a:solidFill>
                  <a:srgbClr val="F28C28"/>
                </a:solidFill>
                <a:latin typeface="Calibri" pitchFamily="34" charset="0"/>
                <a:ea typeface="Calibri" pitchFamily="34" charset="-122"/>
                <a:cs typeface="Calibri" pitchFamily="34" charset="-120"/>
              </a:rPr>
              <a:t>1</a:t>
            </a:r>
            <a:endParaRPr lang="en-US" sz="2400" dirty="0"/>
          </a:p>
        </p:txBody>
      </p:sp>
      <p:sp>
        <p:nvSpPr>
          <p:cNvPr id="12" name="Text 8"/>
          <p:cNvSpPr txBox="1"/>
          <p:nvPr/>
        </p:nvSpPr>
        <p:spPr>
          <a:xfrm>
            <a:off x="704088" y="2834640"/>
            <a:ext cx="2243252" cy="365760"/>
          </a:xfrm>
          <a:prstGeom prst="rect">
            <a:avLst/>
          </a:prstGeom>
          <a:noFill/>
          <a:ln/>
        </p:spPr>
        <p:txBody>
          <a:bodyPr wrap="square" lIns="0" tIns="0" rIns="0" bIns="0" rtlCol="0" anchor="ctr"/>
          <a:lstStyle/>
          <a:p>
            <a:pPr indent="0" marL="0">
              <a:buNone/>
            </a:pPr>
            <a:r>
              <a:rPr lang="en-US" sz="1300" b="1" dirty="0">
                <a:solidFill>
                  <a:srgbClr val="06404F"/>
                </a:solidFill>
                <a:latin typeface="Calibri" pitchFamily="34" charset="0"/>
                <a:ea typeface="Calibri" pitchFamily="34" charset="-122"/>
                <a:cs typeface="Calibri" pitchFamily="34" charset="-120"/>
              </a:rPr>
              <a:t>Cartographier</a:t>
            </a:r>
            <a:endParaRPr lang="en-US" sz="1300" dirty="0"/>
          </a:p>
        </p:txBody>
      </p:sp>
      <p:sp>
        <p:nvSpPr>
          <p:cNvPr id="13" name="Text 9"/>
          <p:cNvSpPr txBox="1"/>
          <p:nvPr/>
        </p:nvSpPr>
        <p:spPr>
          <a:xfrm>
            <a:off x="704088" y="3246120"/>
            <a:ext cx="2243252" cy="822960"/>
          </a:xfrm>
          <a:prstGeom prst="rect">
            <a:avLst/>
          </a:prstGeom>
          <a:noFill/>
          <a:ln/>
        </p:spPr>
        <p:txBody>
          <a:bodyPr wrap="square" lIns="0" tIns="0" rIns="0" bIns="0" rtlCol="0" anchor="t"/>
          <a:lstStyle/>
          <a:p>
            <a:pPr indent="0" marL="0">
              <a:buNone/>
            </a:pPr>
            <a:r>
              <a:rPr lang="en-US" sz="1050" dirty="0">
                <a:solidFill>
                  <a:srgbClr val="1F2A30"/>
                </a:solidFill>
                <a:latin typeface="Calibri" pitchFamily="34" charset="0"/>
                <a:ea typeface="Calibri" pitchFamily="34" charset="-122"/>
                <a:cs typeface="Calibri" pitchFamily="34" charset="-120"/>
              </a:rPr>
              <a:t>Recenser les cas d’usage : marketing, newsletters, transactionnel, mesure de délivrabilité.</a:t>
            </a:r>
            <a:endParaRPr lang="en-US" sz="1050" dirty="0"/>
          </a:p>
        </p:txBody>
      </p:sp>
      <p:sp>
        <p:nvSpPr>
          <p:cNvPr id="14" name="Shape 10"/>
          <p:cNvSpPr/>
          <p:nvPr/>
        </p:nvSpPr>
        <p:spPr>
          <a:xfrm>
            <a:off x="3349676" y="1965960"/>
            <a:ext cx="2645588"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5" name="Shape 11"/>
          <p:cNvSpPr/>
          <p:nvPr/>
        </p:nvSpPr>
        <p:spPr>
          <a:xfrm>
            <a:off x="3550844" y="2167128"/>
            <a:ext cx="548640" cy="548640"/>
          </a:xfrm>
          <a:prstGeom prst="ellipse">
            <a:avLst/>
          </a:prstGeom>
          <a:solidFill>
            <a:srgbClr val="06404F"/>
          </a:solidFill>
          <a:ln w="12700">
            <a:solidFill>
              <a:srgbClr val="06404F"/>
            </a:solidFill>
            <a:prstDash val="solid"/>
          </a:ln>
        </p:spPr>
      </p:sp>
      <p:pic>
        <p:nvPicPr>
          <p:cNvPr id="16" name="Image 2" descr="preencoded.png">    </p:cNvPr>
          <p:cNvPicPr>
            <a:picLocks noChangeAspect="1"/>
          </p:cNvPicPr>
          <p:nvPr/>
        </p:nvPicPr>
        <p:blipFill>
          <a:blip r:embed="rId3"/>
          <a:stretch>
            <a:fillRect/>
          </a:stretch>
        </p:blipFill>
        <p:spPr>
          <a:xfrm>
            <a:off x="3693490" y="2309774"/>
            <a:ext cx="263347" cy="263347"/>
          </a:xfrm>
          <a:prstGeom prst="rect">
            <a:avLst/>
          </a:prstGeom>
        </p:spPr>
      </p:pic>
      <p:sp>
        <p:nvSpPr>
          <p:cNvPr id="17" name="Text 12"/>
          <p:cNvSpPr txBox="1"/>
          <p:nvPr/>
        </p:nvSpPr>
        <p:spPr>
          <a:xfrm>
            <a:off x="5263744" y="2148840"/>
            <a:ext cx="548640" cy="548640"/>
          </a:xfrm>
          <a:prstGeom prst="rect">
            <a:avLst/>
          </a:prstGeom>
          <a:noFill/>
          <a:ln/>
        </p:spPr>
        <p:txBody>
          <a:bodyPr wrap="square" lIns="0" tIns="0" rIns="0" bIns="0" rtlCol="0" anchor="ctr"/>
          <a:lstStyle/>
          <a:p>
            <a:pPr algn="r" indent="0" marL="0">
              <a:buNone/>
            </a:pPr>
            <a:r>
              <a:rPr lang="en-US" sz="2400" b="1" dirty="0">
                <a:solidFill>
                  <a:srgbClr val="F28C28"/>
                </a:solidFill>
                <a:latin typeface="Calibri" pitchFamily="34" charset="0"/>
                <a:ea typeface="Calibri" pitchFamily="34" charset="-122"/>
                <a:cs typeface="Calibri" pitchFamily="34" charset="-120"/>
              </a:rPr>
              <a:t>2</a:t>
            </a:r>
            <a:endParaRPr lang="en-US" sz="2400" dirty="0"/>
          </a:p>
        </p:txBody>
      </p:sp>
      <p:sp>
        <p:nvSpPr>
          <p:cNvPr id="18" name="Text 13"/>
          <p:cNvSpPr txBox="1"/>
          <p:nvPr/>
        </p:nvSpPr>
        <p:spPr>
          <a:xfrm>
            <a:off x="3550844" y="2834640"/>
            <a:ext cx="2243252" cy="365760"/>
          </a:xfrm>
          <a:prstGeom prst="rect">
            <a:avLst/>
          </a:prstGeom>
          <a:noFill/>
          <a:ln/>
        </p:spPr>
        <p:txBody>
          <a:bodyPr wrap="square" lIns="0" tIns="0" rIns="0" bIns="0" rtlCol="0" anchor="ctr"/>
          <a:lstStyle/>
          <a:p>
            <a:pPr indent="0" marL="0">
              <a:buNone/>
            </a:pPr>
            <a:r>
              <a:rPr lang="en-US" sz="1300" b="1" dirty="0">
                <a:solidFill>
                  <a:srgbClr val="06404F"/>
                </a:solidFill>
                <a:latin typeface="Calibri" pitchFamily="34" charset="0"/>
                <a:ea typeface="Calibri" pitchFamily="34" charset="-122"/>
                <a:cs typeface="Calibri" pitchFamily="34" charset="-120"/>
              </a:rPr>
              <a:t>Qualifier la base légale</a:t>
            </a:r>
            <a:endParaRPr lang="en-US" sz="1300" dirty="0"/>
          </a:p>
        </p:txBody>
      </p:sp>
      <p:sp>
        <p:nvSpPr>
          <p:cNvPr id="19" name="Text 14"/>
          <p:cNvSpPr txBox="1"/>
          <p:nvPr/>
        </p:nvSpPr>
        <p:spPr>
          <a:xfrm>
            <a:off x="3550844" y="3246120"/>
            <a:ext cx="2243252" cy="822960"/>
          </a:xfrm>
          <a:prstGeom prst="rect">
            <a:avLst/>
          </a:prstGeom>
          <a:noFill/>
          <a:ln/>
        </p:spPr>
        <p:txBody>
          <a:bodyPr wrap="square" lIns="0" tIns="0" rIns="0" bIns="0" rtlCol="0" anchor="t"/>
          <a:lstStyle/>
          <a:p>
            <a:pPr indent="0" marL="0">
              <a:buNone/>
            </a:pPr>
            <a:r>
              <a:rPr lang="en-US" sz="1050" dirty="0">
                <a:solidFill>
                  <a:srgbClr val="1F2A30"/>
                </a:solidFill>
                <a:latin typeface="Calibri" pitchFamily="34" charset="0"/>
                <a:ea typeface="Calibri" pitchFamily="34" charset="-122"/>
                <a:cs typeface="Calibri" pitchFamily="34" charset="-120"/>
              </a:rPr>
              <a:t>Consentement préalable par défaut ; exemption limitée à la mesure de délivrabilité d’un service demandé.</a:t>
            </a:r>
            <a:endParaRPr lang="en-US" sz="1050" dirty="0"/>
          </a:p>
        </p:txBody>
      </p:sp>
      <p:sp>
        <p:nvSpPr>
          <p:cNvPr id="20" name="Shape 15"/>
          <p:cNvSpPr/>
          <p:nvPr/>
        </p:nvSpPr>
        <p:spPr>
          <a:xfrm>
            <a:off x="6196432" y="1965960"/>
            <a:ext cx="2645588"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1" name="Shape 16"/>
          <p:cNvSpPr/>
          <p:nvPr/>
        </p:nvSpPr>
        <p:spPr>
          <a:xfrm>
            <a:off x="6397600" y="2167128"/>
            <a:ext cx="548640" cy="548640"/>
          </a:xfrm>
          <a:prstGeom prst="ellipse">
            <a:avLst/>
          </a:prstGeom>
          <a:solidFill>
            <a:srgbClr val="06404F"/>
          </a:solidFill>
          <a:ln w="12700">
            <a:solidFill>
              <a:srgbClr val="06404F"/>
            </a:solidFill>
            <a:prstDash val="solid"/>
          </a:ln>
        </p:spPr>
      </p:sp>
      <p:pic>
        <p:nvPicPr>
          <p:cNvPr id="22" name="Image 3" descr="preencoded.png">    </p:cNvPr>
          <p:cNvPicPr>
            <a:picLocks noChangeAspect="1"/>
          </p:cNvPicPr>
          <p:nvPr/>
        </p:nvPicPr>
        <p:blipFill>
          <a:blip r:embed="rId4"/>
          <a:stretch>
            <a:fillRect/>
          </a:stretch>
        </p:blipFill>
        <p:spPr>
          <a:xfrm>
            <a:off x="6540246" y="2309774"/>
            <a:ext cx="263347" cy="263347"/>
          </a:xfrm>
          <a:prstGeom prst="rect">
            <a:avLst/>
          </a:prstGeom>
        </p:spPr>
      </p:pic>
      <p:sp>
        <p:nvSpPr>
          <p:cNvPr id="23" name="Text 17"/>
          <p:cNvSpPr txBox="1"/>
          <p:nvPr/>
        </p:nvSpPr>
        <p:spPr>
          <a:xfrm>
            <a:off x="8110499" y="2148840"/>
            <a:ext cx="548640" cy="548640"/>
          </a:xfrm>
          <a:prstGeom prst="rect">
            <a:avLst/>
          </a:prstGeom>
          <a:noFill/>
          <a:ln/>
        </p:spPr>
        <p:txBody>
          <a:bodyPr wrap="square" lIns="0" tIns="0" rIns="0" bIns="0" rtlCol="0" anchor="ctr"/>
          <a:lstStyle/>
          <a:p>
            <a:pPr algn="r" indent="0" marL="0">
              <a:buNone/>
            </a:pPr>
            <a:r>
              <a:rPr lang="en-US" sz="2400" b="1" dirty="0">
                <a:solidFill>
                  <a:srgbClr val="F28C28"/>
                </a:solidFill>
                <a:latin typeface="Calibri" pitchFamily="34" charset="0"/>
                <a:ea typeface="Calibri" pitchFamily="34" charset="-122"/>
                <a:cs typeface="Calibri" pitchFamily="34" charset="-120"/>
              </a:rPr>
              <a:t>3</a:t>
            </a:r>
            <a:endParaRPr lang="en-US" sz="2400" dirty="0"/>
          </a:p>
        </p:txBody>
      </p:sp>
      <p:sp>
        <p:nvSpPr>
          <p:cNvPr id="24" name="Text 18"/>
          <p:cNvSpPr txBox="1"/>
          <p:nvPr/>
        </p:nvSpPr>
        <p:spPr>
          <a:xfrm>
            <a:off x="6397600" y="2834640"/>
            <a:ext cx="2243252" cy="365760"/>
          </a:xfrm>
          <a:prstGeom prst="rect">
            <a:avLst/>
          </a:prstGeom>
          <a:noFill/>
          <a:ln/>
        </p:spPr>
        <p:txBody>
          <a:bodyPr wrap="square" lIns="0" tIns="0" rIns="0" bIns="0" rtlCol="0" anchor="ctr"/>
          <a:lstStyle/>
          <a:p>
            <a:pPr indent="0" marL="0">
              <a:buNone/>
            </a:pPr>
            <a:r>
              <a:rPr lang="en-US" sz="1300" b="1" dirty="0">
                <a:solidFill>
                  <a:srgbClr val="06404F"/>
                </a:solidFill>
                <a:latin typeface="Calibri" pitchFamily="34" charset="0"/>
                <a:ea typeface="Calibri" pitchFamily="34" charset="-122"/>
                <a:cs typeface="Calibri" pitchFamily="34" charset="-120"/>
              </a:rPr>
              <a:t>Informer et prouver</a:t>
            </a:r>
            <a:endParaRPr lang="en-US" sz="1300" dirty="0"/>
          </a:p>
        </p:txBody>
      </p:sp>
      <p:sp>
        <p:nvSpPr>
          <p:cNvPr id="25" name="Text 19"/>
          <p:cNvSpPr txBox="1"/>
          <p:nvPr/>
        </p:nvSpPr>
        <p:spPr>
          <a:xfrm>
            <a:off x="6397600" y="3246120"/>
            <a:ext cx="2243252" cy="822960"/>
          </a:xfrm>
          <a:prstGeom prst="rect">
            <a:avLst/>
          </a:prstGeom>
          <a:noFill/>
          <a:ln/>
        </p:spPr>
        <p:txBody>
          <a:bodyPr wrap="square" lIns="0" tIns="0" rIns="0" bIns="0" rtlCol="0" anchor="t"/>
          <a:lstStyle/>
          <a:p>
            <a:pPr indent="0" marL="0">
              <a:buNone/>
            </a:pPr>
            <a:r>
              <a:rPr lang="en-US" sz="1050" dirty="0">
                <a:solidFill>
                  <a:srgbClr val="1F2A30"/>
                </a:solidFill>
                <a:latin typeface="Calibri" pitchFamily="34" charset="0"/>
                <a:ea typeface="Calibri" pitchFamily="34" charset="-122"/>
                <a:cs typeface="Calibri" pitchFamily="34" charset="-120"/>
              </a:rPr>
              <a:t>Information claire, preuve du consentement, gestion du retrait, journal d’audit.</a:t>
            </a:r>
            <a:endParaRPr lang="en-US" sz="1050" dirty="0"/>
          </a:p>
        </p:txBody>
      </p:sp>
      <p:sp>
        <p:nvSpPr>
          <p:cNvPr id="26" name="Shape 20"/>
          <p:cNvSpPr/>
          <p:nvPr/>
        </p:nvSpPr>
        <p:spPr>
          <a:xfrm>
            <a:off x="9043187" y="1965960"/>
            <a:ext cx="2645588"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7" name="Shape 21"/>
          <p:cNvSpPr/>
          <p:nvPr/>
        </p:nvSpPr>
        <p:spPr>
          <a:xfrm>
            <a:off x="9244355" y="2167128"/>
            <a:ext cx="548640" cy="548640"/>
          </a:xfrm>
          <a:prstGeom prst="ellipse">
            <a:avLst/>
          </a:prstGeom>
          <a:solidFill>
            <a:srgbClr val="06404F"/>
          </a:solidFill>
          <a:ln w="12700">
            <a:solidFill>
              <a:srgbClr val="06404F"/>
            </a:solidFill>
            <a:prstDash val="solid"/>
          </a:ln>
        </p:spPr>
      </p:sp>
      <p:pic>
        <p:nvPicPr>
          <p:cNvPr id="28" name="Image 4" descr="preencoded.png">    </p:cNvPr>
          <p:cNvPicPr>
            <a:picLocks noChangeAspect="1"/>
          </p:cNvPicPr>
          <p:nvPr/>
        </p:nvPicPr>
        <p:blipFill>
          <a:blip r:embed="rId5"/>
          <a:stretch>
            <a:fillRect/>
          </a:stretch>
        </p:blipFill>
        <p:spPr>
          <a:xfrm>
            <a:off x="9387002" y="2309774"/>
            <a:ext cx="263347" cy="263347"/>
          </a:xfrm>
          <a:prstGeom prst="rect">
            <a:avLst/>
          </a:prstGeom>
        </p:spPr>
      </p:pic>
      <p:sp>
        <p:nvSpPr>
          <p:cNvPr id="29" name="Text 22"/>
          <p:cNvSpPr txBox="1"/>
          <p:nvPr/>
        </p:nvSpPr>
        <p:spPr>
          <a:xfrm>
            <a:off x="10957255" y="2148840"/>
            <a:ext cx="548640" cy="548640"/>
          </a:xfrm>
          <a:prstGeom prst="rect">
            <a:avLst/>
          </a:prstGeom>
          <a:noFill/>
          <a:ln/>
        </p:spPr>
        <p:txBody>
          <a:bodyPr wrap="square" lIns="0" tIns="0" rIns="0" bIns="0" rtlCol="0" anchor="ctr"/>
          <a:lstStyle/>
          <a:p>
            <a:pPr algn="r" indent="0" marL="0">
              <a:buNone/>
            </a:pPr>
            <a:r>
              <a:rPr lang="en-US" sz="2400" b="1" dirty="0">
                <a:solidFill>
                  <a:srgbClr val="F28C28"/>
                </a:solidFill>
                <a:latin typeface="Calibri" pitchFamily="34" charset="0"/>
                <a:ea typeface="Calibri" pitchFamily="34" charset="-122"/>
                <a:cs typeface="Calibri" pitchFamily="34" charset="-120"/>
              </a:rPr>
              <a:t>4</a:t>
            </a:r>
            <a:endParaRPr lang="en-US" sz="2400" dirty="0"/>
          </a:p>
        </p:txBody>
      </p:sp>
      <p:sp>
        <p:nvSpPr>
          <p:cNvPr id="30" name="Text 23"/>
          <p:cNvSpPr txBox="1"/>
          <p:nvPr/>
        </p:nvSpPr>
        <p:spPr>
          <a:xfrm>
            <a:off x="9244355" y="2834640"/>
            <a:ext cx="2243252" cy="365760"/>
          </a:xfrm>
          <a:prstGeom prst="rect">
            <a:avLst/>
          </a:prstGeom>
          <a:noFill/>
          <a:ln/>
        </p:spPr>
        <p:txBody>
          <a:bodyPr wrap="square" lIns="0" tIns="0" rIns="0" bIns="0" rtlCol="0" anchor="ctr"/>
          <a:lstStyle/>
          <a:p>
            <a:pPr indent="0" marL="0">
              <a:buNone/>
            </a:pPr>
            <a:r>
              <a:rPr lang="en-US" sz="1300" b="1" dirty="0">
                <a:solidFill>
                  <a:srgbClr val="06404F"/>
                </a:solidFill>
                <a:latin typeface="Calibri" pitchFamily="34" charset="0"/>
                <a:ea typeface="Calibri" pitchFamily="34" charset="-122"/>
                <a:cs typeface="Calibri" pitchFamily="34" charset="-120"/>
              </a:rPr>
              <a:t>Valider avec votre DPO</a:t>
            </a:r>
            <a:endParaRPr lang="en-US" sz="1300" dirty="0"/>
          </a:p>
        </p:txBody>
      </p:sp>
      <p:sp>
        <p:nvSpPr>
          <p:cNvPr id="31" name="Text 24"/>
          <p:cNvSpPr txBox="1"/>
          <p:nvPr/>
        </p:nvSpPr>
        <p:spPr>
          <a:xfrm>
            <a:off x="9244355" y="3246120"/>
            <a:ext cx="2243252" cy="822960"/>
          </a:xfrm>
          <a:prstGeom prst="rect">
            <a:avLst/>
          </a:prstGeom>
          <a:noFill/>
          <a:ln/>
        </p:spPr>
        <p:txBody>
          <a:bodyPr wrap="square" lIns="0" tIns="0" rIns="0" bIns="0" rtlCol="0" anchor="t"/>
          <a:lstStyle/>
          <a:p>
            <a:pPr indent="0" marL="0">
              <a:buNone/>
            </a:pPr>
            <a:r>
              <a:rPr lang="en-US" sz="1050" dirty="0">
                <a:solidFill>
                  <a:srgbClr val="1F2A30"/>
                </a:solidFill>
                <a:latin typeface="Calibri" pitchFamily="34" charset="0"/>
                <a:ea typeface="Calibri" pitchFamily="34" charset="-122"/>
                <a:cs typeface="Calibri" pitchFamily="34" charset="-120"/>
              </a:rPr>
              <a:t>Go / no-go par typologie d’email, puis activation des seules catégories autorisées.</a:t>
            </a:r>
            <a:endParaRPr lang="en-US" sz="1050" dirty="0"/>
          </a:p>
        </p:txBody>
      </p:sp>
      <p:sp>
        <p:nvSpPr>
          <p:cNvPr id="32" name="Shape 25"/>
          <p:cNvSpPr/>
          <p:nvPr/>
        </p:nvSpPr>
        <p:spPr>
          <a:xfrm>
            <a:off x="502920" y="4251960"/>
            <a:ext cx="3576218" cy="1965960"/>
          </a:xfrm>
          <a:prstGeom prst="roundRect">
            <a:avLst>
              <a:gd name="adj" fmla="val 5581"/>
            </a:avLst>
          </a:prstGeom>
          <a:solidFill>
            <a:srgbClr val="F2F8F9"/>
          </a:solidFill>
          <a:ln w="12700">
            <a:solidFill>
              <a:srgbClr val="F2F8F9"/>
            </a:solidFill>
            <a:prstDash val="solid"/>
          </a:ln>
        </p:spPr>
      </p:sp>
      <p:sp>
        <p:nvSpPr>
          <p:cNvPr id="33" name="Shape 26"/>
          <p:cNvSpPr/>
          <p:nvPr/>
        </p:nvSpPr>
        <p:spPr>
          <a:xfrm>
            <a:off x="685800" y="4434840"/>
            <a:ext cx="384048" cy="384048"/>
          </a:xfrm>
          <a:prstGeom prst="ellipse">
            <a:avLst/>
          </a:prstGeom>
          <a:solidFill>
            <a:srgbClr val="06404F"/>
          </a:solidFill>
          <a:ln w="12700">
            <a:solidFill>
              <a:srgbClr val="06404F"/>
            </a:solidFill>
            <a:prstDash val="solid"/>
          </a:ln>
        </p:spPr>
      </p:sp>
      <p:pic>
        <p:nvPicPr>
          <p:cNvPr id="34" name="Image 5" descr="preencoded.png">    </p:cNvPr>
          <p:cNvPicPr>
            <a:picLocks noChangeAspect="1"/>
          </p:cNvPicPr>
          <p:nvPr/>
        </p:nvPicPr>
        <p:blipFill>
          <a:blip r:embed="rId6"/>
          <a:stretch>
            <a:fillRect/>
          </a:stretch>
        </p:blipFill>
        <p:spPr>
          <a:xfrm>
            <a:off x="785652" y="4534692"/>
            <a:ext cx="184343" cy="184343"/>
          </a:xfrm>
          <a:prstGeom prst="rect">
            <a:avLst/>
          </a:prstGeom>
        </p:spPr>
      </p:pic>
      <p:sp>
        <p:nvSpPr>
          <p:cNvPr id="35" name="Text 27"/>
          <p:cNvSpPr txBox="1"/>
          <p:nvPr/>
        </p:nvSpPr>
        <p:spPr>
          <a:xfrm>
            <a:off x="1188720" y="4434840"/>
            <a:ext cx="2707538" cy="384048"/>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Ce que Engage apporte</a:t>
            </a:r>
            <a:endParaRPr lang="en-US" sz="1250" dirty="0"/>
          </a:p>
        </p:txBody>
      </p:sp>
      <p:sp>
        <p:nvSpPr>
          <p:cNvPr id="36" name="Text 28"/>
          <p:cNvSpPr txBox="1"/>
          <p:nvPr/>
        </p:nvSpPr>
        <p:spPr>
          <a:xfrm>
            <a:off x="731520" y="4892040"/>
            <a:ext cx="3119018" cy="11887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Collecte du consentement (composant de données ou procédure stockée).</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Suivi d’ouverture conditionné au consentement, avec journal d’audit.</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Activation sur simple demande, une fois le consentement collecté.</a:t>
            </a:r>
            <a:endParaRPr lang="en-US" sz="1050" dirty="0"/>
          </a:p>
        </p:txBody>
      </p:sp>
      <p:sp>
        <p:nvSpPr>
          <p:cNvPr id="37" name="Shape 29"/>
          <p:cNvSpPr/>
          <p:nvPr/>
        </p:nvSpPr>
        <p:spPr>
          <a:xfrm>
            <a:off x="4307738" y="4251960"/>
            <a:ext cx="3576218" cy="1965960"/>
          </a:xfrm>
          <a:prstGeom prst="roundRect">
            <a:avLst>
              <a:gd name="adj" fmla="val 5581"/>
            </a:avLst>
          </a:prstGeom>
          <a:solidFill>
            <a:srgbClr val="F2F8F9"/>
          </a:solidFill>
          <a:ln w="12700">
            <a:solidFill>
              <a:srgbClr val="F2F8F9"/>
            </a:solidFill>
            <a:prstDash val="solid"/>
          </a:ln>
        </p:spPr>
      </p:sp>
      <p:sp>
        <p:nvSpPr>
          <p:cNvPr id="38" name="Shape 30"/>
          <p:cNvSpPr/>
          <p:nvPr/>
        </p:nvSpPr>
        <p:spPr>
          <a:xfrm>
            <a:off x="4490618" y="4434840"/>
            <a:ext cx="384048" cy="384048"/>
          </a:xfrm>
          <a:prstGeom prst="ellipse">
            <a:avLst/>
          </a:prstGeom>
          <a:solidFill>
            <a:srgbClr val="0F6B7A"/>
          </a:solidFill>
          <a:ln w="12700">
            <a:solidFill>
              <a:srgbClr val="0F6B7A"/>
            </a:solidFill>
            <a:prstDash val="solid"/>
          </a:ln>
        </p:spPr>
      </p:sp>
      <p:pic>
        <p:nvPicPr>
          <p:cNvPr id="39" name="Image 6" descr="preencoded.png">    </p:cNvPr>
          <p:cNvPicPr>
            <a:picLocks noChangeAspect="1"/>
          </p:cNvPicPr>
          <p:nvPr/>
        </p:nvPicPr>
        <p:blipFill>
          <a:blip r:embed="rId7"/>
          <a:stretch>
            <a:fillRect/>
          </a:stretch>
        </p:blipFill>
        <p:spPr>
          <a:xfrm>
            <a:off x="4590471" y="4534692"/>
            <a:ext cx="184343" cy="184343"/>
          </a:xfrm>
          <a:prstGeom prst="rect">
            <a:avLst/>
          </a:prstGeom>
        </p:spPr>
      </p:pic>
      <p:sp>
        <p:nvSpPr>
          <p:cNvPr id="40" name="Text 31"/>
          <p:cNvSpPr txBox="1"/>
          <p:nvPr/>
        </p:nvSpPr>
        <p:spPr>
          <a:xfrm>
            <a:off x="4993538" y="4434840"/>
            <a:ext cx="2707538" cy="384048"/>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Où en êtes-vous ?</a:t>
            </a:r>
            <a:endParaRPr lang="en-US" sz="1250" dirty="0"/>
          </a:p>
        </p:txBody>
      </p:sp>
      <p:sp>
        <p:nvSpPr>
          <p:cNvPr id="41" name="Text 32"/>
          <p:cNvSpPr txBox="1"/>
          <p:nvPr/>
        </p:nvSpPr>
        <p:spPr>
          <a:xfrm>
            <a:off x="4536338" y="4892040"/>
            <a:ext cx="3119018" cy="11887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Consentement collecté pour les nouveaux contacts ?</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Contacts existants informés, avec possibilité de refus ?</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Suivi sous consentement activé dans Engage ?</a:t>
            </a:r>
            <a:endParaRPr lang="en-US" sz="1050" dirty="0"/>
          </a:p>
        </p:txBody>
      </p:sp>
      <p:sp>
        <p:nvSpPr>
          <p:cNvPr id="42" name="Shape 33"/>
          <p:cNvSpPr/>
          <p:nvPr/>
        </p:nvSpPr>
        <p:spPr>
          <a:xfrm>
            <a:off x="8112557" y="4251960"/>
            <a:ext cx="3576218" cy="1965960"/>
          </a:xfrm>
          <a:prstGeom prst="roundRect">
            <a:avLst>
              <a:gd name="adj" fmla="val 5581"/>
            </a:avLst>
          </a:prstGeom>
          <a:solidFill>
            <a:srgbClr val="FDEBD9"/>
          </a:solidFill>
          <a:ln w="12700">
            <a:solidFill>
              <a:srgbClr val="FDEBD9"/>
            </a:solidFill>
            <a:prstDash val="solid"/>
          </a:ln>
        </p:spPr>
      </p:sp>
      <p:sp>
        <p:nvSpPr>
          <p:cNvPr id="43" name="Shape 34"/>
          <p:cNvSpPr/>
          <p:nvPr/>
        </p:nvSpPr>
        <p:spPr>
          <a:xfrm>
            <a:off x="8295437" y="4434840"/>
            <a:ext cx="384048" cy="384048"/>
          </a:xfrm>
          <a:prstGeom prst="ellipse">
            <a:avLst/>
          </a:prstGeom>
          <a:solidFill>
            <a:srgbClr val="F28C28"/>
          </a:solidFill>
          <a:ln w="12700">
            <a:solidFill>
              <a:srgbClr val="F28C28"/>
            </a:solidFill>
            <a:prstDash val="solid"/>
          </a:ln>
        </p:spPr>
      </p:sp>
      <p:pic>
        <p:nvPicPr>
          <p:cNvPr id="44" name="Image 7" descr="preencoded.png">    </p:cNvPr>
          <p:cNvPicPr>
            <a:picLocks noChangeAspect="1"/>
          </p:cNvPicPr>
          <p:nvPr/>
        </p:nvPicPr>
        <p:blipFill>
          <a:blip r:embed="rId8"/>
          <a:stretch>
            <a:fillRect/>
          </a:stretch>
        </p:blipFill>
        <p:spPr>
          <a:xfrm>
            <a:off x="8395289" y="4534692"/>
            <a:ext cx="184343" cy="184343"/>
          </a:xfrm>
          <a:prstGeom prst="rect">
            <a:avLst/>
          </a:prstGeom>
        </p:spPr>
      </p:pic>
      <p:sp>
        <p:nvSpPr>
          <p:cNvPr id="45" name="Text 35"/>
          <p:cNvSpPr txBox="1"/>
          <p:nvPr/>
        </p:nvSpPr>
        <p:spPr>
          <a:xfrm>
            <a:off x="8798357" y="4434840"/>
            <a:ext cx="2707538" cy="384048"/>
          </a:xfrm>
          <a:prstGeom prst="rect">
            <a:avLst/>
          </a:prstGeom>
          <a:noFill/>
          <a:ln/>
        </p:spPr>
        <p:txBody>
          <a:bodyPr wrap="square" lIns="0" tIns="0" rIns="0" bIns="0" rtlCol="0" anchor="ctr"/>
          <a:lstStyle/>
          <a:p>
            <a:pPr indent="0" marL="0">
              <a:buNone/>
            </a:pPr>
            <a:r>
              <a:rPr lang="en-US" sz="1250" b="1" dirty="0">
                <a:solidFill>
                  <a:srgbClr val="F28C28"/>
                </a:solidFill>
                <a:latin typeface="Calibri" pitchFamily="34" charset="0"/>
                <a:ea typeface="Calibri" pitchFamily="34" charset="-122"/>
                <a:cs typeface="Calibri" pitchFamily="34" charset="-120"/>
              </a:rPr>
              <a:t>Ce qui reste à faire</a:t>
            </a:r>
            <a:endParaRPr lang="en-US" sz="1250" dirty="0"/>
          </a:p>
        </p:txBody>
      </p:sp>
      <p:sp>
        <p:nvSpPr>
          <p:cNvPr id="46" name="Text 36"/>
          <p:cNvSpPr txBox="1"/>
          <p:nvPr/>
        </p:nvSpPr>
        <p:spPr>
          <a:xfrm>
            <a:off x="8341157" y="4892040"/>
            <a:ext cx="3119018" cy="11887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Validation formelle du DPO par typologie d’email.</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Activation des seules catégories autorisées dans Engage.</a:t>
            </a:r>
            <a:endParaRPr lang="en-US" sz="1050" dirty="0"/>
          </a:p>
          <a:p>
            <a:pPr marL="152400" indent="-152400">
              <a:spcAft>
                <a:spcPts val="400"/>
              </a:spcAft>
              <a:buSzPct val="100000"/>
              <a:buChar char="•"/>
            </a:pPr>
            <a:r>
              <a:rPr lang="en-US" sz="1050" dirty="0">
                <a:solidFill>
                  <a:srgbClr val="1F2A30"/>
                </a:solidFill>
                <a:latin typeface="Calibri" pitchFamily="34" charset="0"/>
                <a:ea typeface="Calibri" pitchFamily="34" charset="-122"/>
                <a:cs typeface="Calibri" pitchFamily="34" charset="-120"/>
              </a:rPr>
              <a:t>Traitement des contacts existants restés hors consentement.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CONFORMITÉ</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Au-delà de l’ouverture : les prochaines exigences CNIL</a:t>
            </a:r>
            <a:endParaRPr lang="en-US" sz="26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Le suivi des clics, la qualité du consentement et la preuve deviennent les prochains sujets à traiter.</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16</a:t>
            </a:r>
            <a:endParaRPr lang="en-US" sz="900" dirty="0"/>
          </a:p>
        </p:txBody>
      </p:sp>
      <p:sp>
        <p:nvSpPr>
          <p:cNvPr id="8" name="Shape 5"/>
          <p:cNvSpPr/>
          <p:nvPr/>
        </p:nvSpPr>
        <p:spPr>
          <a:xfrm>
            <a:off x="502920" y="1965960"/>
            <a:ext cx="2645588" cy="2926080"/>
          </a:xfrm>
          <a:prstGeom prst="roundRect">
            <a:avLst>
              <a:gd name="adj" fmla="val 4148"/>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9" name="Shape 6"/>
          <p:cNvSpPr/>
          <p:nvPr/>
        </p:nvSpPr>
        <p:spPr>
          <a:xfrm>
            <a:off x="704088" y="2167128"/>
            <a:ext cx="548640" cy="548640"/>
          </a:xfrm>
          <a:prstGeom prst="ellipse">
            <a:avLst/>
          </a:prstGeom>
          <a:solidFill>
            <a:srgbClr val="06404F"/>
          </a:solidFill>
          <a:ln w="12700">
            <a:solidFill>
              <a:srgbClr val="06404F"/>
            </a:solidFill>
            <a:prstDash val="solid"/>
          </a:ln>
        </p:spPr>
      </p:sp>
      <p:pic>
        <p:nvPicPr>
          <p:cNvPr id="10" name="Image 1" descr="preencoded.png">    </p:cNvPr>
          <p:cNvPicPr>
            <a:picLocks noChangeAspect="1"/>
          </p:cNvPicPr>
          <p:nvPr/>
        </p:nvPicPr>
        <p:blipFill>
          <a:blip r:embed="rId2"/>
          <a:stretch>
            <a:fillRect/>
          </a:stretch>
        </p:blipFill>
        <p:spPr>
          <a:xfrm>
            <a:off x="846734" y="2309774"/>
            <a:ext cx="263347" cy="263347"/>
          </a:xfrm>
          <a:prstGeom prst="rect">
            <a:avLst/>
          </a:prstGeom>
        </p:spPr>
      </p:pic>
      <p:sp>
        <p:nvSpPr>
          <p:cNvPr id="11" name="Text 7"/>
          <p:cNvSpPr txBox="1"/>
          <p:nvPr/>
        </p:nvSpPr>
        <p:spPr>
          <a:xfrm>
            <a:off x="704088" y="2834640"/>
            <a:ext cx="2243252" cy="411480"/>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Le clic aussi</a:t>
            </a:r>
            <a:endParaRPr lang="en-US" sz="1400" dirty="0"/>
          </a:p>
        </p:txBody>
      </p:sp>
      <p:sp>
        <p:nvSpPr>
          <p:cNvPr id="12" name="Shape 8"/>
          <p:cNvSpPr/>
          <p:nvPr/>
        </p:nvSpPr>
        <p:spPr>
          <a:xfrm>
            <a:off x="704088" y="3319272"/>
            <a:ext cx="2243252" cy="0"/>
          </a:xfrm>
          <a:prstGeom prst="line">
            <a:avLst/>
          </a:prstGeom>
          <a:noFill/>
          <a:ln w="9525">
            <a:solidFill>
              <a:srgbClr val="D6E0E3"/>
            </a:solidFill>
            <a:prstDash val="solid"/>
          </a:ln>
        </p:spPr>
      </p:sp>
      <p:sp>
        <p:nvSpPr>
          <p:cNvPr id="13" name="Text 9"/>
          <p:cNvSpPr txBox="1"/>
          <p:nvPr/>
        </p:nvSpPr>
        <p:spPr>
          <a:xfrm>
            <a:off x="704088" y="3429000"/>
            <a:ext cx="2243252" cy="132588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F2A30"/>
                </a:solidFill>
                <a:latin typeface="Calibri" pitchFamily="34" charset="0"/>
                <a:ea typeface="Calibri" pitchFamily="34" charset="-122"/>
                <a:cs typeface="Calibri" pitchFamily="34" charset="-120"/>
              </a:rPr>
              <a:t>La recommandation vise les pixels de mesure d’ouverture et de clic.</a:t>
            </a:r>
            <a:endParaRPr lang="en-US" sz="1050" dirty="0"/>
          </a:p>
          <a:p>
            <a:pPr marL="152400" indent="-152400">
              <a:spcAft>
                <a:spcPts val="600"/>
              </a:spcAft>
              <a:buSzPct val="100000"/>
              <a:buChar char="•"/>
            </a:pPr>
            <a:r>
              <a:rPr lang="en-US" sz="1050" dirty="0">
                <a:solidFill>
                  <a:srgbClr val="1F2A30"/>
                </a:solidFill>
                <a:latin typeface="Calibri" pitchFamily="34" charset="0"/>
                <a:ea typeface="Calibri" pitchFamily="34" charset="-122"/>
                <a:cs typeface="Calibri" pitchFamily="34" charset="-120"/>
              </a:rPr>
              <a:t>Des recommandations complémentaires sur le suivi des clics sont annoncées par la CNIL.</a:t>
            </a:r>
            <a:endParaRPr lang="en-US" sz="1050" dirty="0"/>
          </a:p>
        </p:txBody>
      </p:sp>
      <p:sp>
        <p:nvSpPr>
          <p:cNvPr id="14" name="Shape 10"/>
          <p:cNvSpPr/>
          <p:nvPr/>
        </p:nvSpPr>
        <p:spPr>
          <a:xfrm>
            <a:off x="3349676" y="1965960"/>
            <a:ext cx="2645588" cy="2926080"/>
          </a:xfrm>
          <a:prstGeom prst="roundRect">
            <a:avLst>
              <a:gd name="adj" fmla="val 4148"/>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5" name="Shape 11"/>
          <p:cNvSpPr/>
          <p:nvPr/>
        </p:nvSpPr>
        <p:spPr>
          <a:xfrm>
            <a:off x="3550844" y="2167128"/>
            <a:ext cx="548640" cy="548640"/>
          </a:xfrm>
          <a:prstGeom prst="ellipse">
            <a:avLst/>
          </a:prstGeom>
          <a:solidFill>
            <a:srgbClr val="06404F"/>
          </a:solidFill>
          <a:ln w="12700">
            <a:solidFill>
              <a:srgbClr val="06404F"/>
            </a:solidFill>
            <a:prstDash val="solid"/>
          </a:ln>
        </p:spPr>
      </p:sp>
      <p:pic>
        <p:nvPicPr>
          <p:cNvPr id="16" name="Image 2" descr="preencoded.png">    </p:cNvPr>
          <p:cNvPicPr>
            <a:picLocks noChangeAspect="1"/>
          </p:cNvPicPr>
          <p:nvPr/>
        </p:nvPicPr>
        <p:blipFill>
          <a:blip r:embed="rId3"/>
          <a:stretch>
            <a:fillRect/>
          </a:stretch>
        </p:blipFill>
        <p:spPr>
          <a:xfrm>
            <a:off x="3693490" y="2309774"/>
            <a:ext cx="263347" cy="263347"/>
          </a:xfrm>
          <a:prstGeom prst="rect">
            <a:avLst/>
          </a:prstGeom>
        </p:spPr>
      </p:pic>
      <p:sp>
        <p:nvSpPr>
          <p:cNvPr id="17" name="Text 12"/>
          <p:cNvSpPr txBox="1"/>
          <p:nvPr/>
        </p:nvSpPr>
        <p:spPr>
          <a:xfrm>
            <a:off x="3550844" y="2834640"/>
            <a:ext cx="2243252" cy="411480"/>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Un consentement distinct</a:t>
            </a:r>
            <a:endParaRPr lang="en-US" sz="1400" dirty="0"/>
          </a:p>
        </p:txBody>
      </p:sp>
      <p:sp>
        <p:nvSpPr>
          <p:cNvPr id="18" name="Shape 13"/>
          <p:cNvSpPr/>
          <p:nvPr/>
        </p:nvSpPr>
        <p:spPr>
          <a:xfrm>
            <a:off x="3550844" y="3319272"/>
            <a:ext cx="2243252" cy="0"/>
          </a:xfrm>
          <a:prstGeom prst="line">
            <a:avLst/>
          </a:prstGeom>
          <a:noFill/>
          <a:ln w="9525">
            <a:solidFill>
              <a:srgbClr val="D6E0E3"/>
            </a:solidFill>
            <a:prstDash val="solid"/>
          </a:ln>
        </p:spPr>
      </p:sp>
      <p:sp>
        <p:nvSpPr>
          <p:cNvPr id="19" name="Text 14"/>
          <p:cNvSpPr txBox="1"/>
          <p:nvPr/>
        </p:nvSpPr>
        <p:spPr>
          <a:xfrm>
            <a:off x="3550844" y="3429000"/>
            <a:ext cx="2243252" cy="132588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F2A30"/>
                </a:solidFill>
                <a:latin typeface="Calibri" pitchFamily="34" charset="0"/>
                <a:ea typeface="Calibri" pitchFamily="34" charset="-122"/>
                <a:cs typeface="Calibri" pitchFamily="34" charset="-120"/>
              </a:rPr>
              <a:t>Préalable, spécifique et séparé de l’inscription à la newsletter.</a:t>
            </a:r>
            <a:endParaRPr lang="en-US" sz="1050" dirty="0"/>
          </a:p>
          <a:p>
            <a:pPr marL="152400" indent="-152400">
              <a:spcAft>
                <a:spcPts val="600"/>
              </a:spcAft>
              <a:buSzPct val="100000"/>
              <a:buChar char="•"/>
            </a:pPr>
            <a:r>
              <a:rPr lang="en-US" sz="1050" dirty="0">
                <a:solidFill>
                  <a:srgbClr val="1F2A30"/>
                </a:solidFill>
                <a:latin typeface="Calibri" pitchFamily="34" charset="0"/>
                <a:ea typeface="Calibri" pitchFamily="34" charset="-122"/>
                <a:cs typeface="Calibri" pitchFamily="34" charset="-120"/>
              </a:rPr>
              <a:t>Le retrait doit être aussi simple que le recueil, sans parcours complexe.</a:t>
            </a:r>
            <a:endParaRPr lang="en-US" sz="1050" dirty="0"/>
          </a:p>
        </p:txBody>
      </p:sp>
      <p:sp>
        <p:nvSpPr>
          <p:cNvPr id="20" name="Shape 15"/>
          <p:cNvSpPr/>
          <p:nvPr/>
        </p:nvSpPr>
        <p:spPr>
          <a:xfrm>
            <a:off x="6196432" y="1965960"/>
            <a:ext cx="2645588" cy="2926080"/>
          </a:xfrm>
          <a:prstGeom prst="roundRect">
            <a:avLst>
              <a:gd name="adj" fmla="val 4148"/>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1" name="Shape 16"/>
          <p:cNvSpPr/>
          <p:nvPr/>
        </p:nvSpPr>
        <p:spPr>
          <a:xfrm>
            <a:off x="6397600" y="2167128"/>
            <a:ext cx="548640" cy="548640"/>
          </a:xfrm>
          <a:prstGeom prst="ellipse">
            <a:avLst/>
          </a:prstGeom>
          <a:solidFill>
            <a:srgbClr val="06404F"/>
          </a:solidFill>
          <a:ln w="12700">
            <a:solidFill>
              <a:srgbClr val="06404F"/>
            </a:solidFill>
            <a:prstDash val="solid"/>
          </a:ln>
        </p:spPr>
      </p:sp>
      <p:pic>
        <p:nvPicPr>
          <p:cNvPr id="22" name="Image 3" descr="preencoded.png">    </p:cNvPr>
          <p:cNvPicPr>
            <a:picLocks noChangeAspect="1"/>
          </p:cNvPicPr>
          <p:nvPr/>
        </p:nvPicPr>
        <p:blipFill>
          <a:blip r:embed="rId4"/>
          <a:stretch>
            <a:fillRect/>
          </a:stretch>
        </p:blipFill>
        <p:spPr>
          <a:xfrm>
            <a:off x="6540246" y="2309774"/>
            <a:ext cx="263347" cy="263347"/>
          </a:xfrm>
          <a:prstGeom prst="rect">
            <a:avLst/>
          </a:prstGeom>
        </p:spPr>
      </p:pic>
      <p:sp>
        <p:nvSpPr>
          <p:cNvPr id="23" name="Text 17"/>
          <p:cNvSpPr txBox="1"/>
          <p:nvPr/>
        </p:nvSpPr>
        <p:spPr>
          <a:xfrm>
            <a:off x="6397600" y="2834640"/>
            <a:ext cx="2243252" cy="411480"/>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La preuve et la durée</a:t>
            </a:r>
            <a:endParaRPr lang="en-US" sz="1400" dirty="0"/>
          </a:p>
        </p:txBody>
      </p:sp>
      <p:sp>
        <p:nvSpPr>
          <p:cNvPr id="24" name="Shape 18"/>
          <p:cNvSpPr/>
          <p:nvPr/>
        </p:nvSpPr>
        <p:spPr>
          <a:xfrm>
            <a:off x="6397600" y="3319272"/>
            <a:ext cx="2243252" cy="0"/>
          </a:xfrm>
          <a:prstGeom prst="line">
            <a:avLst/>
          </a:prstGeom>
          <a:noFill/>
          <a:ln w="9525">
            <a:solidFill>
              <a:srgbClr val="D6E0E3"/>
            </a:solidFill>
            <a:prstDash val="solid"/>
          </a:ln>
        </p:spPr>
      </p:sp>
      <p:sp>
        <p:nvSpPr>
          <p:cNvPr id="25" name="Text 19"/>
          <p:cNvSpPr txBox="1"/>
          <p:nvPr/>
        </p:nvSpPr>
        <p:spPr>
          <a:xfrm>
            <a:off x="6397600" y="3429000"/>
            <a:ext cx="2243252" cy="132588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F2A30"/>
                </a:solidFill>
                <a:latin typeface="Calibri" pitchFamily="34" charset="0"/>
                <a:ea typeface="Calibri" pitchFamily="34" charset="-122"/>
                <a:cs typeface="Calibri" pitchFamily="34" charset="-120"/>
              </a:rPr>
              <a:t>Documenter qui a consenti, à quoi et quand.</a:t>
            </a:r>
            <a:endParaRPr lang="en-US" sz="1050" dirty="0"/>
          </a:p>
          <a:p>
            <a:pPr marL="152400" indent="-152400">
              <a:spcAft>
                <a:spcPts val="600"/>
              </a:spcAft>
              <a:buSzPct val="100000"/>
              <a:buChar char="•"/>
            </a:pPr>
            <a:r>
              <a:rPr lang="en-US" sz="1050" dirty="0">
                <a:solidFill>
                  <a:srgbClr val="1F2A30"/>
                </a:solidFill>
                <a:latin typeface="Calibri" pitchFamily="34" charset="0"/>
                <a:ea typeface="Calibri" pitchFamily="34" charset="-122"/>
                <a:cs typeface="Calibri" pitchFamily="34" charset="-120"/>
              </a:rPr>
              <a:t>Fixer et respecter une durée de conservation des données de suivi.</a:t>
            </a:r>
            <a:endParaRPr lang="en-US" sz="1050" dirty="0"/>
          </a:p>
        </p:txBody>
      </p:sp>
      <p:sp>
        <p:nvSpPr>
          <p:cNvPr id="26" name="Shape 20"/>
          <p:cNvSpPr/>
          <p:nvPr/>
        </p:nvSpPr>
        <p:spPr>
          <a:xfrm>
            <a:off x="9043187" y="1965960"/>
            <a:ext cx="2645588" cy="2926080"/>
          </a:xfrm>
          <a:prstGeom prst="roundRect">
            <a:avLst>
              <a:gd name="adj" fmla="val 4148"/>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7" name="Shape 21"/>
          <p:cNvSpPr/>
          <p:nvPr/>
        </p:nvSpPr>
        <p:spPr>
          <a:xfrm>
            <a:off x="9244355" y="2167128"/>
            <a:ext cx="548640" cy="548640"/>
          </a:xfrm>
          <a:prstGeom prst="ellipse">
            <a:avLst/>
          </a:prstGeom>
          <a:solidFill>
            <a:srgbClr val="06404F"/>
          </a:solidFill>
          <a:ln w="12700">
            <a:solidFill>
              <a:srgbClr val="06404F"/>
            </a:solidFill>
            <a:prstDash val="solid"/>
          </a:ln>
        </p:spPr>
      </p:sp>
      <p:pic>
        <p:nvPicPr>
          <p:cNvPr id="28" name="Image 4" descr="preencoded.png">    </p:cNvPr>
          <p:cNvPicPr>
            <a:picLocks noChangeAspect="1"/>
          </p:cNvPicPr>
          <p:nvPr/>
        </p:nvPicPr>
        <p:blipFill>
          <a:blip r:embed="rId5"/>
          <a:stretch>
            <a:fillRect/>
          </a:stretch>
        </p:blipFill>
        <p:spPr>
          <a:xfrm>
            <a:off x="9387002" y="2309774"/>
            <a:ext cx="263347" cy="263347"/>
          </a:xfrm>
          <a:prstGeom prst="rect">
            <a:avLst/>
          </a:prstGeom>
        </p:spPr>
      </p:pic>
      <p:sp>
        <p:nvSpPr>
          <p:cNvPr id="29" name="Text 22"/>
          <p:cNvSpPr txBox="1"/>
          <p:nvPr/>
        </p:nvSpPr>
        <p:spPr>
          <a:xfrm>
            <a:off x="9244355" y="2834640"/>
            <a:ext cx="2243252" cy="411480"/>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La sécurité en tête</a:t>
            </a:r>
            <a:endParaRPr lang="en-US" sz="1400" dirty="0"/>
          </a:p>
        </p:txBody>
      </p:sp>
      <p:sp>
        <p:nvSpPr>
          <p:cNvPr id="30" name="Shape 23"/>
          <p:cNvSpPr/>
          <p:nvPr/>
        </p:nvSpPr>
        <p:spPr>
          <a:xfrm>
            <a:off x="9244355" y="3319272"/>
            <a:ext cx="2243252" cy="0"/>
          </a:xfrm>
          <a:prstGeom prst="line">
            <a:avLst/>
          </a:prstGeom>
          <a:noFill/>
          <a:ln w="9525">
            <a:solidFill>
              <a:srgbClr val="D6E0E3"/>
            </a:solidFill>
            <a:prstDash val="solid"/>
          </a:ln>
        </p:spPr>
      </p:sp>
      <p:sp>
        <p:nvSpPr>
          <p:cNvPr id="31" name="Text 24"/>
          <p:cNvSpPr txBox="1"/>
          <p:nvPr/>
        </p:nvSpPr>
        <p:spPr>
          <a:xfrm>
            <a:off x="9244355" y="3429000"/>
            <a:ext cx="2243252" cy="132588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F2A30"/>
                </a:solidFill>
                <a:latin typeface="Calibri" pitchFamily="34" charset="0"/>
                <a:ea typeface="Calibri" pitchFamily="34" charset="-122"/>
                <a:cs typeface="Calibri" pitchFamily="34" charset="-120"/>
              </a:rPr>
              <a:t>La CNIL consacre la moitié de ses contrôles 2026 à la cybersécurité.</a:t>
            </a:r>
            <a:endParaRPr lang="en-US" sz="1050" dirty="0"/>
          </a:p>
          <a:p>
            <a:pPr marL="152400" indent="-152400">
              <a:spcAft>
                <a:spcPts val="600"/>
              </a:spcAft>
              <a:buSzPct val="100000"/>
              <a:buChar char="•"/>
            </a:pPr>
            <a:r>
              <a:rPr lang="en-US" sz="1050" dirty="0">
                <a:solidFill>
                  <a:srgbClr val="1F2A30"/>
                </a:solidFill>
                <a:latin typeface="Calibri" pitchFamily="34" charset="0"/>
                <a:ea typeface="Calibri" pitchFamily="34" charset="-122"/>
                <a:cs typeface="Calibri" pitchFamily="34" charset="-120"/>
              </a:rPr>
              <a:t>La logique 2026 : prouver la conformité, pas seulement la déclarer.</a:t>
            </a:r>
            <a:endParaRPr lang="en-US" sz="1050" dirty="0"/>
          </a:p>
        </p:txBody>
      </p:sp>
      <p:sp>
        <p:nvSpPr>
          <p:cNvPr id="32" name="Shape 25"/>
          <p:cNvSpPr/>
          <p:nvPr/>
        </p:nvSpPr>
        <p:spPr>
          <a:xfrm>
            <a:off x="502920" y="5166360"/>
            <a:ext cx="5455768" cy="1051560"/>
          </a:xfrm>
          <a:prstGeom prst="roundRect">
            <a:avLst>
              <a:gd name="adj" fmla="val 10435"/>
            </a:avLst>
          </a:prstGeom>
          <a:solidFill>
            <a:srgbClr val="F2F8F9"/>
          </a:solidFill>
          <a:ln w="12700">
            <a:solidFill>
              <a:srgbClr val="F2F8F9"/>
            </a:solidFill>
            <a:prstDash val="solid"/>
          </a:ln>
        </p:spPr>
      </p:sp>
      <p:sp>
        <p:nvSpPr>
          <p:cNvPr id="33" name="Shape 26"/>
          <p:cNvSpPr/>
          <p:nvPr/>
        </p:nvSpPr>
        <p:spPr>
          <a:xfrm>
            <a:off x="685800" y="5349240"/>
            <a:ext cx="384048" cy="384048"/>
          </a:xfrm>
          <a:prstGeom prst="ellipse">
            <a:avLst/>
          </a:prstGeom>
          <a:solidFill>
            <a:srgbClr val="06404F"/>
          </a:solidFill>
          <a:ln w="12700">
            <a:solidFill>
              <a:srgbClr val="06404F"/>
            </a:solidFill>
            <a:prstDash val="solid"/>
          </a:ln>
        </p:spPr>
      </p:sp>
      <p:pic>
        <p:nvPicPr>
          <p:cNvPr id="34" name="Image 5" descr="preencoded.png">    </p:cNvPr>
          <p:cNvPicPr>
            <a:picLocks noChangeAspect="1"/>
          </p:cNvPicPr>
          <p:nvPr/>
        </p:nvPicPr>
        <p:blipFill>
          <a:blip r:embed="rId6"/>
          <a:stretch>
            <a:fillRect/>
          </a:stretch>
        </p:blipFill>
        <p:spPr>
          <a:xfrm>
            <a:off x="785652" y="5449092"/>
            <a:ext cx="184343" cy="184343"/>
          </a:xfrm>
          <a:prstGeom prst="rect">
            <a:avLst/>
          </a:prstGeom>
        </p:spPr>
      </p:pic>
      <p:sp>
        <p:nvSpPr>
          <p:cNvPr id="35" name="Text 27"/>
          <p:cNvSpPr txBox="1"/>
          <p:nvPr/>
        </p:nvSpPr>
        <p:spPr>
          <a:xfrm>
            <a:off x="1188720" y="5349240"/>
            <a:ext cx="4587088" cy="384048"/>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Ce qu’Engage permet déjà</a:t>
            </a:r>
            <a:endParaRPr lang="en-US" sz="1250" dirty="0"/>
          </a:p>
        </p:txBody>
      </p:sp>
      <p:sp>
        <p:nvSpPr>
          <p:cNvPr id="36" name="Text 28"/>
          <p:cNvSpPr txBox="1"/>
          <p:nvPr/>
        </p:nvSpPr>
        <p:spPr>
          <a:xfrm>
            <a:off x="731520" y="5806440"/>
            <a:ext cx="4998568" cy="2743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30"/>
                </a:solidFill>
                <a:latin typeface="Calibri" pitchFamily="34" charset="0"/>
                <a:ea typeface="Calibri" pitchFamily="34" charset="-122"/>
                <a:cs typeface="Calibri" pitchFamily="34" charset="-120"/>
              </a:rPr>
              <a:t>Conditionner ouverture et clic au consentement recueilli, par typologie d’email.</a:t>
            </a:r>
            <a:endParaRPr lang="en-US" sz="1100" dirty="0"/>
          </a:p>
          <a:p>
            <a:pPr marL="152400" indent="-152400">
              <a:spcAft>
                <a:spcPts val="400"/>
              </a:spcAft>
              <a:buSzPct val="100000"/>
              <a:buChar char="•"/>
            </a:pPr>
            <a:r>
              <a:rPr lang="en-US" sz="1100" dirty="0">
                <a:solidFill>
                  <a:srgbClr val="1F2A30"/>
                </a:solidFill>
                <a:latin typeface="Calibri" pitchFamily="34" charset="0"/>
                <a:ea typeface="Calibri" pitchFamily="34" charset="-122"/>
                <a:cs typeface="Calibri" pitchFamily="34" charset="-120"/>
              </a:rPr>
              <a:t>Journal d’audit du consentement, étendu à l’historique des changements.</a:t>
            </a:r>
            <a:endParaRPr lang="en-US" sz="1100" dirty="0"/>
          </a:p>
        </p:txBody>
      </p:sp>
      <p:sp>
        <p:nvSpPr>
          <p:cNvPr id="37" name="Shape 29"/>
          <p:cNvSpPr/>
          <p:nvPr/>
        </p:nvSpPr>
        <p:spPr>
          <a:xfrm>
            <a:off x="6233008" y="5166360"/>
            <a:ext cx="5455768" cy="1051560"/>
          </a:xfrm>
          <a:prstGeom prst="roundRect">
            <a:avLst>
              <a:gd name="adj" fmla="val 10435"/>
            </a:avLst>
          </a:prstGeom>
          <a:solidFill>
            <a:srgbClr val="FDEBD9"/>
          </a:solidFill>
          <a:ln w="12700">
            <a:solidFill>
              <a:srgbClr val="FDEBD9"/>
            </a:solidFill>
            <a:prstDash val="solid"/>
          </a:ln>
        </p:spPr>
      </p:sp>
      <p:sp>
        <p:nvSpPr>
          <p:cNvPr id="38" name="Shape 30"/>
          <p:cNvSpPr/>
          <p:nvPr/>
        </p:nvSpPr>
        <p:spPr>
          <a:xfrm>
            <a:off x="6415888" y="5349240"/>
            <a:ext cx="384048" cy="384048"/>
          </a:xfrm>
          <a:prstGeom prst="ellipse">
            <a:avLst/>
          </a:prstGeom>
          <a:solidFill>
            <a:srgbClr val="F28C28"/>
          </a:solidFill>
          <a:ln w="12700">
            <a:solidFill>
              <a:srgbClr val="F28C28"/>
            </a:solidFill>
            <a:prstDash val="solid"/>
          </a:ln>
        </p:spPr>
      </p:sp>
      <p:pic>
        <p:nvPicPr>
          <p:cNvPr id="39" name="Image 6" descr="preencoded.png">    </p:cNvPr>
          <p:cNvPicPr>
            <a:picLocks noChangeAspect="1"/>
          </p:cNvPicPr>
          <p:nvPr/>
        </p:nvPicPr>
        <p:blipFill>
          <a:blip r:embed="rId7"/>
          <a:stretch>
            <a:fillRect/>
          </a:stretch>
        </p:blipFill>
        <p:spPr>
          <a:xfrm>
            <a:off x="6515740" y="5449092"/>
            <a:ext cx="184343" cy="184343"/>
          </a:xfrm>
          <a:prstGeom prst="rect">
            <a:avLst/>
          </a:prstGeom>
        </p:spPr>
      </p:pic>
      <p:sp>
        <p:nvSpPr>
          <p:cNvPr id="40" name="Text 31"/>
          <p:cNvSpPr txBox="1"/>
          <p:nvPr/>
        </p:nvSpPr>
        <p:spPr>
          <a:xfrm>
            <a:off x="6918808" y="5349240"/>
            <a:ext cx="4587088" cy="384048"/>
          </a:xfrm>
          <a:prstGeom prst="rect">
            <a:avLst/>
          </a:prstGeom>
          <a:noFill/>
          <a:ln/>
        </p:spPr>
        <p:txBody>
          <a:bodyPr wrap="square" lIns="0" tIns="0" rIns="0" bIns="0" rtlCol="0" anchor="ctr"/>
          <a:lstStyle/>
          <a:p>
            <a:pPr indent="0" marL="0">
              <a:buNone/>
            </a:pPr>
            <a:r>
              <a:rPr lang="en-US" sz="1250" b="1" dirty="0">
                <a:solidFill>
                  <a:srgbClr val="F28C28"/>
                </a:solidFill>
                <a:latin typeface="Calibri" pitchFamily="34" charset="0"/>
                <a:ea typeface="Calibri" pitchFamily="34" charset="-122"/>
                <a:cs typeface="Calibri" pitchFamily="34" charset="-120"/>
              </a:rPr>
              <a:t>Ce que nous vous recommandons</a:t>
            </a:r>
            <a:endParaRPr lang="en-US" sz="1250" dirty="0"/>
          </a:p>
        </p:txBody>
      </p:sp>
      <p:sp>
        <p:nvSpPr>
          <p:cNvPr id="41" name="Text 32"/>
          <p:cNvSpPr txBox="1"/>
          <p:nvPr/>
        </p:nvSpPr>
        <p:spPr>
          <a:xfrm>
            <a:off x="6461608" y="5806440"/>
            <a:ext cx="4998568" cy="2743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A30"/>
                </a:solidFill>
                <a:latin typeface="Calibri" pitchFamily="34" charset="0"/>
                <a:ea typeface="Calibri" pitchFamily="34" charset="-122"/>
                <a:cs typeface="Calibri" pitchFamily="34" charset="-120"/>
              </a:rPr>
              <a:t>Étendre dès maintenant la mécanique de consentement au suivi des clics.</a:t>
            </a:r>
            <a:endParaRPr lang="en-US" sz="1100" dirty="0"/>
          </a:p>
          <a:p>
            <a:pPr marL="152400" indent="-152400">
              <a:spcAft>
                <a:spcPts val="400"/>
              </a:spcAft>
              <a:buSzPct val="100000"/>
              <a:buChar char="•"/>
            </a:pPr>
            <a:r>
              <a:rPr lang="en-US" sz="1100" dirty="0">
                <a:solidFill>
                  <a:srgbClr val="1F2A30"/>
                </a:solidFill>
                <a:latin typeface="Calibri" pitchFamily="34" charset="0"/>
                <a:ea typeface="Calibri" pitchFamily="34" charset="-122"/>
                <a:cs typeface="Calibri" pitchFamily="34" charset="-120"/>
              </a:rPr>
              <a:t>Cadrer la durée de conservation des données de suivi avec votre DPO.</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ENGAGE</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200" b="1" dirty="0">
                <a:solidFill>
                  <a:srgbClr val="06404F"/>
                </a:solidFill>
                <a:latin typeface="Calibri" pitchFamily="34" charset="0"/>
                <a:ea typeface="Calibri" pitchFamily="34" charset="-122"/>
                <a:cs typeface="Calibri" pitchFamily="34" charset="-120"/>
              </a:rPr>
              <a:t>Roadmap Engage : de la confiance opérationnelle à l’intelligence</a:t>
            </a:r>
            <a:endParaRPr lang="en-US" sz="22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Les fondations de conformité et de contenu d’abord, l’authentification et les connecteurs ensuite, l’intelligence artificielle en fin de parcours.</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17</a:t>
            </a:r>
            <a:endParaRPr lang="en-US" sz="900" dirty="0"/>
          </a:p>
        </p:txBody>
      </p:sp>
      <p:sp>
        <p:nvSpPr>
          <p:cNvPr id="8" name="Shape 5"/>
          <p:cNvSpPr/>
          <p:nvPr/>
        </p:nvSpPr>
        <p:spPr>
          <a:xfrm>
            <a:off x="1541038" y="2697480"/>
            <a:ext cx="9109619" cy="0"/>
          </a:xfrm>
          <a:prstGeom prst="line">
            <a:avLst/>
          </a:prstGeom>
          <a:noFill/>
          <a:ln w="31750">
            <a:solidFill>
              <a:srgbClr val="D6E0E3"/>
            </a:solidFill>
            <a:prstDash val="solid"/>
          </a:ln>
        </p:spPr>
      </p:sp>
      <p:sp>
        <p:nvSpPr>
          <p:cNvPr id="9" name="Text 6"/>
          <p:cNvSpPr txBox="1"/>
          <p:nvPr/>
        </p:nvSpPr>
        <p:spPr>
          <a:xfrm>
            <a:off x="502920"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Aujourd’hui</a:t>
            </a:r>
            <a:endParaRPr lang="en-US" sz="1300" dirty="0"/>
          </a:p>
        </p:txBody>
      </p:sp>
      <p:sp>
        <p:nvSpPr>
          <p:cNvPr id="10" name="Shape 7"/>
          <p:cNvSpPr/>
          <p:nvPr/>
        </p:nvSpPr>
        <p:spPr>
          <a:xfrm>
            <a:off x="1266718" y="2423160"/>
            <a:ext cx="548640" cy="548640"/>
          </a:xfrm>
          <a:prstGeom prst="ellipse">
            <a:avLst/>
          </a:prstGeom>
          <a:solidFill>
            <a:srgbClr val="06404F"/>
          </a:solidFill>
          <a:ln w="12700">
            <a:solidFill>
              <a:srgbClr val="06404F"/>
            </a:solidFill>
            <a:prstDash val="solid"/>
          </a:ln>
        </p:spPr>
      </p:sp>
      <p:pic>
        <p:nvPicPr>
          <p:cNvPr id="11" name="Image 1" descr="preencoded.png">    </p:cNvPr>
          <p:cNvPicPr>
            <a:picLocks noChangeAspect="1"/>
          </p:cNvPicPr>
          <p:nvPr/>
        </p:nvPicPr>
        <p:blipFill>
          <a:blip r:embed="rId2"/>
          <a:stretch>
            <a:fillRect/>
          </a:stretch>
        </p:blipFill>
        <p:spPr>
          <a:xfrm>
            <a:off x="1409365" y="2565806"/>
            <a:ext cx="263347" cy="263347"/>
          </a:xfrm>
          <a:prstGeom prst="rect">
            <a:avLst/>
          </a:prstGeom>
        </p:spPr>
      </p:pic>
      <p:sp>
        <p:nvSpPr>
          <p:cNvPr id="12" name="Shape 8"/>
          <p:cNvSpPr/>
          <p:nvPr/>
        </p:nvSpPr>
        <p:spPr>
          <a:xfrm>
            <a:off x="502920"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704088"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Confiance</a:t>
            </a:r>
            <a:endParaRPr lang="en-US" sz="1400" dirty="0"/>
          </a:p>
        </p:txBody>
      </p:sp>
      <p:sp>
        <p:nvSpPr>
          <p:cNvPr id="14" name="Shape 10"/>
          <p:cNvSpPr/>
          <p:nvPr/>
        </p:nvSpPr>
        <p:spPr>
          <a:xfrm>
            <a:off x="704088" y="4187952"/>
            <a:ext cx="1673901" cy="0"/>
          </a:xfrm>
          <a:prstGeom prst="line">
            <a:avLst/>
          </a:prstGeom>
          <a:noFill/>
          <a:ln w="9525">
            <a:solidFill>
              <a:srgbClr val="D6E0E3"/>
            </a:solidFill>
            <a:prstDash val="solid"/>
          </a:ln>
        </p:spPr>
      </p:sp>
      <p:sp>
        <p:nvSpPr>
          <p:cNvPr id="15" name="Text 11"/>
          <p:cNvSpPr txBox="1"/>
          <p:nvPr/>
        </p:nvSpPr>
        <p:spPr>
          <a:xfrm>
            <a:off x="704088"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Désabonnement omnicanal et en-têtes email</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Suivi d’ouverture sous consentement</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Filtrage des interactions automatisées</a:t>
            </a:r>
            <a:endParaRPr lang="en-US" sz="1050" dirty="0"/>
          </a:p>
        </p:txBody>
      </p:sp>
      <p:sp>
        <p:nvSpPr>
          <p:cNvPr id="16" name="Text 12"/>
          <p:cNvSpPr txBox="1"/>
          <p:nvPr/>
        </p:nvSpPr>
        <p:spPr>
          <a:xfrm>
            <a:off x="2780325"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Q4 2026</a:t>
            </a:r>
            <a:endParaRPr lang="en-US" sz="1300" dirty="0"/>
          </a:p>
        </p:txBody>
      </p:sp>
      <p:sp>
        <p:nvSpPr>
          <p:cNvPr id="17" name="Shape 13"/>
          <p:cNvSpPr/>
          <p:nvPr/>
        </p:nvSpPr>
        <p:spPr>
          <a:xfrm>
            <a:off x="3544123" y="2423160"/>
            <a:ext cx="548640" cy="548640"/>
          </a:xfrm>
          <a:prstGeom prst="ellipse">
            <a:avLst/>
          </a:prstGeom>
          <a:solidFill>
            <a:srgbClr val="06404F"/>
          </a:solidFill>
          <a:ln w="12700">
            <a:solidFill>
              <a:srgbClr val="06404F"/>
            </a:solidFill>
            <a:prstDash val="solid"/>
          </a:ln>
        </p:spPr>
      </p:sp>
      <p:pic>
        <p:nvPicPr>
          <p:cNvPr id="18" name="Image 2" descr="preencoded.png">    </p:cNvPr>
          <p:cNvPicPr>
            <a:picLocks noChangeAspect="1"/>
          </p:cNvPicPr>
          <p:nvPr/>
        </p:nvPicPr>
        <p:blipFill>
          <a:blip r:embed="rId3"/>
          <a:stretch>
            <a:fillRect/>
          </a:stretch>
        </p:blipFill>
        <p:spPr>
          <a:xfrm>
            <a:off x="3686769" y="2565806"/>
            <a:ext cx="263347" cy="263347"/>
          </a:xfrm>
          <a:prstGeom prst="rect">
            <a:avLst/>
          </a:prstGeom>
        </p:spPr>
      </p:pic>
      <p:sp>
        <p:nvSpPr>
          <p:cNvPr id="19" name="Shape 14"/>
          <p:cNvSpPr/>
          <p:nvPr/>
        </p:nvSpPr>
        <p:spPr>
          <a:xfrm>
            <a:off x="2780325"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0" name="Text 15"/>
          <p:cNvSpPr txBox="1"/>
          <p:nvPr/>
        </p:nvSpPr>
        <p:spPr>
          <a:xfrm>
            <a:off x="2981493"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Contenus &amp; canaux</a:t>
            </a:r>
            <a:endParaRPr lang="en-US" sz="1400" dirty="0"/>
          </a:p>
        </p:txBody>
      </p:sp>
      <p:sp>
        <p:nvSpPr>
          <p:cNvPr id="21" name="Shape 16"/>
          <p:cNvSpPr/>
          <p:nvPr/>
        </p:nvSpPr>
        <p:spPr>
          <a:xfrm>
            <a:off x="2981493" y="4187952"/>
            <a:ext cx="1673901" cy="0"/>
          </a:xfrm>
          <a:prstGeom prst="line">
            <a:avLst/>
          </a:prstGeom>
          <a:noFill/>
          <a:ln w="9525">
            <a:solidFill>
              <a:srgbClr val="D6E0E3"/>
            </a:solidFill>
            <a:prstDash val="solid"/>
          </a:ln>
        </p:spPr>
      </p:sp>
      <p:sp>
        <p:nvSpPr>
          <p:cNvPr id="22" name="Text 17"/>
          <p:cNvSpPr txBox="1"/>
          <p:nvPr/>
        </p:nvSpPr>
        <p:spPr>
          <a:xfrm>
            <a:off x="2981493"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Blocs de contenu publiés et prévisualisation</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Groupes de test et seed lists</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Canal RCS</a:t>
            </a:r>
            <a:endParaRPr lang="en-US" sz="1050" dirty="0"/>
          </a:p>
        </p:txBody>
      </p:sp>
      <p:sp>
        <p:nvSpPr>
          <p:cNvPr id="23" name="Text 18"/>
          <p:cNvSpPr txBox="1"/>
          <p:nvPr/>
        </p:nvSpPr>
        <p:spPr>
          <a:xfrm>
            <a:off x="5057729"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Q1 2027</a:t>
            </a:r>
            <a:endParaRPr lang="en-US" sz="1300" dirty="0"/>
          </a:p>
        </p:txBody>
      </p:sp>
      <p:sp>
        <p:nvSpPr>
          <p:cNvPr id="24" name="Shape 19"/>
          <p:cNvSpPr/>
          <p:nvPr/>
        </p:nvSpPr>
        <p:spPr>
          <a:xfrm>
            <a:off x="5821528" y="2423160"/>
            <a:ext cx="548640" cy="548640"/>
          </a:xfrm>
          <a:prstGeom prst="ellipse">
            <a:avLst/>
          </a:prstGeom>
          <a:solidFill>
            <a:srgbClr val="06404F"/>
          </a:solidFill>
          <a:ln w="12700">
            <a:solidFill>
              <a:srgbClr val="06404F"/>
            </a:solidFill>
            <a:prstDash val="solid"/>
          </a:ln>
        </p:spPr>
      </p:sp>
      <p:pic>
        <p:nvPicPr>
          <p:cNvPr id="25" name="Image 3" descr="preencoded.png">    </p:cNvPr>
          <p:cNvPicPr>
            <a:picLocks noChangeAspect="1"/>
          </p:cNvPicPr>
          <p:nvPr/>
        </p:nvPicPr>
        <p:blipFill>
          <a:blip r:embed="rId4"/>
          <a:stretch>
            <a:fillRect/>
          </a:stretch>
        </p:blipFill>
        <p:spPr>
          <a:xfrm>
            <a:off x="5964174" y="2565806"/>
            <a:ext cx="263347" cy="263347"/>
          </a:xfrm>
          <a:prstGeom prst="rect">
            <a:avLst/>
          </a:prstGeom>
        </p:spPr>
      </p:pic>
      <p:sp>
        <p:nvSpPr>
          <p:cNvPr id="26" name="Shape 20"/>
          <p:cNvSpPr/>
          <p:nvPr/>
        </p:nvSpPr>
        <p:spPr>
          <a:xfrm>
            <a:off x="5057729"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27" name="Text 21"/>
          <p:cNvSpPr txBox="1"/>
          <p:nvPr/>
        </p:nvSpPr>
        <p:spPr>
          <a:xfrm>
            <a:off x="5258897"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Authentification</a:t>
            </a:r>
            <a:endParaRPr lang="en-US" sz="1400" dirty="0"/>
          </a:p>
        </p:txBody>
      </p:sp>
      <p:sp>
        <p:nvSpPr>
          <p:cNvPr id="28" name="Shape 22"/>
          <p:cNvSpPr/>
          <p:nvPr/>
        </p:nvSpPr>
        <p:spPr>
          <a:xfrm>
            <a:off x="5258897" y="4187952"/>
            <a:ext cx="1673901" cy="0"/>
          </a:xfrm>
          <a:prstGeom prst="line">
            <a:avLst/>
          </a:prstGeom>
          <a:noFill/>
          <a:ln w="9525">
            <a:solidFill>
              <a:srgbClr val="D6E0E3"/>
            </a:solidFill>
            <a:prstDash val="solid"/>
          </a:ln>
        </p:spPr>
      </p:sp>
      <p:sp>
        <p:nvSpPr>
          <p:cNvPr id="29" name="Text 23"/>
          <p:cNvSpPr txBox="1"/>
          <p:nvPr/>
        </p:nvSpPr>
        <p:spPr>
          <a:xfrm>
            <a:off x="5258897"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Nouveau système d’authentification SSO</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Connexion unifiée et sécurisée</a:t>
            </a:r>
            <a:endParaRPr lang="en-US" sz="1050" dirty="0"/>
          </a:p>
        </p:txBody>
      </p:sp>
      <p:sp>
        <p:nvSpPr>
          <p:cNvPr id="30" name="Text 24"/>
          <p:cNvSpPr txBox="1"/>
          <p:nvPr/>
        </p:nvSpPr>
        <p:spPr>
          <a:xfrm>
            <a:off x="7335134"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Q2–Q3 2027</a:t>
            </a:r>
            <a:endParaRPr lang="en-US" sz="1300" dirty="0"/>
          </a:p>
        </p:txBody>
      </p:sp>
      <p:sp>
        <p:nvSpPr>
          <p:cNvPr id="31" name="Shape 25"/>
          <p:cNvSpPr/>
          <p:nvPr/>
        </p:nvSpPr>
        <p:spPr>
          <a:xfrm>
            <a:off x="8098932" y="2423160"/>
            <a:ext cx="548640" cy="548640"/>
          </a:xfrm>
          <a:prstGeom prst="ellipse">
            <a:avLst/>
          </a:prstGeom>
          <a:solidFill>
            <a:srgbClr val="06404F"/>
          </a:solidFill>
          <a:ln w="12700">
            <a:solidFill>
              <a:srgbClr val="06404F"/>
            </a:solidFill>
            <a:prstDash val="solid"/>
          </a:ln>
        </p:spPr>
      </p:sp>
      <p:pic>
        <p:nvPicPr>
          <p:cNvPr id="32" name="Image 4" descr="preencoded.png">    </p:cNvPr>
          <p:cNvPicPr>
            <a:picLocks noChangeAspect="1"/>
          </p:cNvPicPr>
          <p:nvPr/>
        </p:nvPicPr>
        <p:blipFill>
          <a:blip r:embed="rId5"/>
          <a:stretch>
            <a:fillRect/>
          </a:stretch>
        </p:blipFill>
        <p:spPr>
          <a:xfrm>
            <a:off x="8241579" y="2565806"/>
            <a:ext cx="263347" cy="263347"/>
          </a:xfrm>
          <a:prstGeom prst="rect">
            <a:avLst/>
          </a:prstGeom>
        </p:spPr>
      </p:pic>
      <p:sp>
        <p:nvSpPr>
          <p:cNvPr id="33" name="Shape 26"/>
          <p:cNvSpPr/>
          <p:nvPr/>
        </p:nvSpPr>
        <p:spPr>
          <a:xfrm>
            <a:off x="7335134"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34" name="Text 27"/>
          <p:cNvSpPr txBox="1"/>
          <p:nvPr/>
        </p:nvSpPr>
        <p:spPr>
          <a:xfrm>
            <a:off x="7536302"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Connecteurs &amp; privacy</a:t>
            </a:r>
            <a:endParaRPr lang="en-US" sz="1400" dirty="0"/>
          </a:p>
        </p:txBody>
      </p:sp>
      <p:sp>
        <p:nvSpPr>
          <p:cNvPr id="35" name="Shape 28"/>
          <p:cNvSpPr/>
          <p:nvPr/>
        </p:nvSpPr>
        <p:spPr>
          <a:xfrm>
            <a:off x="7536302" y="4187952"/>
            <a:ext cx="1673901" cy="0"/>
          </a:xfrm>
          <a:prstGeom prst="line">
            <a:avLst/>
          </a:prstGeom>
          <a:noFill/>
          <a:ln w="9525">
            <a:solidFill>
              <a:srgbClr val="D6E0E3"/>
            </a:solidFill>
            <a:prstDash val="solid"/>
          </a:ln>
        </p:spPr>
      </p:sp>
      <p:sp>
        <p:nvSpPr>
          <p:cNvPr id="36" name="Text 29"/>
          <p:cNvSpPr txBox="1"/>
          <p:nvPr/>
        </p:nvSpPr>
        <p:spPr>
          <a:xfrm>
            <a:off x="7536302"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Bibliothèque de connecteurs (Snowflake, Salesforce, Dynamics)</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Workflow RGPD automatisé</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Modèles de segments et de parcours</a:t>
            </a:r>
            <a:endParaRPr lang="en-US" sz="1050" dirty="0"/>
          </a:p>
        </p:txBody>
      </p:sp>
      <p:sp>
        <p:nvSpPr>
          <p:cNvPr id="37" name="Text 30"/>
          <p:cNvSpPr txBox="1"/>
          <p:nvPr/>
        </p:nvSpPr>
        <p:spPr>
          <a:xfrm>
            <a:off x="9612539" y="2011680"/>
            <a:ext cx="2076237" cy="320040"/>
          </a:xfrm>
          <a:prstGeom prst="rect">
            <a:avLst/>
          </a:prstGeom>
          <a:noFill/>
          <a:ln/>
        </p:spPr>
        <p:txBody>
          <a:bodyPr wrap="square" lIns="0" tIns="0" rIns="0" bIns="0" rtlCol="0" anchor="ctr"/>
          <a:lstStyle/>
          <a:p>
            <a:pPr algn="ctr" indent="0" marL="0">
              <a:buNone/>
            </a:pPr>
            <a:r>
              <a:rPr lang="en-US" sz="1300" b="1" dirty="0">
                <a:solidFill>
                  <a:srgbClr val="F28C28"/>
                </a:solidFill>
                <a:latin typeface="Calibri" pitchFamily="34" charset="0"/>
                <a:ea typeface="Calibri" pitchFamily="34" charset="-122"/>
                <a:cs typeface="Calibri" pitchFamily="34" charset="-120"/>
              </a:rPr>
              <a:t>Q4 2027</a:t>
            </a:r>
            <a:endParaRPr lang="en-US" sz="1300" dirty="0"/>
          </a:p>
        </p:txBody>
      </p:sp>
      <p:sp>
        <p:nvSpPr>
          <p:cNvPr id="38" name="Shape 31"/>
          <p:cNvSpPr/>
          <p:nvPr/>
        </p:nvSpPr>
        <p:spPr>
          <a:xfrm>
            <a:off x="10376337" y="2423160"/>
            <a:ext cx="548640" cy="548640"/>
          </a:xfrm>
          <a:prstGeom prst="ellipse">
            <a:avLst/>
          </a:prstGeom>
          <a:solidFill>
            <a:srgbClr val="F28C28"/>
          </a:solidFill>
          <a:ln w="12700">
            <a:solidFill>
              <a:srgbClr val="F28C28"/>
            </a:solidFill>
            <a:prstDash val="solid"/>
          </a:ln>
        </p:spPr>
      </p:sp>
      <p:pic>
        <p:nvPicPr>
          <p:cNvPr id="39" name="Image 5" descr="preencoded.png">    </p:cNvPr>
          <p:cNvPicPr>
            <a:picLocks noChangeAspect="1"/>
          </p:cNvPicPr>
          <p:nvPr/>
        </p:nvPicPr>
        <p:blipFill>
          <a:blip r:embed="rId6"/>
          <a:stretch>
            <a:fillRect/>
          </a:stretch>
        </p:blipFill>
        <p:spPr>
          <a:xfrm>
            <a:off x="10518983" y="2565806"/>
            <a:ext cx="263347" cy="263347"/>
          </a:xfrm>
          <a:prstGeom prst="rect">
            <a:avLst/>
          </a:prstGeom>
        </p:spPr>
      </p:pic>
      <p:sp>
        <p:nvSpPr>
          <p:cNvPr id="40" name="Shape 32"/>
          <p:cNvSpPr/>
          <p:nvPr/>
        </p:nvSpPr>
        <p:spPr>
          <a:xfrm>
            <a:off x="9612539" y="3383280"/>
            <a:ext cx="2076237" cy="2286000"/>
          </a:xfrm>
          <a:prstGeom prst="roundRect">
            <a:avLst>
              <a:gd name="adj" fmla="val 5285"/>
            </a:avLst>
          </a:prstGeom>
          <a:solidFill>
            <a:srgbClr val="FFFFFF"/>
          </a:solidFill>
          <a:ln w="12700">
            <a:solidFill>
              <a:srgbClr val="FFFFFF"/>
            </a:solidFill>
            <a:prstDash val="solid"/>
          </a:ln>
          <a:effectLst>
            <a:outerShdw sx="100000" sy="100000" kx="0" ky="0" algn="bl" rotWithShape="0" blurRad="76200" dist="25400" dir="5400000">
              <a:srgbClr val="000000">
                <a:alpha val="10000"/>
              </a:srgbClr>
            </a:outerShdw>
          </a:effectLst>
        </p:spPr>
      </p:sp>
      <p:sp>
        <p:nvSpPr>
          <p:cNvPr id="41" name="Text 33"/>
          <p:cNvSpPr txBox="1"/>
          <p:nvPr/>
        </p:nvSpPr>
        <p:spPr>
          <a:xfrm>
            <a:off x="9813707" y="3566160"/>
            <a:ext cx="1673901" cy="566928"/>
          </a:xfrm>
          <a:prstGeom prst="rect">
            <a:avLst/>
          </a:prstGeom>
          <a:noFill/>
          <a:ln/>
        </p:spPr>
        <p:txBody>
          <a:bodyPr wrap="square" lIns="0" tIns="0" rIns="0" bIns="0" rtlCol="0" anchor="ctr"/>
          <a:lstStyle/>
          <a:p>
            <a:pPr indent="0" marL="0">
              <a:buNone/>
            </a:pPr>
            <a:r>
              <a:rPr lang="en-US" sz="1400" b="1" dirty="0">
                <a:solidFill>
                  <a:srgbClr val="06404F"/>
                </a:solidFill>
                <a:latin typeface="Calibri" pitchFamily="34" charset="0"/>
                <a:ea typeface="Calibri" pitchFamily="34" charset="-122"/>
                <a:cs typeface="Calibri" pitchFamily="34" charset="-120"/>
              </a:rPr>
              <a:t>IA &amp; Data</a:t>
            </a:r>
            <a:endParaRPr lang="en-US" sz="1400" dirty="0"/>
          </a:p>
        </p:txBody>
      </p:sp>
      <p:sp>
        <p:nvSpPr>
          <p:cNvPr id="42" name="Shape 34"/>
          <p:cNvSpPr/>
          <p:nvPr/>
        </p:nvSpPr>
        <p:spPr>
          <a:xfrm>
            <a:off x="9813707" y="4187952"/>
            <a:ext cx="1673901" cy="0"/>
          </a:xfrm>
          <a:prstGeom prst="line">
            <a:avLst/>
          </a:prstGeom>
          <a:noFill/>
          <a:ln w="9525">
            <a:solidFill>
              <a:srgbClr val="D6E0E3"/>
            </a:solidFill>
            <a:prstDash val="solid"/>
          </a:ln>
        </p:spPr>
      </p:sp>
      <p:sp>
        <p:nvSpPr>
          <p:cNvPr id="43" name="Text 35"/>
          <p:cNvSpPr txBox="1"/>
          <p:nvPr/>
        </p:nvSpPr>
        <p:spPr>
          <a:xfrm>
            <a:off x="9813707" y="4297680"/>
            <a:ext cx="1673901" cy="1234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Interrogation des données en langage naturel</a:t>
            </a:r>
            <a:endParaRPr lang="en-US" sz="1050" dirty="0"/>
          </a:p>
          <a:p>
            <a:pPr marL="152400" indent="-152400">
              <a:spcAft>
                <a:spcPts val="500"/>
              </a:spcAft>
              <a:buSzPct val="100000"/>
              <a:buChar char="•"/>
            </a:pPr>
            <a:r>
              <a:rPr lang="en-US" sz="1050" dirty="0">
                <a:solidFill>
                  <a:srgbClr val="1F2A30"/>
                </a:solidFill>
                <a:latin typeface="Calibri" pitchFamily="34" charset="0"/>
                <a:ea typeface="Calibri" pitchFamily="34" charset="-122"/>
                <a:cs typeface="Calibri" pitchFamily="34" charset="-120"/>
              </a:rPr>
              <a:t>Analytique temps réel et recommandations</a:t>
            </a:r>
            <a:endParaRPr lang="en-US" sz="1050" dirty="0"/>
          </a:p>
        </p:txBody>
      </p:sp>
      <p:sp>
        <p:nvSpPr>
          <p:cNvPr id="44" name="Text 36"/>
          <p:cNvSpPr txBox="1"/>
          <p:nvPr/>
        </p:nvSpPr>
        <p:spPr>
          <a:xfrm>
            <a:off x="502920" y="5897880"/>
            <a:ext cx="11185855" cy="320040"/>
          </a:xfrm>
          <a:prstGeom prst="rect">
            <a:avLst/>
          </a:prstGeom>
          <a:noFill/>
          <a:ln/>
        </p:spPr>
        <p:txBody>
          <a:bodyPr wrap="square" lIns="0" tIns="0" rIns="0" bIns="0" rtlCol="0" anchor="ctr"/>
          <a:lstStyle/>
          <a:p>
            <a:pPr algn="ctr" indent="0" marL="0">
              <a:buNone/>
            </a:pPr>
            <a:r>
              <a:rPr lang="en-US" sz="1100" dirty="0">
                <a:solidFill>
                  <a:srgbClr val="6B7B83"/>
                </a:solidFill>
                <a:latin typeface="Calibri" pitchFamily="34" charset="0"/>
                <a:ea typeface="Calibri" pitchFamily="34" charset="-122"/>
                <a:cs typeface="Calibri" pitchFamily="34" charset="-120"/>
              </a:rPr>
              <a:t>Trajectoire produit : les jalons peuvent être ajustés et ne constituent pas un engagement de livraison.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SYNTHÈSE</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Vos arbitrages : cinq questions pour orienter la suite</a:t>
            </a:r>
            <a:endParaRPr lang="en-US" sz="26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Vos réponses en séance alimentent directement le plan d’actions de la page suivante.</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18</a:t>
            </a:r>
            <a:endParaRPr lang="en-US" sz="900" dirty="0"/>
          </a:p>
        </p:txBody>
      </p:sp>
      <p:sp>
        <p:nvSpPr>
          <p:cNvPr id="8" name="Shape 5"/>
          <p:cNvSpPr/>
          <p:nvPr/>
        </p:nvSpPr>
        <p:spPr>
          <a:xfrm>
            <a:off x="502920" y="1965960"/>
            <a:ext cx="11185855" cy="731520"/>
          </a:xfrm>
          <a:prstGeom prst="roundRect">
            <a:avLst>
              <a:gd name="adj" fmla="val 15000"/>
            </a:avLst>
          </a:prstGeom>
          <a:solidFill>
            <a:srgbClr val="F2F8F9"/>
          </a:solidFill>
          <a:ln w="12700">
            <a:solidFill>
              <a:srgbClr val="F2F8F9"/>
            </a:solidFill>
            <a:prstDash val="solid"/>
          </a:ln>
        </p:spPr>
      </p:sp>
      <p:sp>
        <p:nvSpPr>
          <p:cNvPr id="9" name="Shape 6"/>
          <p:cNvSpPr/>
          <p:nvPr/>
        </p:nvSpPr>
        <p:spPr>
          <a:xfrm>
            <a:off x="704088" y="2121408"/>
            <a:ext cx="420624" cy="420624"/>
          </a:xfrm>
          <a:prstGeom prst="ellipse">
            <a:avLst/>
          </a:prstGeom>
          <a:solidFill>
            <a:srgbClr val="F28C28"/>
          </a:solidFill>
          <a:ln w="12700">
            <a:solidFill>
              <a:srgbClr val="F28C28"/>
            </a:solidFill>
            <a:prstDash val="solid"/>
          </a:ln>
        </p:spPr>
      </p:sp>
      <p:sp>
        <p:nvSpPr>
          <p:cNvPr id="10" name="Text 7"/>
          <p:cNvSpPr txBox="1"/>
          <p:nvPr/>
        </p:nvSpPr>
        <p:spPr>
          <a:xfrm>
            <a:off x="704088" y="2121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8"/>
          <p:cNvSpPr/>
          <p:nvPr/>
        </p:nvSpPr>
        <p:spPr>
          <a:xfrm>
            <a:off x="1280160" y="2121408"/>
            <a:ext cx="420624" cy="420624"/>
          </a:xfrm>
          <a:prstGeom prst="ellipse">
            <a:avLst/>
          </a:prstGeom>
          <a:solidFill>
            <a:srgbClr val="E4F0F2"/>
          </a:solidFill>
          <a:ln w="12700">
            <a:solidFill>
              <a:srgbClr val="E4F0F2"/>
            </a:solidFill>
            <a:prstDash val="solid"/>
          </a:ln>
        </p:spPr>
      </p:sp>
      <p:pic>
        <p:nvPicPr>
          <p:cNvPr id="12" name="Image 1" descr="preencoded.png">    </p:cNvPr>
          <p:cNvPicPr>
            <a:picLocks noChangeAspect="1"/>
          </p:cNvPicPr>
          <p:nvPr/>
        </p:nvPicPr>
        <p:blipFill>
          <a:blip r:embed="rId2"/>
          <a:stretch>
            <a:fillRect/>
          </a:stretch>
        </p:blipFill>
        <p:spPr>
          <a:xfrm>
            <a:off x="1389522" y="2230770"/>
            <a:ext cx="201900" cy="201900"/>
          </a:xfrm>
          <a:prstGeom prst="rect">
            <a:avLst/>
          </a:prstGeom>
        </p:spPr>
      </p:pic>
      <p:sp>
        <p:nvSpPr>
          <p:cNvPr id="13" name="Text 9"/>
          <p:cNvSpPr txBox="1"/>
          <p:nvPr/>
        </p:nvSpPr>
        <p:spPr>
          <a:xfrm>
            <a:off x="1856232" y="1965960"/>
            <a:ext cx="1737360" cy="73152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Base de données</a:t>
            </a:r>
            <a:endParaRPr lang="en-US" sz="1250" dirty="0"/>
          </a:p>
        </p:txBody>
      </p:sp>
      <p:sp>
        <p:nvSpPr>
          <p:cNvPr id="14" name="Text 10"/>
          <p:cNvSpPr txBox="1"/>
          <p:nvPr/>
        </p:nvSpPr>
        <p:spPr>
          <a:xfrm>
            <a:off x="3657600" y="1965960"/>
            <a:ext cx="78025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Nettoyage et archivage d’abord, ou extension de capacité avec la redevance associée ?</a:t>
            </a:r>
            <a:endParaRPr lang="en-US" sz="1250" dirty="0"/>
          </a:p>
        </p:txBody>
      </p:sp>
      <p:sp>
        <p:nvSpPr>
          <p:cNvPr id="15" name="Shape 11"/>
          <p:cNvSpPr/>
          <p:nvPr/>
        </p:nvSpPr>
        <p:spPr>
          <a:xfrm>
            <a:off x="502920" y="2807208"/>
            <a:ext cx="11185855" cy="731520"/>
          </a:xfrm>
          <a:prstGeom prst="roundRect">
            <a:avLst>
              <a:gd name="adj" fmla="val 15000"/>
            </a:avLst>
          </a:prstGeom>
          <a:solidFill>
            <a:srgbClr val="FFFFFF"/>
          </a:solidFill>
          <a:ln w="9525">
            <a:solidFill>
              <a:srgbClr val="D6E0E3"/>
            </a:solidFill>
            <a:prstDash val="solid"/>
          </a:ln>
        </p:spPr>
      </p:sp>
      <p:sp>
        <p:nvSpPr>
          <p:cNvPr id="16" name="Shape 12"/>
          <p:cNvSpPr/>
          <p:nvPr/>
        </p:nvSpPr>
        <p:spPr>
          <a:xfrm>
            <a:off x="704088" y="2962656"/>
            <a:ext cx="420624" cy="420624"/>
          </a:xfrm>
          <a:prstGeom prst="ellipse">
            <a:avLst/>
          </a:prstGeom>
          <a:solidFill>
            <a:srgbClr val="F28C28"/>
          </a:solidFill>
          <a:ln w="12700">
            <a:solidFill>
              <a:srgbClr val="F28C28"/>
            </a:solidFill>
            <a:prstDash val="solid"/>
          </a:ln>
        </p:spPr>
      </p:sp>
      <p:sp>
        <p:nvSpPr>
          <p:cNvPr id="17" name="Text 13"/>
          <p:cNvSpPr txBox="1"/>
          <p:nvPr/>
        </p:nvSpPr>
        <p:spPr>
          <a:xfrm>
            <a:off x="704088" y="29626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Shape 14"/>
          <p:cNvSpPr/>
          <p:nvPr/>
        </p:nvSpPr>
        <p:spPr>
          <a:xfrm>
            <a:off x="1280160" y="2962656"/>
            <a:ext cx="420624" cy="420624"/>
          </a:xfrm>
          <a:prstGeom prst="ellipse">
            <a:avLst/>
          </a:prstGeom>
          <a:solidFill>
            <a:srgbClr val="E4F0F2"/>
          </a:solidFill>
          <a:ln w="12700">
            <a:solidFill>
              <a:srgbClr val="E4F0F2"/>
            </a:solidFill>
            <a:prstDash val="solid"/>
          </a:ln>
        </p:spPr>
      </p:sp>
      <p:pic>
        <p:nvPicPr>
          <p:cNvPr id="19" name="Image 2" descr="preencoded.png">    </p:cNvPr>
          <p:cNvPicPr>
            <a:picLocks noChangeAspect="1"/>
          </p:cNvPicPr>
          <p:nvPr/>
        </p:nvPicPr>
        <p:blipFill>
          <a:blip r:embed="rId3"/>
          <a:stretch>
            <a:fillRect/>
          </a:stretch>
        </p:blipFill>
        <p:spPr>
          <a:xfrm>
            <a:off x="1389522" y="3072018"/>
            <a:ext cx="201900" cy="201900"/>
          </a:xfrm>
          <a:prstGeom prst="rect">
            <a:avLst/>
          </a:prstGeom>
        </p:spPr>
      </p:pic>
      <p:sp>
        <p:nvSpPr>
          <p:cNvPr id="20" name="Text 15"/>
          <p:cNvSpPr txBox="1"/>
          <p:nvPr/>
        </p:nvSpPr>
        <p:spPr>
          <a:xfrm>
            <a:off x="1856232" y="2807208"/>
            <a:ext cx="1737360" cy="73152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Licence</a:t>
            </a:r>
            <a:endParaRPr lang="en-US" sz="1250" dirty="0"/>
          </a:p>
        </p:txBody>
      </p:sp>
      <p:sp>
        <p:nvSpPr>
          <p:cNvPr id="21" name="Text 16"/>
          <p:cNvSpPr txBox="1"/>
          <p:nvPr/>
        </p:nvSpPr>
        <p:spPr>
          <a:xfrm>
            <a:off x="3657600" y="2807208"/>
            <a:ext cx="78025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Quel volume de contacts prévoyez-vous en 2027, et votre palier de licence reste-t-il adapté ?</a:t>
            </a:r>
            <a:endParaRPr lang="en-US" sz="1250" dirty="0"/>
          </a:p>
        </p:txBody>
      </p:sp>
      <p:sp>
        <p:nvSpPr>
          <p:cNvPr id="22" name="Shape 17"/>
          <p:cNvSpPr/>
          <p:nvPr/>
        </p:nvSpPr>
        <p:spPr>
          <a:xfrm>
            <a:off x="502920" y="3648456"/>
            <a:ext cx="11185855" cy="731520"/>
          </a:xfrm>
          <a:prstGeom prst="roundRect">
            <a:avLst>
              <a:gd name="adj" fmla="val 15000"/>
            </a:avLst>
          </a:prstGeom>
          <a:solidFill>
            <a:srgbClr val="F2F8F9"/>
          </a:solidFill>
          <a:ln w="12700">
            <a:solidFill>
              <a:srgbClr val="F2F8F9"/>
            </a:solidFill>
            <a:prstDash val="solid"/>
          </a:ln>
        </p:spPr>
      </p:sp>
      <p:sp>
        <p:nvSpPr>
          <p:cNvPr id="23" name="Shape 18"/>
          <p:cNvSpPr/>
          <p:nvPr/>
        </p:nvSpPr>
        <p:spPr>
          <a:xfrm>
            <a:off x="704088" y="3803904"/>
            <a:ext cx="420624" cy="420624"/>
          </a:xfrm>
          <a:prstGeom prst="ellipse">
            <a:avLst/>
          </a:prstGeom>
          <a:solidFill>
            <a:srgbClr val="F28C28"/>
          </a:solidFill>
          <a:ln w="12700">
            <a:solidFill>
              <a:srgbClr val="F28C28"/>
            </a:solidFill>
            <a:prstDash val="solid"/>
          </a:ln>
        </p:spPr>
      </p:sp>
      <p:sp>
        <p:nvSpPr>
          <p:cNvPr id="24" name="Text 19"/>
          <p:cNvSpPr txBox="1"/>
          <p:nvPr/>
        </p:nvSpPr>
        <p:spPr>
          <a:xfrm>
            <a:off x="704088" y="38039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Shape 20"/>
          <p:cNvSpPr/>
          <p:nvPr/>
        </p:nvSpPr>
        <p:spPr>
          <a:xfrm>
            <a:off x="1280160" y="3803904"/>
            <a:ext cx="420624" cy="420624"/>
          </a:xfrm>
          <a:prstGeom prst="ellipse">
            <a:avLst/>
          </a:prstGeom>
          <a:solidFill>
            <a:srgbClr val="E4F0F2"/>
          </a:solidFill>
          <a:ln w="12700">
            <a:solidFill>
              <a:srgbClr val="E4F0F2"/>
            </a:solidFill>
            <a:prstDash val="solid"/>
          </a:ln>
        </p:spPr>
      </p:sp>
      <p:pic>
        <p:nvPicPr>
          <p:cNvPr id="26" name="Image 3" descr="preencoded.png">    </p:cNvPr>
          <p:cNvPicPr>
            <a:picLocks noChangeAspect="1"/>
          </p:cNvPicPr>
          <p:nvPr/>
        </p:nvPicPr>
        <p:blipFill>
          <a:blip r:embed="rId4"/>
          <a:stretch>
            <a:fillRect/>
          </a:stretch>
        </p:blipFill>
        <p:spPr>
          <a:xfrm>
            <a:off x="1389522" y="3913266"/>
            <a:ext cx="201900" cy="201900"/>
          </a:xfrm>
          <a:prstGeom prst="rect">
            <a:avLst/>
          </a:prstGeom>
        </p:spPr>
      </p:pic>
      <p:sp>
        <p:nvSpPr>
          <p:cNvPr id="27" name="Text 21"/>
          <p:cNvSpPr txBox="1"/>
          <p:nvPr/>
        </p:nvSpPr>
        <p:spPr>
          <a:xfrm>
            <a:off x="1856232" y="3648456"/>
            <a:ext cx="1737360" cy="73152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Email</a:t>
            </a:r>
            <a:endParaRPr lang="en-US" sz="1250" dirty="0"/>
          </a:p>
        </p:txBody>
      </p:sp>
      <p:sp>
        <p:nvSpPr>
          <p:cNvPr id="28" name="Text 22"/>
          <p:cNvSpPr txBox="1"/>
          <p:nvPr/>
        </p:nvSpPr>
        <p:spPr>
          <a:xfrm>
            <a:off x="3657600" y="3648456"/>
            <a:ext cx="78025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Quelles campagnes prioriser pour travailler le taux de clics ?</a:t>
            </a:r>
            <a:endParaRPr lang="en-US" sz="1250" dirty="0"/>
          </a:p>
        </p:txBody>
      </p:sp>
      <p:sp>
        <p:nvSpPr>
          <p:cNvPr id="29" name="Shape 23"/>
          <p:cNvSpPr/>
          <p:nvPr/>
        </p:nvSpPr>
        <p:spPr>
          <a:xfrm>
            <a:off x="502920" y="4489704"/>
            <a:ext cx="11185855" cy="731520"/>
          </a:xfrm>
          <a:prstGeom prst="roundRect">
            <a:avLst>
              <a:gd name="adj" fmla="val 15000"/>
            </a:avLst>
          </a:prstGeom>
          <a:solidFill>
            <a:srgbClr val="FFFFFF"/>
          </a:solidFill>
          <a:ln w="9525">
            <a:solidFill>
              <a:srgbClr val="D6E0E3"/>
            </a:solidFill>
            <a:prstDash val="solid"/>
          </a:ln>
        </p:spPr>
      </p:sp>
      <p:sp>
        <p:nvSpPr>
          <p:cNvPr id="30" name="Shape 24"/>
          <p:cNvSpPr/>
          <p:nvPr/>
        </p:nvSpPr>
        <p:spPr>
          <a:xfrm>
            <a:off x="704088" y="4645152"/>
            <a:ext cx="420624" cy="420624"/>
          </a:xfrm>
          <a:prstGeom prst="ellipse">
            <a:avLst/>
          </a:prstGeom>
          <a:solidFill>
            <a:srgbClr val="F28C28"/>
          </a:solidFill>
          <a:ln w="12700">
            <a:solidFill>
              <a:srgbClr val="F28C28"/>
            </a:solidFill>
            <a:prstDash val="solid"/>
          </a:ln>
        </p:spPr>
      </p:sp>
      <p:sp>
        <p:nvSpPr>
          <p:cNvPr id="31" name="Text 25"/>
          <p:cNvSpPr txBox="1"/>
          <p:nvPr/>
        </p:nvSpPr>
        <p:spPr>
          <a:xfrm>
            <a:off x="704088" y="46451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2" name="Shape 26"/>
          <p:cNvSpPr/>
          <p:nvPr/>
        </p:nvSpPr>
        <p:spPr>
          <a:xfrm>
            <a:off x="1280160" y="4645152"/>
            <a:ext cx="420624" cy="420624"/>
          </a:xfrm>
          <a:prstGeom prst="ellipse">
            <a:avLst/>
          </a:prstGeom>
          <a:solidFill>
            <a:srgbClr val="E4F0F2"/>
          </a:solidFill>
          <a:ln w="12700">
            <a:solidFill>
              <a:srgbClr val="E4F0F2"/>
            </a:solidFill>
            <a:prstDash val="solid"/>
          </a:ln>
        </p:spPr>
      </p:sp>
      <p:pic>
        <p:nvPicPr>
          <p:cNvPr id="33" name="Image 4" descr="preencoded.png">    </p:cNvPr>
          <p:cNvPicPr>
            <a:picLocks noChangeAspect="1"/>
          </p:cNvPicPr>
          <p:nvPr/>
        </p:nvPicPr>
        <p:blipFill>
          <a:blip r:embed="rId5"/>
          <a:stretch>
            <a:fillRect/>
          </a:stretch>
        </p:blipFill>
        <p:spPr>
          <a:xfrm>
            <a:off x="1389522" y="4754514"/>
            <a:ext cx="201900" cy="201900"/>
          </a:xfrm>
          <a:prstGeom prst="rect">
            <a:avLst/>
          </a:prstGeom>
        </p:spPr>
      </p:pic>
      <p:sp>
        <p:nvSpPr>
          <p:cNvPr id="34" name="Text 27"/>
          <p:cNvSpPr txBox="1"/>
          <p:nvPr/>
        </p:nvSpPr>
        <p:spPr>
          <a:xfrm>
            <a:off x="1856232" y="4489704"/>
            <a:ext cx="1737360" cy="73152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Mobile</a:t>
            </a:r>
            <a:endParaRPr lang="en-US" sz="1250" dirty="0"/>
          </a:p>
        </p:txBody>
      </p:sp>
      <p:sp>
        <p:nvSpPr>
          <p:cNvPr id="35" name="Text 28"/>
          <p:cNvSpPr txBox="1"/>
          <p:nvPr/>
        </p:nvSpPr>
        <p:spPr>
          <a:xfrm>
            <a:off x="3657600" y="4489704"/>
            <a:ext cx="78025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Quelle ambition SMS et RCS en 2027 : passe-plat simple ou connecteur avec interface et prévisualisation ?</a:t>
            </a:r>
            <a:endParaRPr lang="en-US" sz="1250" dirty="0"/>
          </a:p>
        </p:txBody>
      </p:sp>
      <p:sp>
        <p:nvSpPr>
          <p:cNvPr id="36" name="Shape 29"/>
          <p:cNvSpPr/>
          <p:nvPr/>
        </p:nvSpPr>
        <p:spPr>
          <a:xfrm>
            <a:off x="502920" y="5330952"/>
            <a:ext cx="11185855" cy="731520"/>
          </a:xfrm>
          <a:prstGeom prst="roundRect">
            <a:avLst>
              <a:gd name="adj" fmla="val 15000"/>
            </a:avLst>
          </a:prstGeom>
          <a:solidFill>
            <a:srgbClr val="F2F8F9"/>
          </a:solidFill>
          <a:ln w="12700">
            <a:solidFill>
              <a:srgbClr val="F2F8F9"/>
            </a:solidFill>
            <a:prstDash val="solid"/>
          </a:ln>
        </p:spPr>
      </p:sp>
      <p:sp>
        <p:nvSpPr>
          <p:cNvPr id="37" name="Shape 30"/>
          <p:cNvSpPr/>
          <p:nvPr/>
        </p:nvSpPr>
        <p:spPr>
          <a:xfrm>
            <a:off x="704088" y="5486400"/>
            <a:ext cx="420624" cy="420624"/>
          </a:xfrm>
          <a:prstGeom prst="ellipse">
            <a:avLst/>
          </a:prstGeom>
          <a:solidFill>
            <a:srgbClr val="F28C28"/>
          </a:solidFill>
          <a:ln w="12700">
            <a:solidFill>
              <a:srgbClr val="F28C28"/>
            </a:solidFill>
            <a:prstDash val="solid"/>
          </a:ln>
        </p:spPr>
      </p:sp>
      <p:sp>
        <p:nvSpPr>
          <p:cNvPr id="38" name="Text 31"/>
          <p:cNvSpPr txBox="1"/>
          <p:nvPr/>
        </p:nvSpPr>
        <p:spPr>
          <a:xfrm>
            <a:off x="704088" y="5486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9" name="Shape 32"/>
          <p:cNvSpPr/>
          <p:nvPr/>
        </p:nvSpPr>
        <p:spPr>
          <a:xfrm>
            <a:off x="1280160" y="5486400"/>
            <a:ext cx="420624" cy="420624"/>
          </a:xfrm>
          <a:prstGeom prst="ellipse">
            <a:avLst/>
          </a:prstGeom>
          <a:solidFill>
            <a:srgbClr val="E4F0F2"/>
          </a:solidFill>
          <a:ln w="12700">
            <a:solidFill>
              <a:srgbClr val="E4F0F2"/>
            </a:solidFill>
            <a:prstDash val="solid"/>
          </a:ln>
        </p:spPr>
      </p:sp>
      <p:pic>
        <p:nvPicPr>
          <p:cNvPr id="40" name="Image 5" descr="preencoded.png">    </p:cNvPr>
          <p:cNvPicPr>
            <a:picLocks noChangeAspect="1"/>
          </p:cNvPicPr>
          <p:nvPr/>
        </p:nvPicPr>
        <p:blipFill>
          <a:blip r:embed="rId6"/>
          <a:stretch>
            <a:fillRect/>
          </a:stretch>
        </p:blipFill>
        <p:spPr>
          <a:xfrm>
            <a:off x="1389522" y="5595762"/>
            <a:ext cx="201900" cy="201900"/>
          </a:xfrm>
          <a:prstGeom prst="rect">
            <a:avLst/>
          </a:prstGeom>
        </p:spPr>
      </p:pic>
      <p:sp>
        <p:nvSpPr>
          <p:cNvPr id="41" name="Text 33"/>
          <p:cNvSpPr txBox="1"/>
          <p:nvPr/>
        </p:nvSpPr>
        <p:spPr>
          <a:xfrm>
            <a:off x="1856232" y="5330952"/>
            <a:ext cx="1737360" cy="731520"/>
          </a:xfrm>
          <a:prstGeom prst="rect">
            <a:avLst/>
          </a:prstGeom>
          <a:noFill/>
          <a:ln/>
        </p:spPr>
        <p:txBody>
          <a:bodyPr wrap="square" lIns="0" tIns="0" rIns="0" bIns="0" rtlCol="0" anchor="ctr"/>
          <a:lstStyle/>
          <a:p>
            <a:pPr indent="0" marL="0">
              <a:buNone/>
            </a:pPr>
            <a:r>
              <a:rPr lang="en-US" sz="1250" b="1" dirty="0">
                <a:solidFill>
                  <a:srgbClr val="06404F"/>
                </a:solidFill>
                <a:latin typeface="Calibri" pitchFamily="34" charset="0"/>
                <a:ea typeface="Calibri" pitchFamily="34" charset="-122"/>
                <a:cs typeface="Calibri" pitchFamily="34" charset="-120"/>
              </a:rPr>
              <a:t>Conformité</a:t>
            </a:r>
            <a:endParaRPr lang="en-US" sz="1250" dirty="0"/>
          </a:p>
        </p:txBody>
      </p:sp>
      <p:sp>
        <p:nvSpPr>
          <p:cNvPr id="42" name="Text 34"/>
          <p:cNvSpPr txBox="1"/>
          <p:nvPr/>
        </p:nvSpPr>
        <p:spPr>
          <a:xfrm>
            <a:off x="3657600" y="5330952"/>
            <a:ext cx="78025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Étendons-nous le consentement au suivi des clics, et quelles typologies d’emails en priorité ?</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teal.png">    </p:cNvPr>
          <p:cNvPicPr>
            <a:picLocks noChangeAspect="1"/>
          </p:cNvPicPr>
          <p:nvPr/>
        </p:nvPicPr>
        <p:blipFill>
          <a:blip r:embed="rId1"/>
          <a:stretch>
            <a:fillRect/>
          </a:stretch>
        </p:blipFill>
        <p:spPr>
          <a:xfrm>
            <a:off x="502920" y="292608"/>
            <a:ext cx="1143000" cy="411636"/>
          </a:xfrm>
          <a:prstGeom prst="rect">
            <a:avLst/>
          </a:prstGeom>
        </p:spPr>
      </p:pic>
      <p:sp>
        <p:nvSpPr>
          <p:cNvPr id="3" name="Shape 0"/>
          <p:cNvSpPr/>
          <p:nvPr/>
        </p:nvSpPr>
        <p:spPr>
          <a:xfrm>
            <a:off x="10225735" y="329184"/>
            <a:ext cx="1463040" cy="274320"/>
          </a:xfrm>
          <a:prstGeom prst="roundRect">
            <a:avLst>
              <a:gd name="adj" fmla="val 50000"/>
            </a:avLst>
          </a:prstGeom>
          <a:solidFill>
            <a:srgbClr val="E4F0F2"/>
          </a:solidFill>
          <a:ln w="12700">
            <a:solidFill>
              <a:srgbClr val="E4F0F2"/>
            </a:solidFill>
            <a:prstDash val="solid"/>
          </a:ln>
        </p:spPr>
      </p:sp>
      <p:sp>
        <p:nvSpPr>
          <p:cNvPr id="4" name="Text 1"/>
          <p:cNvSpPr txBox="1"/>
          <p:nvPr/>
        </p:nvSpPr>
        <p:spPr>
          <a:xfrm>
            <a:off x="10225735" y="329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6404F"/>
                </a:solidFill>
                <a:latin typeface="Calibri" pitchFamily="34" charset="0"/>
                <a:ea typeface="Calibri" pitchFamily="34" charset="-122"/>
                <a:cs typeface="Calibri" pitchFamily="34" charset="-120"/>
              </a:rPr>
              <a:t>SYNTHÈSE</a:t>
            </a:r>
            <a:endParaRPr lang="en-US" sz="900" dirty="0"/>
          </a:p>
        </p:txBody>
      </p:sp>
      <p:sp>
        <p:nvSpPr>
          <p:cNvPr id="5" name="Text 2"/>
          <p:cNvSpPr txBox="1"/>
          <p:nvPr/>
        </p:nvSpPr>
        <p:spPr>
          <a:xfrm>
            <a:off x="502920" y="841248"/>
            <a:ext cx="11185855" cy="566928"/>
          </a:xfrm>
          <a:prstGeom prst="rect">
            <a:avLst/>
          </a:prstGeom>
          <a:noFill/>
          <a:ln/>
        </p:spPr>
        <p:txBody>
          <a:bodyPr wrap="square" lIns="0" tIns="0" rIns="0" bIns="0" rtlCol="0" anchor="ctr"/>
          <a:lstStyle/>
          <a:p>
            <a:pPr indent="0" marL="0">
              <a:buNone/>
            </a:pPr>
            <a:r>
              <a:rPr lang="en-US" sz="2600" b="1" dirty="0">
                <a:solidFill>
                  <a:srgbClr val="06404F"/>
                </a:solidFill>
                <a:latin typeface="Calibri" pitchFamily="34" charset="0"/>
                <a:ea typeface="Calibri" pitchFamily="34" charset="-122"/>
                <a:cs typeface="Calibri" pitchFamily="34" charset="-120"/>
              </a:rPr>
              <a:t>Plan d’actions et prochaines étapes</a:t>
            </a:r>
            <a:endParaRPr lang="en-US" sz="2600" dirty="0"/>
          </a:p>
        </p:txBody>
      </p:sp>
      <p:sp>
        <p:nvSpPr>
          <p:cNvPr id="6" name="Text 3"/>
          <p:cNvSpPr txBox="1"/>
          <p:nvPr/>
        </p:nvSpPr>
        <p:spPr>
          <a:xfrm>
            <a:off x="502920" y="1417320"/>
            <a:ext cx="11185855" cy="365760"/>
          </a:xfrm>
          <a:prstGeom prst="rect">
            <a:avLst/>
          </a:prstGeom>
          <a:noFill/>
          <a:ln/>
        </p:spPr>
        <p:txBody>
          <a:bodyPr wrap="square" lIns="0" tIns="0" rIns="0" bIns="0" rtlCol="0" anchor="t"/>
          <a:lstStyle/>
          <a:p>
            <a:pPr indent="0" marL="0">
              <a:buNone/>
            </a:pPr>
            <a:r>
              <a:rPr lang="en-US" sz="1300" dirty="0">
                <a:solidFill>
                  <a:srgbClr val="6B7B83"/>
                </a:solidFill>
                <a:latin typeface="Calibri" pitchFamily="34" charset="0"/>
                <a:ea typeface="Calibri" pitchFamily="34" charset="-122"/>
                <a:cs typeface="Calibri" pitchFamily="34" charset="-120"/>
              </a:rPr>
              <a:t>Neuf actions, un responsable et une échéance pour chacune — à ajuster avec vos arbitrages.</a:t>
            </a:r>
            <a:endParaRPr lang="en-US" sz="1300" dirty="0"/>
          </a:p>
        </p:txBody>
      </p:sp>
      <p:sp>
        <p:nvSpPr>
          <p:cNvPr id="7" name="Text 4"/>
          <p:cNvSpPr txBox="1"/>
          <p:nvPr/>
        </p:nvSpPr>
        <p:spPr>
          <a:xfrm>
            <a:off x="11140135" y="6473952"/>
            <a:ext cx="548640" cy="228600"/>
          </a:xfrm>
          <a:prstGeom prst="rect">
            <a:avLst/>
          </a:prstGeom>
          <a:noFill/>
          <a:ln/>
        </p:spPr>
        <p:txBody>
          <a:bodyPr wrap="square" lIns="0" tIns="0" rIns="0" bIns="0" rtlCol="0" anchor="ctr"/>
          <a:lstStyle/>
          <a:p>
            <a:pPr algn="r" indent="0" marL="0">
              <a:buNone/>
            </a:pPr>
            <a:r>
              <a:rPr lang="en-US" sz="900" dirty="0">
                <a:solidFill>
                  <a:srgbClr val="6B7B83"/>
                </a:solidFill>
                <a:latin typeface="Calibri" pitchFamily="34" charset="0"/>
                <a:ea typeface="Calibri" pitchFamily="34" charset="-122"/>
                <a:cs typeface="Calibri"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185855" cy="914400"/>
        </p:xfrm>
        <a:graphic>
          <a:graphicData uri="http://schemas.openxmlformats.org/drawingml/2006/table">
            <a:tbl>
              <a:tblPr/>
              <a:tblGrid>
                <a:gridCol w="1737360"/>
                <a:gridCol w="5486400"/>
                <a:gridCol w="2148840"/>
                <a:gridCol w="181051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Sujet</a:t>
                      </a:r>
                      <a:endParaRPr lang="en-US" sz="1100" dirty="0">
                        <a:latin typeface="Calibri" charset="0"/>
                        <a:ea typeface="Calibri" charset="0"/>
                        <a:cs typeface="Calibri" charset="0"/>
                      </a:endParaRPr>
                    </a:p>
                  </a:txBody>
                  <a:tcPr marL="76200" marR="76200" marT="50800" marB="508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06404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Action proposée</a:t>
                      </a:r>
                      <a:endParaRPr lang="en-US" sz="1100" dirty="0">
                        <a:latin typeface="Calibri" charset="0"/>
                        <a:ea typeface="Calibri" charset="0"/>
                        <a:cs typeface="Calibri" charset="0"/>
                      </a:endParaRPr>
                    </a:p>
                  </a:txBody>
                  <a:tcPr marL="76200" marR="76200" marT="50800" marB="508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06404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Qui</a:t>
                      </a:r>
                      <a:endParaRPr lang="en-US" sz="1100" dirty="0">
                        <a:latin typeface="Calibri" charset="0"/>
                        <a:ea typeface="Calibri" charset="0"/>
                        <a:cs typeface="Calibri" charset="0"/>
                      </a:endParaRPr>
                    </a:p>
                  </a:txBody>
                  <a:tcPr marL="76200" marR="76200" marT="50800" marB="508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06404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Quand (proposition)</a:t>
                      </a:r>
                      <a:endParaRPr lang="en-US" sz="1100" dirty="0">
                        <a:latin typeface="Calibri" charset="0"/>
                        <a:ea typeface="Calibri" charset="0"/>
                        <a:cs typeface="Calibri" charset="0"/>
                      </a:endParaRPr>
                    </a:p>
                  </a:txBody>
                  <a:tcPr marL="76200" marR="76200" marT="50800" marB="508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06404F"/>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SLA Gold</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Suivi mensuel de la consommation dans votre reporting ; alerte dès 60 %.</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Selligent</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Mensuel</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Base de données</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Analyse de la répartition de la base, puis choix entre nettoyage et extension.</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Viasanté + Selligent</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Octobre 2026</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Redevance volume</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Confirmation du montant de la redevance au-delà du seuil de 50 GB.</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Selligent</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Septembre 2026</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Licence</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Palier de licence à confirmer au regard du volume de contacts prévu en 2027.</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Viasanté + Selligent</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T4 2026</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Sécurisation &amp; patch</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Bilan post-patch partagé et clôture du sujet.</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Selligent</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Septembre 2026</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Email</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Plan d’optimisation du taux de clics sur les campagnes prioritaires.</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Viasanté (Marketing)</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T4 2026</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SMS / RCS</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Choix du connecteur RCS (LinkMobility ou Infobip) et plan d’usage 2027.</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Viasanté (Marketing)</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T4 2026</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Conformité CNIL</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Extension du consentement au suivi des clics et validation DPO par typologie.</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Viasanté (DPO) + Selligent</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T4 2026</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SSO Engage</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Point d’avancement produit et préparation de la bascule.</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Selligent</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T1 2027</a:t>
                      </a:r>
                      <a:endParaRPr lang="en-US" sz="1050" dirty="0">
                        <a:latin typeface="Calibri" charset="0"/>
                        <a:ea typeface="Calibri" charset="0"/>
                        <a:cs typeface="Calibri" charset="0"/>
                      </a:endParaRPr>
                    </a:p>
                  </a:txBody>
                  <a:tcPr marL="76200" marR="76200" marT="38100" marB="38100" anchor="ctr">
                    <a:lnL w="6350" cap="flat" cmpd="sng" algn="ctr">
                      <a:solidFill>
                        <a:srgbClr val="E1E8EB"/>
                      </a:solidFill>
                      <a:prstDash val="solid"/>
                      <a:round/>
                      <a:headEnd type="none" w="med" len="med"/>
                      <a:tailEnd type="none" w="med" len="med"/>
                    </a:lnL>
                    <a:lnR w="6350" cap="flat" cmpd="sng" algn="ctr">
                      <a:solidFill>
                        <a:srgbClr val="E1E8EB"/>
                      </a:solidFill>
                      <a:prstDash val="solid"/>
                      <a:round/>
                      <a:headEnd type="none" w="med" len="med"/>
                      <a:tailEnd type="none" w="med" len="med"/>
                    </a:lnR>
                    <a:lnT w="6350" cap="flat" cmpd="sng" algn="ctr">
                      <a:solidFill>
                        <a:srgbClr val="E1E8EB"/>
                      </a:solidFill>
                      <a:prstDash val="solid"/>
                      <a:round/>
                      <a:headEnd type="none" w="med" len="med"/>
                      <a:tailEnd type="none" w="med" len="med"/>
                    </a:lnT>
                    <a:lnB w="6350" cap="flat" cmpd="sng" algn="ctr">
                      <a:solidFill>
                        <a:srgbClr val="E1E8EB"/>
                      </a:solidFill>
                      <a:prstDash val="solid"/>
                      <a:round/>
                      <a:headEnd type="none" w="med" len="med"/>
                      <a:tailEnd type="none" w="med" len="med"/>
                    </a:lnB>
                    <a:solidFill>
                      <a:srgbClr val="F2F8F9"/>
                    </a:solidFill>
                  </a:tcPr>
                </a:tc>
              </a:tr>
            </a:tbl>
          </a:graphicData>
        </a:graphic>
      </p:graphicFrame>
      <p:sp>
        <p:nvSpPr>
          <p:cNvPr id="9" name="Shape 5"/>
          <p:cNvSpPr/>
          <p:nvPr/>
        </p:nvSpPr>
        <p:spPr>
          <a:xfrm>
            <a:off x="502920" y="5532120"/>
            <a:ext cx="11185855" cy="685800"/>
          </a:xfrm>
          <a:prstGeom prst="roundRect">
            <a:avLst>
              <a:gd name="adj" fmla="val 16000"/>
            </a:avLst>
          </a:prstGeom>
          <a:solidFill>
            <a:srgbClr val="FDEBD9"/>
          </a:solidFill>
          <a:ln w="12700">
            <a:solidFill>
              <a:srgbClr val="FDEBD9"/>
            </a:solidFill>
            <a:prstDash val="solid"/>
          </a:ln>
        </p:spPr>
      </p:sp>
      <p:sp>
        <p:nvSpPr>
          <p:cNvPr id="10" name="Shape 6"/>
          <p:cNvSpPr/>
          <p:nvPr/>
        </p:nvSpPr>
        <p:spPr>
          <a:xfrm>
            <a:off x="685800" y="5682996"/>
            <a:ext cx="384048" cy="384048"/>
          </a:xfrm>
          <a:prstGeom prst="ellipse">
            <a:avLst/>
          </a:prstGeom>
          <a:solidFill>
            <a:srgbClr val="F28C28"/>
          </a:solidFill>
          <a:ln w="12700">
            <a:solidFill>
              <a:srgbClr val="F28C28"/>
            </a:solidFill>
            <a:prstDash val="solid"/>
          </a:ln>
        </p:spPr>
      </p:sp>
      <p:pic>
        <p:nvPicPr>
          <p:cNvPr id="11" name="Image 1" descr="preencoded.png">    </p:cNvPr>
          <p:cNvPicPr>
            <a:picLocks noChangeAspect="1"/>
          </p:cNvPicPr>
          <p:nvPr/>
        </p:nvPicPr>
        <p:blipFill>
          <a:blip r:embed="rId2"/>
          <a:stretch>
            <a:fillRect/>
          </a:stretch>
        </p:blipFill>
        <p:spPr>
          <a:xfrm>
            <a:off x="785652" y="5782848"/>
            <a:ext cx="184343" cy="184343"/>
          </a:xfrm>
          <a:prstGeom prst="rect">
            <a:avLst/>
          </a:prstGeom>
        </p:spPr>
      </p:pic>
      <p:sp>
        <p:nvSpPr>
          <p:cNvPr id="12" name="Text 7"/>
          <p:cNvSpPr txBox="1"/>
          <p:nvPr/>
        </p:nvSpPr>
        <p:spPr>
          <a:xfrm>
            <a:off x="1188720" y="5532120"/>
            <a:ext cx="1371600" cy="685800"/>
          </a:xfrm>
          <a:prstGeom prst="rect">
            <a:avLst/>
          </a:prstGeom>
          <a:noFill/>
          <a:ln/>
        </p:spPr>
        <p:txBody>
          <a:bodyPr wrap="square" lIns="0" tIns="0" rIns="0" bIns="0" rtlCol="0" anchor="ctr"/>
          <a:lstStyle/>
          <a:p>
            <a:pPr indent="0" marL="0">
              <a:buNone/>
            </a:pPr>
            <a:r>
              <a:rPr lang="en-US" sz="1250" b="1" dirty="0">
                <a:solidFill>
                  <a:srgbClr val="F28C28"/>
                </a:solidFill>
                <a:latin typeface="Calibri" pitchFamily="34" charset="0"/>
                <a:ea typeface="Calibri" pitchFamily="34" charset="-122"/>
                <a:cs typeface="Calibri" pitchFamily="34" charset="-120"/>
              </a:rPr>
              <a:t>Prochain COPIL</a:t>
            </a:r>
            <a:endParaRPr lang="en-US" sz="1250" dirty="0"/>
          </a:p>
        </p:txBody>
      </p:sp>
      <p:sp>
        <p:nvSpPr>
          <p:cNvPr id="13" name="Text 8"/>
          <p:cNvSpPr txBox="1"/>
          <p:nvPr/>
        </p:nvSpPr>
        <p:spPr>
          <a:xfrm>
            <a:off x="2651760" y="5532120"/>
            <a:ext cx="8808415" cy="68580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Proposition : décembre 2026 — bilan des actions, point capacité base de données, préparation 2027.</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404F"/>
        </a:solidFill>
      </p:bgPr>
    </p:bg>
    <p:spTree>
      <p:nvGrpSpPr>
        <p:cNvPr id="1" name=""/>
        <p:cNvGrpSpPr/>
        <p:nvPr/>
      </p:nvGrpSpPr>
      <p:grpSpPr>
        <a:xfrm>
          <a:off x="0" y="0"/>
          <a:ext cx="0" cy="0"/>
          <a:chOff x="0" y="0"/>
          <a:chExt cx="0" cy="0"/>
        </a:xfrm>
      </p:grpSpPr>
      <p:pic>
        <p:nvPicPr>
          <p:cNvPr id="2" name="Image 0" descr="/tmp/claude-0/-home-user-IqraQuest/536b9ae9-447b-5fe8-88fd-3a84bf7ca86c/scratchpad/work/logo_white.png">    </p:cNvPr>
          <p:cNvPicPr>
            <a:picLocks noChangeAspect="1"/>
          </p:cNvPicPr>
          <p:nvPr/>
        </p:nvPicPr>
        <p:blipFill>
          <a:blip r:embed="rId1"/>
          <a:stretch>
            <a:fillRect/>
          </a:stretch>
        </p:blipFill>
        <p:spPr>
          <a:xfrm>
            <a:off x="502920" y="347472"/>
            <a:ext cx="1463040" cy="526895"/>
          </a:xfrm>
          <a:prstGeom prst="rect">
            <a:avLst/>
          </a:prstGeom>
        </p:spPr>
      </p:pic>
      <p:sp>
        <p:nvSpPr>
          <p:cNvPr id="3" name="Shape 0"/>
          <p:cNvSpPr/>
          <p:nvPr/>
        </p:nvSpPr>
        <p:spPr>
          <a:xfrm>
            <a:off x="8595360" y="548640"/>
            <a:ext cx="5120640" cy="5120640"/>
          </a:xfrm>
          <a:prstGeom prst="ellipse">
            <a:avLst/>
          </a:prstGeom>
          <a:solidFill>
            <a:srgbClr val="0F6B7A">
              <a:alpha val="45000"/>
            </a:srgbClr>
          </a:solidFill>
          <a:ln w="12700">
            <a:solidFill>
              <a:srgbClr val="0F6B7A"/>
            </a:solidFill>
            <a:prstDash val="solid"/>
          </a:ln>
        </p:spPr>
      </p:sp>
      <p:sp>
        <p:nvSpPr>
          <p:cNvPr id="4" name="Shape 1"/>
          <p:cNvSpPr/>
          <p:nvPr/>
        </p:nvSpPr>
        <p:spPr>
          <a:xfrm>
            <a:off x="7955280" y="4023360"/>
            <a:ext cx="1737360" cy="1737360"/>
          </a:xfrm>
          <a:prstGeom prst="ellipse">
            <a:avLst/>
          </a:prstGeom>
          <a:solidFill>
            <a:srgbClr val="F28C28">
              <a:alpha val="85000"/>
            </a:srgbClr>
          </a:solidFill>
          <a:ln w="12700">
            <a:solidFill>
              <a:srgbClr val="F28C28"/>
            </a:solidFill>
            <a:prstDash val="solid"/>
          </a:ln>
        </p:spPr>
      </p:sp>
      <p:sp>
        <p:nvSpPr>
          <p:cNvPr id="5" name="Text 2"/>
          <p:cNvSpPr txBox="1"/>
          <p:nvPr/>
        </p:nvSpPr>
        <p:spPr>
          <a:xfrm>
            <a:off x="502920" y="1737360"/>
            <a:ext cx="73152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Merci</a:t>
            </a:r>
            <a:endParaRPr lang="en-US" sz="5400" dirty="0"/>
          </a:p>
        </p:txBody>
      </p:sp>
      <p:sp>
        <p:nvSpPr>
          <p:cNvPr id="6" name="Text 3"/>
          <p:cNvSpPr txBox="1"/>
          <p:nvPr/>
        </p:nvSpPr>
        <p:spPr>
          <a:xfrm>
            <a:off x="502920" y="2743200"/>
            <a:ext cx="7315200" cy="365760"/>
          </a:xfrm>
          <a:prstGeom prst="rect">
            <a:avLst/>
          </a:prstGeom>
          <a:noFill/>
          <a:ln/>
        </p:spPr>
        <p:txBody>
          <a:bodyPr wrap="square" lIns="0" tIns="0" rIns="0" bIns="0" rtlCol="0" anchor="t"/>
          <a:lstStyle/>
          <a:p>
            <a:pPr indent="0" marL="0">
              <a:buNone/>
            </a:pPr>
            <a:r>
              <a:rPr lang="en-US" sz="1400" b="1" spc="200" kern="0" dirty="0">
                <a:solidFill>
                  <a:srgbClr val="F28C28"/>
                </a:solidFill>
                <a:latin typeface="Calibri" pitchFamily="34" charset="0"/>
                <a:ea typeface="Calibri" pitchFamily="34" charset="-122"/>
                <a:cs typeface="Calibri" pitchFamily="34" charset="-120"/>
              </a:rPr>
              <a:t>Vos interlocuteurs Selligent</a:t>
            </a:r>
            <a:endParaRPr lang="en-US" sz="1400" dirty="0"/>
          </a:p>
        </p:txBody>
      </p:sp>
      <p:sp>
        <p:nvSpPr>
          <p:cNvPr id="7" name="Text 4"/>
          <p:cNvSpPr txBox="1"/>
          <p:nvPr/>
        </p:nvSpPr>
        <p:spPr>
          <a:xfrm>
            <a:off x="502920" y="3154680"/>
            <a:ext cx="6858000" cy="1371600"/>
          </a:xfrm>
          <a:prstGeom prst="rect">
            <a:avLst/>
          </a:prstGeom>
          <a:noFill/>
          <a:ln/>
        </p:spPr>
        <p:txBody>
          <a:bodyPr wrap="square" lIns="0" tIns="0" rIns="0" bIns="0" rtlCol="0" anchor="t"/>
          <a:lstStyle/>
          <a:p>
            <a:pPr indent="0" marL="0">
              <a:buNone/>
            </a:pPr>
            <a:r>
              <a:rPr lang="en-US" sz="1400" b="1" dirty="0">
                <a:solidFill>
                  <a:srgbClr val="E6F0F2"/>
                </a:solidFill>
                <a:latin typeface="Calibri" pitchFamily="34" charset="0"/>
                <a:ea typeface="Calibri" pitchFamily="34" charset="-122"/>
                <a:cs typeface="Calibri" pitchFamily="34" charset="-120"/>
              </a:rPr>
              <a:t>Nadir Echaara</a:t>
            </a:r>
            <a:endParaRPr lang="en-US" sz="1400" dirty="0"/>
          </a:p>
          <a:p>
            <a:pPr indent="0" marL="0">
              <a:spcAft>
                <a:spcPts val="800"/>
              </a:spcAft>
              <a:buNone/>
            </a:pPr>
            <a:r>
              <a:rPr lang="en-US" sz="1400" dirty="0">
                <a:solidFill>
                  <a:srgbClr val="E6F0F2"/>
                </a:solidFill>
                <a:latin typeface="Calibri" pitchFamily="34" charset="0"/>
                <a:ea typeface="Calibri" pitchFamily="34" charset="-122"/>
                <a:cs typeface="Calibri" pitchFamily="34" charset="-120"/>
              </a:rPr>
              <a:t>Customer Success Manager — relation, contrat, pilotage</a:t>
            </a:r>
            <a:endParaRPr lang="en-US" sz="1400" dirty="0"/>
          </a:p>
          <a:p>
            <a:pPr indent="0" marL="0">
              <a:buNone/>
            </a:pPr>
            <a:r>
              <a:rPr lang="en-US" sz="1400" b="1" dirty="0">
                <a:solidFill>
                  <a:srgbClr val="E6F0F2"/>
                </a:solidFill>
                <a:latin typeface="Calibri" pitchFamily="34" charset="0"/>
                <a:ea typeface="Calibri" pitchFamily="34" charset="-122"/>
                <a:cs typeface="Calibri" pitchFamily="34" charset="-120"/>
              </a:rPr>
              <a:t>Frederic Schneider</a:t>
            </a:r>
            <a:endParaRPr lang="en-US" sz="1400" dirty="0"/>
          </a:p>
          <a:p>
            <a:pPr indent="0" marL="0">
              <a:buNone/>
            </a:pPr>
            <a:r>
              <a:rPr lang="en-US" sz="1400" dirty="0">
                <a:solidFill>
                  <a:srgbClr val="E6F0F2"/>
                </a:solidFill>
                <a:latin typeface="Calibri" pitchFamily="34" charset="0"/>
                <a:ea typeface="Calibri" pitchFamily="34" charset="-122"/>
                <a:cs typeface="Calibri" pitchFamily="34" charset="-120"/>
              </a:rPr>
              <a:t>Technical Project Manager — sujets techniques et projets</a:t>
            </a:r>
            <a:endParaRPr lang="en-US" sz="1400" dirty="0"/>
          </a:p>
        </p:txBody>
      </p:sp>
      <p:sp>
        <p:nvSpPr>
          <p:cNvPr id="8" name="Text 5"/>
          <p:cNvSpPr txBox="1"/>
          <p:nvPr/>
        </p:nvSpPr>
        <p:spPr>
          <a:xfrm>
            <a:off x="502920" y="4663440"/>
            <a:ext cx="7315200" cy="365760"/>
          </a:xfrm>
          <a:prstGeom prst="rect">
            <a:avLst/>
          </a:prstGeom>
          <a:noFill/>
          <a:ln/>
        </p:spPr>
        <p:txBody>
          <a:bodyPr wrap="square" lIns="0" tIns="0" rIns="0" bIns="0" rtlCol="0" anchor="t"/>
          <a:lstStyle/>
          <a:p>
            <a:pPr indent="0" marL="0">
              <a:buNone/>
            </a:pPr>
            <a:r>
              <a:rPr lang="en-US" sz="1400" b="1" spc="200" kern="0" dirty="0">
                <a:solidFill>
                  <a:srgbClr val="F28C28"/>
                </a:solidFill>
                <a:latin typeface="Calibri" pitchFamily="34" charset="0"/>
                <a:ea typeface="Calibri" pitchFamily="34" charset="-122"/>
                <a:cs typeface="Calibri" pitchFamily="34" charset="-120"/>
              </a:rPr>
              <a:t>Comment nous joindre</a:t>
            </a:r>
            <a:endParaRPr lang="en-US" sz="1400" dirty="0"/>
          </a:p>
        </p:txBody>
      </p:sp>
      <p:sp>
        <p:nvSpPr>
          <p:cNvPr id="9" name="Text 6"/>
          <p:cNvSpPr txBox="1"/>
          <p:nvPr/>
        </p:nvSpPr>
        <p:spPr>
          <a:xfrm>
            <a:off x="502920" y="5029200"/>
            <a:ext cx="7132320" cy="822960"/>
          </a:xfrm>
          <a:prstGeom prst="rect">
            <a:avLst/>
          </a:prstGeom>
          <a:noFill/>
          <a:ln/>
        </p:spPr>
        <p:txBody>
          <a:bodyPr wrap="square" lIns="0" tIns="0" rIns="0" bIns="0" rtlCol="0" anchor="t"/>
          <a:lstStyle/>
          <a:p>
            <a:pPr indent="0" marL="0">
              <a:buNone/>
            </a:pPr>
            <a:r>
              <a:rPr lang="en-US" sz="1200" b="1" dirty="0">
                <a:solidFill>
                  <a:srgbClr val="E6F0F2"/>
                </a:solidFill>
                <a:latin typeface="Calibri" pitchFamily="34" charset="0"/>
                <a:ea typeface="Calibri" pitchFamily="34" charset="-122"/>
                <a:cs typeface="Calibri" pitchFamily="34" charset="-120"/>
              </a:rPr>
              <a:t>Support et incidents : </a:t>
            </a:r>
            <a:pPr indent="0" marL="0">
              <a:spcAft>
                <a:spcPts val="400"/>
              </a:spcAft>
              <a:buNone/>
            </a:pPr>
            <a:r>
              <a:rPr lang="en-US" sz="1200" dirty="0">
                <a:solidFill>
                  <a:srgbClr val="E6F0F2"/>
                </a:solidFill>
                <a:latin typeface="Calibri" pitchFamily="34" charset="0"/>
                <a:ea typeface="Calibri" pitchFamily="34" charset="-122"/>
                <a:cs typeface="Calibri" pitchFamily="34" charset="-120"/>
              </a:rPr>
              <a:t>ticket via le portail support Selligent (Connect), suivi dans le rapport SLA.</a:t>
            </a:r>
            <a:endParaRPr lang="en-US" sz="1200" dirty="0"/>
          </a:p>
          <a:p>
            <a:pPr indent="0" marL="0">
              <a:buNone/>
            </a:pPr>
            <a:r>
              <a:rPr lang="en-US" sz="1200" b="1" dirty="0">
                <a:solidFill>
                  <a:srgbClr val="E6F0F2"/>
                </a:solidFill>
                <a:latin typeface="Calibri" pitchFamily="34" charset="0"/>
                <a:ea typeface="Calibri" pitchFamily="34" charset="-122"/>
                <a:cs typeface="Calibri" pitchFamily="34" charset="-120"/>
              </a:rPr>
              <a:t>Escalade : </a:t>
            </a:r>
            <a:pPr indent="0" marL="0">
              <a:buNone/>
            </a:pPr>
            <a:r>
              <a:rPr lang="en-US" sz="1200" dirty="0">
                <a:solidFill>
                  <a:srgbClr val="E6F0F2"/>
                </a:solidFill>
                <a:latin typeface="Calibri" pitchFamily="34" charset="0"/>
                <a:ea typeface="Calibri" pitchFamily="34" charset="-122"/>
                <a:cs typeface="Calibri" pitchFamily="34" charset="-120"/>
              </a:rPr>
              <a:t>Frederic Schneider pour la technique, Nadir Echaara pour la relation et le contrat.</a:t>
            </a:r>
            <a:endParaRPr lang="en-US" sz="1200" dirty="0"/>
          </a:p>
        </p:txBody>
      </p:sp>
      <p:sp>
        <p:nvSpPr>
          <p:cNvPr id="10" name="Text 7"/>
          <p:cNvSpPr txBox="1"/>
          <p:nvPr/>
        </p:nvSpPr>
        <p:spPr>
          <a:xfrm>
            <a:off x="502920" y="5989320"/>
            <a:ext cx="7315200" cy="320040"/>
          </a:xfrm>
          <a:prstGeom prst="rect">
            <a:avLst/>
          </a:prstGeom>
          <a:noFill/>
          <a:ln/>
        </p:spPr>
        <p:txBody>
          <a:bodyPr wrap="square" lIns="0" tIns="0" rIns="0" bIns="0" rtlCol="0" anchor="t"/>
          <a:lstStyle/>
          <a:p>
            <a:pPr indent="0" marL="0">
              <a:buNone/>
            </a:pPr>
            <a:r>
              <a:rPr lang="en-US" sz="1200" i="1" dirty="0">
                <a:solidFill>
                  <a:srgbClr val="CFE3E7"/>
                </a:solidFill>
                <a:latin typeface="Calibri" pitchFamily="34" charset="0"/>
                <a:ea typeface="Calibri" pitchFamily="34" charset="-122"/>
                <a:cs typeface="Calibri" pitchFamily="34" charset="-120"/>
              </a:rPr>
              <a:t>Relevé de décisions transmis sous 48 heures.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Selligent by Zeta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 Selligent × Mutuelle Viasanté — 14 septembre 2026</dc:title>
  <dc:subject>PptxGenJS Presentation</dc:subject>
  <dc:creator>Nadir Echaara — Selligent</dc:creator>
  <cp:lastModifiedBy>Nadir Echaara — Selligent</cp:lastModifiedBy>
  <cp:revision>1</cp:revision>
  <dcterms:created xsi:type="dcterms:W3CDTF">2026-09-04T17:56:36Z</dcterms:created>
  <dcterms:modified xsi:type="dcterms:W3CDTF">2026-09-04T17:56:36Z</dcterms:modified>
</cp:coreProperties>
</file>